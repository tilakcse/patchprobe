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24"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Reviewed entries</c:v>
          </c:tx>
          <c:spPr>
            <a:solidFill>
              <a:srgbClr val="BC171D"/>
            </a:solidFill>
          </c:spPr>
          <c:invertIfNegative val="0"/>
          <c:dPt>
            <c:idx val="1"/>
            <c:invertIfNegative val="0"/>
            <c:bubble3D val="0"/>
            <c:spPr>
              <a:solidFill>
                <a:srgbClr val="20252B"/>
              </a:solidFill>
            </c:spPr>
            <c:extLst>
              <c:ext xmlns:c16="http://schemas.microsoft.com/office/drawing/2014/chart" uri="{C3380CC4-5D6E-409C-BE32-E72D297353CC}">
                <c16:uniqueId val="{00000001-58B1-40CC-95F7-B3B895664499}"/>
              </c:ext>
            </c:extLst>
          </c:dPt>
          <c:dPt>
            <c:idx val="2"/>
            <c:invertIfNegative val="0"/>
            <c:bubble3D val="0"/>
            <c:spPr>
              <a:solidFill>
                <a:srgbClr val="778592"/>
              </a:solidFill>
            </c:spPr>
            <c:extLst>
              <c:ext xmlns:c16="http://schemas.microsoft.com/office/drawing/2014/chart" uri="{C3380CC4-5D6E-409C-BE32-E72D297353CC}">
                <c16:uniqueId val="{00000003-58B1-40CC-95F7-B3B895664499}"/>
              </c:ext>
            </c:extLst>
          </c:dPt>
          <c:dPt>
            <c:idx val="3"/>
            <c:invertIfNegative val="0"/>
            <c:bubble3D val="0"/>
            <c:spPr>
              <a:solidFill>
                <a:srgbClr val="B99572"/>
              </a:solidFill>
            </c:spPr>
            <c:extLst>
              <c:ext xmlns:c16="http://schemas.microsoft.com/office/drawing/2014/chart" uri="{C3380CC4-5D6E-409C-BE32-E72D297353CC}">
                <c16:uniqueId val="{00000005-58B1-40CC-95F7-B3B895664499}"/>
              </c:ext>
            </c:extLst>
          </c:dPt>
          <c:dPt>
            <c:idx val="4"/>
            <c:invertIfNegative val="0"/>
            <c:bubble3D val="0"/>
            <c:spPr>
              <a:solidFill>
                <a:srgbClr val="E6E0D8"/>
              </a:solidFill>
            </c:spPr>
            <c:extLst>
              <c:ext xmlns:c16="http://schemas.microsoft.com/office/drawing/2014/chart" uri="{C3380CC4-5D6E-409C-BE32-E72D297353CC}">
                <c16:uniqueId val="{00000007-58B1-40CC-95F7-B3B895664499}"/>
              </c:ext>
            </c:extLst>
          </c:dPt>
          <c:dLbls>
            <c:spPr>
              <a:noFill/>
              <a:ln>
                <a:noFill/>
              </a:ln>
              <a:effectLst/>
            </c:spPr>
            <c:txPr>
              <a:bodyPr anchorCtr="1"/>
              <a:lstStyle/>
              <a:p>
                <a:pPr>
                  <a:defRPr sz="1275" b="1">
                    <a:solidFill>
                      <a:srgbClr val="20252B"/>
                    </a:solidFill>
                    <a:latin typeface="Segoe UI"/>
                    <a:ea typeface="Segoe UI"/>
                    <a:cs typeface="Segoe U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5"/>
              <c:pt idx="0">
                <c:v>API / code</c:v>
              </c:pt>
              <c:pt idx="1">
                <c:v>UI / output</c:v>
              </c:pt>
              <c:pt idx="2">
                <c:v>Configuration</c:v>
              </c:pt>
              <c:pt idx="3">
                <c:v>Data / schema</c:v>
              </c:pt>
              <c:pt idx="4">
                <c:v>No targeted check</c:v>
              </c:pt>
            </c:strLit>
          </c:cat>
          <c:val>
            <c:numLit>
              <c:formatCode>General</c:formatCode>
              <c:ptCount val="5"/>
              <c:pt idx="0">
                <c:v>29</c:v>
              </c:pt>
              <c:pt idx="1">
                <c:v>9</c:v>
              </c:pt>
              <c:pt idx="2">
                <c:v>6</c:v>
              </c:pt>
              <c:pt idx="3">
                <c:v>5</c:v>
              </c:pt>
              <c:pt idx="4">
                <c:v>0</c:v>
              </c:pt>
            </c:numLit>
          </c:val>
          <c:extLst>
            <c:ext xmlns:c16="http://schemas.microsoft.com/office/drawing/2014/chart" uri="{C3380CC4-5D6E-409C-BE32-E72D297353CC}">
              <c16:uniqueId val="{00000008-58B1-40CC-95F7-B3B895664499}"/>
            </c:ext>
          </c:extLst>
        </c:ser>
        <c:dLbls>
          <c:dLblPos val="outEnd"/>
          <c:showLegendKey val="0"/>
          <c:showVal val="1"/>
          <c:showCatName val="0"/>
          <c:showSerName val="0"/>
          <c:showPercent val="0"/>
          <c:showBubbleSize val="0"/>
        </c:dLbls>
        <c:gapWidth val="42"/>
        <c:axId val="48650112"/>
        <c:axId val="48672768"/>
      </c:barChart>
      <c:catAx>
        <c:axId val="48650112"/>
        <c:scaling>
          <c:orientation val="minMax"/>
        </c:scaling>
        <c:delete val="1"/>
        <c:axPos val="l"/>
        <c:numFmt formatCode="General" sourceLinked="1"/>
        <c:majorTickMark val="none"/>
        <c:minorTickMark val="none"/>
        <c:tickLblPos val="nextTo"/>
        <c:crossAx val="48672768"/>
        <c:crosses val="autoZero"/>
        <c:auto val="1"/>
        <c:lblAlgn val="ctr"/>
        <c:lblOffset val="100"/>
        <c:noMultiLvlLbl val="1"/>
      </c:catAx>
      <c:valAx>
        <c:axId val="48672768"/>
        <c:scaling>
          <c:orientation val="minMax"/>
        </c:scaling>
        <c:delete val="0"/>
        <c:axPos val="b"/>
        <c:numFmt formatCode="General" sourceLinked="1"/>
        <c:majorTickMark val="none"/>
        <c:minorTickMark val="none"/>
        <c:tickLblPos val="nextTo"/>
        <c:spPr>
          <a:ln w="9525">
            <a:solidFill>
              <a:srgbClr val="E6E0D8"/>
            </a:solidFill>
            <a:prstDash val="solid"/>
          </a:ln>
        </c:spPr>
        <c:txPr>
          <a:bodyPr anchorCtr="1"/>
          <a:lstStyle/>
          <a:p>
            <a:pPr>
              <a:defRPr sz="1200">
                <a:solidFill>
                  <a:srgbClr val="20252B"/>
                </a:solidFill>
                <a:latin typeface="Segoe UI"/>
                <a:ea typeface="Segoe UI"/>
                <a:cs typeface="Segoe UI"/>
              </a:defRPr>
            </a:pPr>
            <a:endParaRPr lang="en-US"/>
          </a:p>
        </c:txPr>
        <c:crossAx val="48650112"/>
        <c:crosses val="autoZero"/>
        <c:crossBetween val="between"/>
      </c:valAx>
    </c:plotArea>
    <c:plotVisOnly val="1"/>
    <c:dispBlanksAs val="zero"/>
    <c:showDLblsOverMax val="1"/>
  </c:char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Accuracy</c:v>
          </c:tx>
          <c:spPr>
            <a:solidFill>
              <a:srgbClr val="778592"/>
            </a:solidFill>
          </c:spPr>
          <c:invertIfNegative val="0"/>
          <c:dLbls>
            <c:numFmt formatCode="0.0%" sourceLinked="0"/>
            <c:spPr>
              <a:noFill/>
              <a:ln>
                <a:noFill/>
              </a:ln>
              <a:effectLst/>
            </c:spPr>
            <c:txPr>
              <a:bodyPr anchorCtr="1"/>
              <a:lstStyle/>
              <a:p>
                <a:pPr>
                  <a:defRPr sz="1125" b="1">
                    <a:solidFill>
                      <a:srgbClr val="20252B"/>
                    </a:solidFill>
                    <a:latin typeface="Segoe UI"/>
                    <a:ea typeface="Segoe UI"/>
                    <a:cs typeface="Segoe U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Majority</c:v>
              </c:pt>
              <c:pt idx="1">
                <c:v>Keyword</c:v>
              </c:pt>
              <c:pt idx="2">
                <c:v>TF-IDF + LR</c:v>
              </c:pt>
            </c:strLit>
          </c:cat>
          <c:val>
            <c:numLit>
              <c:formatCode>0%</c:formatCode>
              <c:ptCount val="3"/>
              <c:pt idx="0">
                <c:v>0.5</c:v>
              </c:pt>
              <c:pt idx="1">
                <c:v>0.3</c:v>
              </c:pt>
              <c:pt idx="2">
                <c:v>0.6</c:v>
              </c:pt>
            </c:numLit>
          </c:val>
          <c:extLst>
            <c:ext xmlns:c16="http://schemas.microsoft.com/office/drawing/2014/chart" uri="{C3380CC4-5D6E-409C-BE32-E72D297353CC}">
              <c16:uniqueId val="{00000000-EC8F-4D1C-BD87-343745D3C7B1}"/>
            </c:ext>
          </c:extLst>
        </c:ser>
        <c:ser>
          <c:idx val="1"/>
          <c:order val="1"/>
          <c:tx>
            <c:v>Macro-F1 (5 labels)</c:v>
          </c:tx>
          <c:spPr>
            <a:solidFill>
              <a:srgbClr val="BC171D"/>
            </a:solidFill>
          </c:spPr>
          <c:invertIfNegative val="0"/>
          <c:dLbls>
            <c:numFmt formatCode="0.0%" sourceLinked="0"/>
            <c:spPr>
              <a:noFill/>
              <a:ln>
                <a:noFill/>
              </a:ln>
              <a:effectLst/>
            </c:spPr>
            <c:txPr>
              <a:bodyPr anchorCtr="1"/>
              <a:lstStyle/>
              <a:p>
                <a:pPr>
                  <a:defRPr sz="1125" b="1">
                    <a:solidFill>
                      <a:srgbClr val="20252B"/>
                    </a:solidFill>
                    <a:latin typeface="Segoe UI"/>
                    <a:ea typeface="Segoe UI"/>
                    <a:cs typeface="Segoe U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Majority</c:v>
              </c:pt>
              <c:pt idx="1">
                <c:v>Keyword</c:v>
              </c:pt>
              <c:pt idx="2">
                <c:v>TF-IDF + LR</c:v>
              </c:pt>
            </c:strLit>
          </c:cat>
          <c:val>
            <c:numLit>
              <c:formatCode>0%</c:formatCode>
              <c:ptCount val="3"/>
              <c:pt idx="0">
                <c:v>0.13300000000000001</c:v>
              </c:pt>
              <c:pt idx="1">
                <c:v>0.28000000000000003</c:v>
              </c:pt>
              <c:pt idx="2">
                <c:v>0.27600000000000002</c:v>
              </c:pt>
            </c:numLit>
          </c:val>
          <c:extLst>
            <c:ext xmlns:c16="http://schemas.microsoft.com/office/drawing/2014/chart" uri="{C3380CC4-5D6E-409C-BE32-E72D297353CC}">
              <c16:uniqueId val="{00000001-EC8F-4D1C-BD87-343745D3C7B1}"/>
            </c:ext>
          </c:extLst>
        </c:ser>
        <c:dLbls>
          <c:dLblPos val="outEnd"/>
          <c:showLegendKey val="0"/>
          <c:showVal val="1"/>
          <c:showCatName val="0"/>
          <c:showSerName val="0"/>
          <c:showPercent val="0"/>
          <c:showBubbleSize val="0"/>
        </c:dLbls>
        <c:gapWidth val="66"/>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E6E0D8"/>
            </a:solidFill>
            <a:prstDash val="solid"/>
          </a:ln>
        </c:spPr>
        <c:txPr>
          <a:bodyPr anchorCtr="1"/>
          <a:lstStyle/>
          <a:p>
            <a:pPr>
              <a:defRPr sz="1200">
                <a:solidFill>
                  <a:srgbClr val="20252B"/>
                </a:solidFill>
                <a:latin typeface="Segoe UI"/>
                <a:ea typeface="Segoe UI"/>
                <a:cs typeface="Segoe UI"/>
              </a:defRPr>
            </a:pPr>
            <a:endParaRPr lang="en-US"/>
          </a:p>
        </c:txPr>
        <c:crossAx val="48672768"/>
        <c:crosses val="autoZero"/>
        <c:auto val="1"/>
        <c:lblAlgn val="ctr"/>
        <c:lblOffset val="100"/>
        <c:noMultiLvlLbl val="1"/>
      </c:catAx>
      <c:valAx>
        <c:axId val="48672768"/>
        <c:scaling>
          <c:orientation val="minMax"/>
          <c:max val="0.7"/>
          <c:min val="0"/>
        </c:scaling>
        <c:delete val="0"/>
        <c:axPos val="l"/>
        <c:majorGridlines>
          <c:spPr>
            <a:ln w="9525">
              <a:solidFill>
                <a:srgbClr val="E6E0D8"/>
              </a:solidFill>
              <a:prstDash val="solid"/>
            </a:ln>
          </c:spPr>
        </c:majorGridlines>
        <c:numFmt formatCode="0%" sourceLinked="1"/>
        <c:majorTickMark val="none"/>
        <c:minorTickMark val="none"/>
        <c:tickLblPos val="nextTo"/>
        <c:spPr>
          <a:ln w="9525">
            <a:solidFill>
              <a:srgbClr val="D4D4D4"/>
            </a:solidFill>
            <a:prstDash val="solid"/>
          </a:ln>
        </c:spPr>
        <c:txPr>
          <a:bodyPr anchorCtr="1"/>
          <a:lstStyle/>
          <a:p>
            <a:pPr>
              <a:defRPr sz="1050">
                <a:solidFill>
                  <a:srgbClr val="5F6973"/>
                </a:solidFill>
                <a:latin typeface="Segoe UI"/>
                <a:ea typeface="Segoe UI"/>
                <a:cs typeface="Segoe UI"/>
              </a:defRPr>
            </a:pPr>
            <a:endParaRPr lang="en-US"/>
          </a:p>
        </c:txPr>
        <c:crossAx val="48650112"/>
        <c:crosses val="autoZero"/>
        <c:crossBetween val="between"/>
        <c:majorUnit val="0.1"/>
      </c:valAx>
    </c:plotArea>
    <c:legend>
      <c:legendPos val="b"/>
      <c:overlay val="0"/>
      <c:txPr>
        <a:bodyPr anchorCtr="1"/>
        <a:lstStyle/>
        <a:p>
          <a:pPr>
            <a:defRPr sz="1200">
              <a:solidFill>
                <a:srgbClr val="20252B"/>
              </a:solidFill>
              <a:latin typeface="Segoe UI"/>
              <a:ea typeface="Segoe UI"/>
              <a:cs typeface="Segoe UI"/>
            </a:defRPr>
          </a:pPr>
          <a:endParaRPr lang="en-US"/>
        </a:p>
      </c:txPr>
    </c:legend>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task in one sentence. All four team members are listed. Bhargav presents slides 1-3; Kavya presents slides 4-6; Tilaksinh presents slides 7-9 and 11; Om presents slides 10, 12 and 13.</a:t>
            </a:r>
          </a:p>
          <a:p/>
          <a:p>
            <a:r>
              <a:t>Sources: User-supplied Navrachana University logo; PatchProbe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SQLite sentence as the concrete example. Do not imply PatchProbe knows an application’s actual configuration. It suggests the first area to inspect. Django’s official guide tells upgraders to read release notes and run tests.</a:t>
            </a:r>
          </a:p>
          <a:p>
            <a:endParaRPr/>
          </a:p>
          <a:p>
            <a:r>
              <a:t>Sources: https://docs.djangoproject.com/en/6.0/howto/upgrade-version/ | Django 6.0 pinned source: https://github.com/django/django/blob/85eb963c5297fb285aecf4a90c97141a1b9c5bee/docs/releases/6.0.txt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input and target for each study. Avoid saying that no one has ever built a similar system. DeepRelease generates release notes from pull requests and classifies change category. Wu et al. study release-note-related issues. Pan et al. survey ML test selection. PatchProbe’s target is the first broad verification area for a published note.</a:t>
            </a:r>
          </a:p>
          <a:p>
            <a:endParaRPr/>
          </a:p>
          <a:p>
            <a:r>
              <a:t>Sources: https://arxiv.org/abs/2201.06720 | https://arxiv.org/abs/2203.15592 | https://arxiv.org/abs/2106.13891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extraction CSV has 571 candidate entries and no target column. A separate CSV holds 50 human-confirmed decisions. One UNCLEAR row is excluded from training. The current pilot has zero examples of “No targeted check stated.” Do not attribute equal numbers of completed pilot reviews to teammates; a balanced second review is on slide 12.</a:t>
            </a:r>
          </a:p>
          <a:p>
            <a:endParaRPr/>
          </a:p>
          <a:p>
            <a:r>
              <a:t>Sources: D:/Development/Projects/PatchProbe/data/processed/manifest.json | D:/Development/Projects/PatchProbe/data/processed/pilot_reviewed_labels.csv | D:/Development/Projects/PatchProbe/docs/DATA_AND_LABELS.md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why stopword removal is not included: negation and small words may change technical meaning. There is no fixed embedding dimension; TF-IDF learns sparse vocabularies from training text. The final model has 5,838 features in this pilot. The chosen split is by release, not random note rows.</a:t>
            </a:r>
          </a:p>
          <a:p>
            <a:endParaRPr/>
          </a:p>
          <a:p>
            <a:r>
              <a:t>Sources: D:/Development/Projects/PatchProbe/docs/ARCHITECTURE.md | D:/Development/Projects/PatchProbe/docs/MODEL_CARD.md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pyproject.toml in VS Code first. Show declared dependencies. Python standard-library code performs extraction; pandas is declared transitively but not a core imported module. The app runs locally without a paid API. Pytest has 23 passing tests as of the deck build.</a:t>
            </a:r>
          </a:p>
          <a:p>
            <a:endParaRPr/>
          </a:p>
          <a:p>
            <a:r>
              <a:t>Sources: D:/Development/Projects/PatchProbe/pyproject.toml | D:/Development/Projects/PatchProbe/docs/ARCHITECTURE.md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the project root in VS Code. Put these files in the Explorer so switching is quick. The actual source lives entirely in D:/Development/Projects/PatchProbe. You can show README run commands after the code tour.</a:t>
            </a:r>
          </a:p>
          <a:p>
            <a:endParaRPr/>
          </a:p>
          <a:p>
            <a:r>
              <a:t>Sources: D:/Development/Projects/PatchProbe/docs/ARCHITECTURE.md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VS Code, show SOURCE_GROUPS and the Entry dataclass in ingest.py, then the build_dataset loop and output CSVs. Switch to annotation.py and explain ID validation, UNCLEAR note requirement, and atomic replacement of the labels CSV. The slide excerpts are abridged to fit; the live files are authoritative.</a:t>
            </a:r>
          </a:p>
          <a:p>
            <a:endParaRPr/>
          </a:p>
          <a:p>
            <a:r>
              <a:t>Sources: D:/Development/Projects/PatchProbe/src/patchprobe/ingest.py | D:/Development/Projects/PatchProbe/scripts/build_dataset.py | D:/Development/Projects/PatchProbe/src/patchprobe/annotation.py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split_by_release, make_pipeline, and train_and_evaluate in model.py. Show that the model receives cleaned text only and that vectorizers are fitted when the pipeline fits the training split. Then open artifact_status and predict_review in inference.py. The code excerpt omits sublinear_tf and max_iter for space; point to the live file for exact parameters.</a:t>
            </a:r>
          </a:p>
          <a:p>
            <a:endParaRPr/>
          </a:p>
          <a:p>
            <a:r>
              <a:t>Sources: D:/Development/Projects/PatchProbe/src/patchprobe/model.py | D:/Development/Projects/PatchProbe/src/patchprobe/inference.py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call 0.276 accuracy; it is five-label macro-F1. The actual accuracy is 0.60. The keyword baseline is 0.280 macro-F1 and is slightly higher. The test has only ten entries, and one class has zero support. The model predicts API/code for 9 of 10 test entries. This is a pipeline validation and error analysis, not a validated five-class product.</a:t>
            </a:r>
          </a:p>
          <a:p>
            <a:endParaRPr/>
          </a:p>
          <a:p>
            <a:r>
              <a:t>Sources: D:/Development/Projects/PatchProbe/docs/MODEL_CARD.md | D:/Development/Projects/PatchProbe/artifacts/model/metrics.json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terminal and VS Code ready before class. Start the app, show completed review count, use “Revisit a saved decision”, then choose Prediction review. Paste: The minimum supported version of SQLite is increased to 3.31.0. The current local pilot suggests Configuration/deployment. Highlight the pilot warning and missing class; do not treat score as calibrated confidence. A clean clone needs the training command in the runbook first.</a:t>
            </a:r>
          </a:p>
          <a:p>
            <a:endParaRPr/>
          </a:p>
          <a:p>
            <a:r>
              <a:t>Sources: D:/Development/Projects/PatchProbe/docs/DEMO_RUNBOOK.md | D:/Development/Projects/PatchProbe/app.py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claim the four teammates already divided the 50 labels. This slide explicitly assigns a future independent second-pass review. Explain the near-duplicate pair: a deprecation note in dev and the removal note in test, at corpus similarity 0.890675. No tuning was performed on dev, but it still weakens independence. Future enterprise scope includes live integrations only after larger cross-library validation.</a:t>
            </a:r>
          </a:p>
          <a:p>
            <a:endParaRPr/>
          </a:p>
          <a:p>
            <a:r>
              <a:t>Sources: D:/Development/Projects/PatchProbe/docs/EVALUATION.md | D:/Development/Projects/PatchProbe/docs/DECISIONS.md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by showing the repository URL and inviting questions. Do not describe the pilot metric as production-ready accuracy. The code, source manifest, public label export and deck are committed to the project repository. The detailed local annotation CSV and model artifacts remain on this laptop unless explicitly shared.</a:t>
            </a:r>
          </a:p>
          <a:p>
            <a:endParaRPr/>
          </a:p>
          <a:p>
            <a:r>
              <a:t>Sources: https://github.com/TilakCSE/PatchProbe | D:/Development/Projects/PatchProbe/README.md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F4FA3B8E-2CBC-4901-B65C-0B0B9BF4B5E2}"/>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A504E101-969C-49DC-8BB2-36251697B5B6}"/>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B4612DC2-4495-4477-99E0-FA236C581FA8}"/>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7FC7197-8B28-4DD1-8048-2FB7459B4AFC}"/>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7C238B58-4050-4165-A425-CEF0BD513D86}"/>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43DC5EA2-24DA-4818-9A97-DBF86682C81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CADF2F89-F0A0-4F24-B3AE-11BA214972DA}"/>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EB45350C-3121-445F-8EA1-8ECA559970CD}"/>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47A2207-E399-435B-A8AA-1C9E9058858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54756A1F-91A4-41FA-8ABE-F60816E22688}"/>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0252B"/>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F362E8-C412-4F90-9D5E-13C0A87EE106}"/>
              </a:ext>
            </a:extLst>
          </p:cNvPr>
          <p:cNvSpPr>
            <a:spLocks noGrp="1"/>
          </p:cNvSpPr>
          <p:nvPr/>
        </p:nvSpPr>
        <p:spPr>
          <a:xfrm>
            <a:off x="0" y="0"/>
            <a:ext cx="152400" cy="6858000"/>
          </a:xfrm>
          <a:prstGeom prst="rect">
            <a:avLst/>
          </a:prstGeom>
          <a:solidFill>
            <a:srgbClr val="BC171D"/>
          </a:solidFill>
          <a:ln w="0">
            <a:noFill/>
            <a:prstDash val="solid"/>
          </a:ln>
        </p:spPr>
      </p:sp>
      <p:sp>
        <p:nvSpPr>
          <p:cNvPr id="2" name="Rectangle 1">
            <a:extLst>
              <a:ext uri="{FF2B5EF4-FFF2-40B4-BE49-F238E27FC236}">
                <a16:creationId xmlns:a16="http://schemas.microsoft.com/office/drawing/2014/main" id="{09E21CF7-885F-4327-A9FF-08F87AA53298}"/>
              </a:ext>
            </a:extLst>
          </p:cNvPr>
          <p:cNvSpPr>
            <a:spLocks noGrp="1"/>
          </p:cNvSpPr>
          <p:nvPr/>
        </p:nvSpPr>
        <p:spPr>
          <a:xfrm>
            <a:off x="552450" y="723900"/>
            <a:ext cx="7429500" cy="904875"/>
          </a:xfrm>
          <a:prstGeom prst="rect">
            <a:avLst/>
          </a:prstGeom>
          <a:noFill/>
          <a:ln w="0">
            <a:noFill/>
            <a:prstDash val="solid"/>
          </a:ln>
        </p:spPr>
        <p:txBody>
          <a:bodyPr wrap="square" lIns="0" tIns="0" rIns="0" bIns="0" anchor="t">
            <a:normAutofit/>
          </a:bodyPr>
          <a:lstStyle>
            <a:defPPr algn="l">
              <a:defRPr sz="4800" b="1">
                <a:solidFill>
                  <a:srgbClr val="FFFFFF"/>
                </a:solidFill>
                <a:latin typeface="Bahnschrift"/>
                <a:ea typeface="Bahnschrift"/>
                <a:cs typeface="Bahnschrift"/>
              </a:defRPr>
            </a:defPPr>
          </a:lstStyle>
          <a:p>
            <a:pPr algn="l">
              <a:defRPr sz="4800" b="1">
                <a:solidFill>
                  <a:srgbClr val="FFFFFF"/>
                </a:solidFill>
                <a:latin typeface="Bahnschrift"/>
                <a:ea typeface="Bahnschrift"/>
                <a:cs typeface="Bahnschrift"/>
              </a:defRPr>
            </a:pPr>
            <a:r>
              <a:rPr sz="4800" b="1">
                <a:solidFill>
                  <a:srgbClr val="FFFFFF"/>
                </a:solidFill>
                <a:latin typeface="Bahnschrift"/>
                <a:ea typeface="Bahnschrift"/>
                <a:cs typeface="Bahnschrift"/>
              </a:rPr>
              <a:t>PatchProbe</a:t>
            </a:r>
          </a:p>
        </p:txBody>
      </p:sp>
      <p:sp>
        <p:nvSpPr>
          <p:cNvPr id="3" name="Rectangle 2">
            <a:extLst>
              <a:ext uri="{FF2B5EF4-FFF2-40B4-BE49-F238E27FC236}">
                <a16:creationId xmlns:a16="http://schemas.microsoft.com/office/drawing/2014/main" id="{E475E7DE-74C3-4983-BF8F-6C970C5AAE50}"/>
              </a:ext>
            </a:extLst>
          </p:cNvPr>
          <p:cNvSpPr>
            <a:spLocks noGrp="1"/>
          </p:cNvSpPr>
          <p:nvPr/>
        </p:nvSpPr>
        <p:spPr>
          <a:xfrm>
            <a:off x="571500" y="1724025"/>
            <a:ext cx="7524750" cy="742950"/>
          </a:xfrm>
          <a:prstGeom prst="rect">
            <a:avLst/>
          </a:prstGeom>
          <a:noFill/>
          <a:ln w="0">
            <a:noFill/>
            <a:prstDash val="solid"/>
          </a:ln>
        </p:spPr>
        <p:txBody>
          <a:bodyPr wrap="square" lIns="0" tIns="0" rIns="0" bIns="0" anchor="t">
            <a:normAutofit/>
          </a:bodyPr>
          <a:lstStyle>
            <a:defPPr algn="l">
              <a:defRPr sz="2100" b="0">
                <a:solidFill>
                  <a:srgbClr val="E7E2DD"/>
                </a:solidFill>
                <a:latin typeface="Segoe UI"/>
                <a:ea typeface="Segoe UI"/>
                <a:cs typeface="Segoe UI"/>
              </a:defRPr>
            </a:defPPr>
          </a:lstStyle>
          <a:p>
            <a:pPr algn="l">
              <a:defRPr sz="2100" b="0">
                <a:solidFill>
                  <a:srgbClr val="E7E2DD"/>
                </a:solidFill>
                <a:latin typeface="Segoe UI"/>
                <a:ea typeface="Segoe UI"/>
                <a:cs typeface="Segoe UI"/>
              </a:defRPr>
            </a:pPr>
            <a:r>
              <a:rPr sz="2100" b="0">
                <a:solidFill>
                  <a:srgbClr val="E7E2DD"/>
                </a:solidFill>
                <a:latin typeface="Segoe UI"/>
                <a:ea typeface="Segoe UI"/>
                <a:cs typeface="Segoe UI"/>
              </a:rPr>
              <a:t>Classifying release notes by the first area to verify</a:t>
            </a:r>
          </a:p>
        </p:txBody>
      </p:sp>
      <p:sp>
        <p:nvSpPr>
          <p:cNvPr id="4" name="Rectangle 3">
            <a:extLst>
              <a:ext uri="{FF2B5EF4-FFF2-40B4-BE49-F238E27FC236}">
                <a16:creationId xmlns:a16="http://schemas.microsoft.com/office/drawing/2014/main" id="{27F7CEDE-EF9F-464B-BE90-0D68936A32C1}"/>
              </a:ext>
            </a:extLst>
          </p:cNvPr>
          <p:cNvSpPr>
            <a:spLocks noGrp="1"/>
          </p:cNvSpPr>
          <p:nvPr/>
        </p:nvSpPr>
        <p:spPr>
          <a:xfrm>
            <a:off x="571500" y="2724150"/>
            <a:ext cx="7286625" cy="47625"/>
          </a:xfrm>
          <a:prstGeom prst="rect">
            <a:avLst/>
          </a:prstGeom>
          <a:solidFill>
            <a:srgbClr val="BC171D"/>
          </a:solidFill>
          <a:ln w="0">
            <a:noFill/>
            <a:prstDash val="solid"/>
          </a:ln>
        </p:spPr>
      </p:sp>
      <p:sp>
        <p:nvSpPr>
          <p:cNvPr id="5" name="Rectangle 4">
            <a:extLst>
              <a:ext uri="{FF2B5EF4-FFF2-40B4-BE49-F238E27FC236}">
                <a16:creationId xmlns:a16="http://schemas.microsoft.com/office/drawing/2014/main" id="{2D2A4CD7-963E-4E55-9F46-C934E8FFA701}"/>
              </a:ext>
            </a:extLst>
          </p:cNvPr>
          <p:cNvSpPr>
            <a:spLocks noGrp="1"/>
          </p:cNvSpPr>
          <p:nvPr/>
        </p:nvSpPr>
        <p:spPr>
          <a:xfrm>
            <a:off x="571500" y="2962275"/>
            <a:ext cx="7239000" cy="400050"/>
          </a:xfrm>
          <a:prstGeom prst="rect">
            <a:avLst/>
          </a:prstGeom>
          <a:noFill/>
          <a:ln w="0">
            <a:noFill/>
            <a:prstDash val="solid"/>
          </a:ln>
        </p:spPr>
        <p:txBody>
          <a:bodyPr wrap="square" lIns="0" tIns="0" rIns="0" bIns="0" anchor="t">
            <a:normAutofit/>
          </a:bodyPr>
          <a:lstStyle>
            <a:defPPr algn="l">
              <a:defRPr sz="1650" b="1">
                <a:solidFill>
                  <a:srgbClr val="FFFFFF"/>
                </a:solidFill>
                <a:latin typeface="Segoe UI"/>
                <a:ea typeface="Segoe UI"/>
                <a:cs typeface="Segoe UI"/>
              </a:defRPr>
            </a:defPPr>
          </a:lstStyle>
          <a:p>
            <a:pPr algn="l">
              <a:defRPr sz="1650" b="1">
                <a:solidFill>
                  <a:srgbClr val="FFFFFF"/>
                </a:solidFill>
                <a:latin typeface="Segoe UI"/>
                <a:ea typeface="Segoe UI"/>
                <a:cs typeface="Segoe UI"/>
              </a:defRPr>
            </a:pPr>
            <a:r>
              <a:rPr sz="1650" b="1">
                <a:solidFill>
                  <a:srgbClr val="FFFFFF"/>
                </a:solidFill>
                <a:latin typeface="Segoe UI"/>
                <a:ea typeface="Segoe UI"/>
                <a:cs typeface="Segoe UI"/>
              </a:rPr>
              <a:t>Natural Language Processing  •  Team 8</a:t>
            </a:r>
          </a:p>
        </p:txBody>
      </p:sp>
      <p:sp>
        <p:nvSpPr>
          <p:cNvPr id="6" name="Rectangle 5">
            <a:extLst>
              <a:ext uri="{FF2B5EF4-FFF2-40B4-BE49-F238E27FC236}">
                <a16:creationId xmlns:a16="http://schemas.microsoft.com/office/drawing/2014/main" id="{6B8A95FD-C153-4F6D-8F2C-7E3EA2C0B7CB}"/>
              </a:ext>
            </a:extLst>
          </p:cNvPr>
          <p:cNvSpPr>
            <a:spLocks noGrp="1"/>
          </p:cNvSpPr>
          <p:nvPr/>
        </p:nvSpPr>
        <p:spPr>
          <a:xfrm>
            <a:off x="571500" y="3419475"/>
            <a:ext cx="7239000" cy="323850"/>
          </a:xfrm>
          <a:prstGeom prst="rect">
            <a:avLst/>
          </a:prstGeom>
          <a:noFill/>
          <a:ln w="0">
            <a:noFill/>
            <a:prstDash val="solid"/>
          </a:ln>
        </p:spPr>
        <p:txBody>
          <a:bodyPr wrap="square" lIns="0" tIns="0" rIns="0" bIns="0" anchor="t">
            <a:normAutofit/>
          </a:bodyPr>
          <a:lstStyle>
            <a:defPPr algn="l">
              <a:defRPr sz="1575" b="0">
                <a:solidFill>
                  <a:srgbClr val="CFC9C2"/>
                </a:solidFill>
                <a:latin typeface="Segoe UI"/>
                <a:ea typeface="Segoe UI"/>
                <a:cs typeface="Segoe UI"/>
              </a:defRPr>
            </a:defPPr>
          </a:lstStyle>
          <a:p>
            <a:pPr algn="l">
              <a:defRPr sz="1575" b="0">
                <a:solidFill>
                  <a:srgbClr val="CFC9C2"/>
                </a:solidFill>
                <a:latin typeface="Segoe UI"/>
                <a:ea typeface="Segoe UI"/>
                <a:cs typeface="Segoe UI"/>
              </a:defRPr>
            </a:pPr>
            <a:r>
              <a:rPr sz="1575" b="0">
                <a:solidFill>
                  <a:srgbClr val="CFC9C2"/>
                </a:solidFill>
                <a:latin typeface="Segoe UI"/>
                <a:ea typeface="Segoe UI"/>
                <a:cs typeface="Segoe UI"/>
              </a:rPr>
              <a:t>Navrachana University</a:t>
            </a:r>
          </a:p>
        </p:txBody>
      </p:sp>
      <p:sp>
        <p:nvSpPr>
          <p:cNvPr id="7" name="Rectangle 6">
            <a:extLst>
              <a:ext uri="{FF2B5EF4-FFF2-40B4-BE49-F238E27FC236}">
                <a16:creationId xmlns:a16="http://schemas.microsoft.com/office/drawing/2014/main" id="{790A1E1E-E6E7-4691-B212-91D088BA5CF9}"/>
              </a:ext>
            </a:extLst>
          </p:cNvPr>
          <p:cNvSpPr>
            <a:spLocks noGrp="1"/>
          </p:cNvSpPr>
          <p:nvPr/>
        </p:nvSpPr>
        <p:spPr>
          <a:xfrm>
            <a:off x="571500" y="4248150"/>
            <a:ext cx="7524750" cy="1476375"/>
          </a:xfrm>
          <a:prstGeom prst="rect">
            <a:avLst/>
          </a:prstGeom>
          <a:noFill/>
          <a:ln w="0">
            <a:noFill/>
            <a:prstDash val="solid"/>
          </a:ln>
        </p:spPr>
        <p:txBody>
          <a:bodyPr wrap="square" lIns="0" tIns="0" rIns="0" bIns="0" anchor="t">
            <a:normAutofit/>
          </a:bodyPr>
          <a:lstStyle>
            <a:defPPr algn="l">
              <a:defRPr sz="1425" b="0">
                <a:solidFill>
                  <a:srgbClr val="FFFFFF"/>
                </a:solidFill>
                <a:latin typeface="Segoe UI"/>
                <a:ea typeface="Segoe UI"/>
                <a:cs typeface="Segoe UI"/>
              </a:defRPr>
            </a:defPPr>
          </a:lstStyle>
          <a:p>
            <a:pPr algn="l">
              <a:defRPr sz="1425" b="0">
                <a:solidFill>
                  <a:srgbClr val="FFFFFF"/>
                </a:solidFill>
                <a:latin typeface="Segoe UI"/>
                <a:ea typeface="Segoe UI"/>
                <a:cs typeface="Segoe UI"/>
              </a:defRPr>
            </a:pPr>
            <a:r>
              <a:rPr sz="1425" b="0">
                <a:solidFill>
                  <a:srgbClr val="FFFFFF"/>
                </a:solidFill>
                <a:latin typeface="Segoe UI"/>
                <a:ea typeface="Segoe UI"/>
                <a:cs typeface="Segoe UI"/>
              </a:rPr>
              <a:t>Tilaksinh Chauhan  23000740</a:t>
            </a:r>
          </a:p>
          <a:p>
            <a:pPr algn="l">
              <a:defRPr sz="1425" b="0">
                <a:solidFill>
                  <a:srgbClr val="FFFFFF"/>
                </a:solidFill>
                <a:latin typeface="Segoe UI"/>
                <a:ea typeface="Segoe UI"/>
                <a:cs typeface="Segoe UI"/>
              </a:defRPr>
            </a:pPr>
            <a:r>
              <a:rPr sz="1425" b="0">
                <a:solidFill>
                  <a:srgbClr val="FFFFFF"/>
                </a:solidFill>
                <a:latin typeface="Segoe UI"/>
                <a:ea typeface="Segoe UI"/>
                <a:cs typeface="Segoe UI"/>
              </a:rPr>
              <a:t>Kavya Jariwala  23000543</a:t>
            </a:r>
          </a:p>
          <a:p>
            <a:pPr algn="l">
              <a:defRPr sz="1425" b="0">
                <a:solidFill>
                  <a:srgbClr val="FFFFFF"/>
                </a:solidFill>
                <a:latin typeface="Segoe UI"/>
                <a:ea typeface="Segoe UI"/>
                <a:cs typeface="Segoe UI"/>
              </a:defRPr>
            </a:pPr>
            <a:r>
              <a:rPr sz="1425" b="0">
                <a:solidFill>
                  <a:srgbClr val="FFFFFF"/>
                </a:solidFill>
                <a:latin typeface="Segoe UI"/>
                <a:ea typeface="Segoe UI"/>
                <a:cs typeface="Segoe UI"/>
              </a:rPr>
              <a:t>Bhargav Panchal  23000502</a:t>
            </a:r>
          </a:p>
          <a:p>
            <a:pPr algn="l">
              <a:defRPr sz="1425" b="0">
                <a:solidFill>
                  <a:srgbClr val="FFFFFF"/>
                </a:solidFill>
                <a:latin typeface="Segoe UI"/>
                <a:ea typeface="Segoe UI"/>
                <a:cs typeface="Segoe UI"/>
              </a:defRPr>
            </a:pPr>
            <a:r>
              <a:rPr sz="1425" b="0">
                <a:solidFill>
                  <a:srgbClr val="FFFFFF"/>
                </a:solidFill>
                <a:latin typeface="Segoe UI"/>
                <a:ea typeface="Segoe UI"/>
                <a:cs typeface="Segoe UI"/>
              </a:rPr>
              <a:t>Om Nathani  23000883</a:t>
            </a:r>
          </a:p>
        </p:txBody>
      </p:sp>
      <p:pic>
        <p:nvPicPr>
          <p:cNvPr id="8" name="Picture 7">
            <a:extLst>
              <a:ext uri="{FF2B5EF4-FFF2-40B4-BE49-F238E27FC236}">
                <a16:creationId xmlns:a16="http://schemas.microsoft.com/office/drawing/2014/main" id="{20231E1B-BFF2-405D-AE51-E712A60F4543}"/>
              </a:ext>
            </a:extLst>
          </p:cNvPr>
          <p:cNvPicPr>
            <a:picLocks noChangeAspect="1"/>
          </p:cNvPicPr>
          <p:nvPr/>
        </p:nvPicPr>
        <p:blipFill>
          <a:blip r:embed="rId3"/>
          <a:stretch/>
        </p:blipFill>
        <p:spPr>
          <a:xfrm>
            <a:off x="8839200" y="713032"/>
            <a:ext cx="2628900" cy="3679337"/>
          </a:xfrm>
          <a:prstGeom prst="rect">
            <a:avLst/>
          </a:prstGeom>
        </p:spPr>
      </p:pic>
      <p:sp>
        <p:nvSpPr>
          <p:cNvPr id="9" name="Rectangle 8">
            <a:extLst>
              <a:ext uri="{FF2B5EF4-FFF2-40B4-BE49-F238E27FC236}">
                <a16:creationId xmlns:a16="http://schemas.microsoft.com/office/drawing/2014/main" id="{F70BB94C-4545-43D5-A3DD-F25F74BB9007}"/>
              </a:ext>
            </a:extLst>
          </p:cNvPr>
          <p:cNvSpPr>
            <a:spLocks noGrp="1"/>
          </p:cNvSpPr>
          <p:nvPr/>
        </p:nvSpPr>
        <p:spPr>
          <a:xfrm>
            <a:off x="571500" y="6229350"/>
            <a:ext cx="7429500" cy="285750"/>
          </a:xfrm>
          <a:prstGeom prst="rect">
            <a:avLst/>
          </a:prstGeom>
          <a:noFill/>
          <a:ln w="0">
            <a:noFill/>
            <a:prstDash val="solid"/>
          </a:ln>
        </p:spPr>
        <p:txBody>
          <a:bodyPr wrap="square" lIns="0" tIns="0" rIns="0" bIns="0" anchor="t">
            <a:normAutofit/>
          </a:bodyPr>
          <a:lstStyle>
            <a:defPPr algn="l">
              <a:defRPr sz="1200" b="0">
                <a:solidFill>
                  <a:srgbClr val="B9B5B0"/>
                </a:solidFill>
                <a:latin typeface="Segoe UI"/>
                <a:ea typeface="Segoe UI"/>
                <a:cs typeface="Segoe UI"/>
              </a:defRPr>
            </a:defPPr>
          </a:lstStyle>
          <a:p>
            <a:pPr algn="l">
              <a:defRPr sz="1200" b="0">
                <a:solidFill>
                  <a:srgbClr val="B9B5B0"/>
                </a:solidFill>
                <a:latin typeface="Segoe UI"/>
                <a:ea typeface="Segoe UI"/>
                <a:cs typeface="Segoe UI"/>
              </a:defRPr>
            </a:pPr>
            <a:r>
              <a:rPr sz="1200" b="0">
                <a:solidFill>
                  <a:srgbClr val="B9B5B0"/>
                </a:solidFill>
                <a:latin typeface="Segoe UI"/>
                <a:ea typeface="Segoe UI"/>
                <a:cs typeface="Segoe UI"/>
              </a:rPr>
              <a:t>Project presentation  |  October 2026</a:t>
            </a:r>
          </a:p>
        </p:txBody>
      </p:sp>
    </p:spTree>
    <p:extLst>
      <p:ext uri="{BB962C8B-B14F-4D97-AF65-F5344CB8AC3E}">
        <p14:creationId xmlns:p14="http://schemas.microsoft.com/office/powerpoint/2010/main" val="1022100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6F31B965-8CB4-4781-814F-04189E7279F6}"/>
              </a:ext>
            </a:extLst>
          </p:cNvPr>
          <p:cNvSpPr>
            <a:spLocks noGrp="1"/>
          </p:cNvSpPr>
          <p:nvPr/>
        </p:nvSpPr>
        <p:spPr>
          <a:xfrm>
            <a:off x="0" y="0"/>
            <a:ext cx="12192000" cy="95250"/>
          </a:xfrm>
          <a:prstGeom prst="rect">
            <a:avLst/>
          </a:prstGeom>
          <a:solidFill>
            <a:srgbClr val="BC171D"/>
          </a:solidFill>
          <a:ln w="0">
            <a:noFill/>
            <a:prstDash val="solid"/>
          </a:ln>
        </p:spPr>
      </p:sp>
      <p:sp>
        <p:nvSpPr>
          <p:cNvPr id="2" name="title-2">
            <a:extLst>
              <a:ext uri="{FF2B5EF4-FFF2-40B4-BE49-F238E27FC236}">
                <a16:creationId xmlns:a16="http://schemas.microsoft.com/office/drawing/2014/main" id="{AFA79E2C-6B30-41E6-97BF-2A49F3D09FF2}"/>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The upgrade review problem</a:t>
            </a:r>
          </a:p>
        </p:txBody>
      </p:sp>
      <p:sp>
        <p:nvSpPr>
          <p:cNvPr id="3" name="Rectangle 2">
            <a:extLst>
              <a:ext uri="{FF2B5EF4-FFF2-40B4-BE49-F238E27FC236}">
                <a16:creationId xmlns:a16="http://schemas.microsoft.com/office/drawing/2014/main" id="{C133F50B-2A67-488F-B178-46E6CAF5DF18}"/>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917380E1-E0F9-4B66-A392-99E3C2FBF0A0}"/>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F63485A4-7497-4095-BA5B-30F9FA00D075}"/>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84516EF6-824E-4E19-A2F7-20ACEF41C3BD}"/>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lang="en-IN" sz="975" dirty="0">
                <a:solidFill>
                  <a:srgbClr val="5F6973"/>
                </a:solidFill>
                <a:latin typeface="Segoe UI"/>
                <a:ea typeface="Segoe UI"/>
                <a:cs typeface="Segoe UI"/>
              </a:rPr>
              <a:t>Bhargav</a:t>
            </a:r>
            <a:r>
              <a:rPr sz="975" b="0" dirty="0">
                <a:solidFill>
                  <a:srgbClr val="5F6973"/>
                </a:solidFill>
                <a:latin typeface="Segoe UI"/>
                <a:ea typeface="Segoe UI"/>
                <a:cs typeface="Segoe UI"/>
              </a:rPr>
              <a:t>   •   02 / 13</a:t>
            </a:r>
          </a:p>
        </p:txBody>
      </p:sp>
      <p:sp>
        <p:nvSpPr>
          <p:cNvPr id="7" name="Rectangle 6">
            <a:extLst>
              <a:ext uri="{FF2B5EF4-FFF2-40B4-BE49-F238E27FC236}">
                <a16:creationId xmlns:a16="http://schemas.microsoft.com/office/drawing/2014/main" id="{2D6390C9-D166-4B7D-96B4-C7ACBA38CED5}"/>
              </a:ext>
            </a:extLst>
          </p:cNvPr>
          <p:cNvSpPr>
            <a:spLocks noGrp="1"/>
          </p:cNvSpPr>
          <p:nvPr/>
        </p:nvSpPr>
        <p:spPr>
          <a:xfrm>
            <a:off x="514350" y="1343025"/>
            <a:ext cx="523875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A RELEASE NOTE GIVES A CHANGE, NOT A TEST PLAN</a:t>
            </a:r>
          </a:p>
        </p:txBody>
      </p:sp>
      <p:sp>
        <p:nvSpPr>
          <p:cNvPr id="8" name="Rectangle 7">
            <a:extLst>
              <a:ext uri="{FF2B5EF4-FFF2-40B4-BE49-F238E27FC236}">
                <a16:creationId xmlns:a16="http://schemas.microsoft.com/office/drawing/2014/main" id="{21F724BA-D82C-446F-B70F-14CCB910BED7}"/>
              </a:ext>
            </a:extLst>
          </p:cNvPr>
          <p:cNvSpPr>
            <a:spLocks noGrp="1"/>
          </p:cNvSpPr>
          <p:nvPr/>
        </p:nvSpPr>
        <p:spPr>
          <a:xfrm>
            <a:off x="514350" y="1724025"/>
            <a:ext cx="5715000" cy="1304925"/>
          </a:xfrm>
          <a:prstGeom prst="rect">
            <a:avLst/>
          </a:prstGeom>
          <a:solidFill>
            <a:srgbClr val="FFFFFF"/>
          </a:solidFill>
          <a:ln w="0">
            <a:noFill/>
            <a:prstDash val="solid"/>
          </a:ln>
        </p:spPr>
      </p:sp>
      <p:sp>
        <p:nvSpPr>
          <p:cNvPr id="9" name="Rectangle 8">
            <a:extLst>
              <a:ext uri="{FF2B5EF4-FFF2-40B4-BE49-F238E27FC236}">
                <a16:creationId xmlns:a16="http://schemas.microsoft.com/office/drawing/2014/main" id="{DE0F8AC4-028E-4A97-B820-78E8AAEDCE89}"/>
              </a:ext>
            </a:extLst>
          </p:cNvPr>
          <p:cNvSpPr>
            <a:spLocks noGrp="1"/>
          </p:cNvSpPr>
          <p:nvPr/>
        </p:nvSpPr>
        <p:spPr>
          <a:xfrm>
            <a:off x="514350" y="1724025"/>
            <a:ext cx="57150" cy="1304925"/>
          </a:xfrm>
          <a:prstGeom prst="rect">
            <a:avLst/>
          </a:prstGeom>
          <a:solidFill>
            <a:srgbClr val="BC171D"/>
          </a:solidFill>
          <a:ln w="0">
            <a:noFill/>
            <a:prstDash val="solid"/>
          </a:ln>
        </p:spPr>
      </p:sp>
      <p:sp>
        <p:nvSpPr>
          <p:cNvPr id="10" name="Rectangle 9">
            <a:extLst>
              <a:ext uri="{FF2B5EF4-FFF2-40B4-BE49-F238E27FC236}">
                <a16:creationId xmlns:a16="http://schemas.microsoft.com/office/drawing/2014/main" id="{9C130024-817B-4F8E-BD6E-4F8AFFD4D2CC}"/>
              </a:ext>
            </a:extLst>
          </p:cNvPr>
          <p:cNvSpPr>
            <a:spLocks noGrp="1"/>
          </p:cNvSpPr>
          <p:nvPr/>
        </p:nvSpPr>
        <p:spPr>
          <a:xfrm>
            <a:off x="714375" y="1914525"/>
            <a:ext cx="5238750" cy="904875"/>
          </a:xfrm>
          <a:prstGeom prst="rect">
            <a:avLst/>
          </a:prstGeom>
          <a:noFill/>
          <a:ln w="0">
            <a:noFill/>
            <a:prstDash val="solid"/>
          </a:ln>
        </p:spPr>
        <p:txBody>
          <a:bodyPr wrap="square" lIns="0" tIns="0" rIns="0" bIns="0" anchor="t">
            <a:normAutofit/>
          </a:bodyPr>
          <a:lstStyle>
            <a:defPPr algn="l">
              <a:defRPr sz="1725" b="1">
                <a:solidFill>
                  <a:srgbClr val="20252B"/>
                </a:solidFill>
                <a:latin typeface="Segoe UI"/>
                <a:ea typeface="Segoe UI"/>
                <a:cs typeface="Segoe UI"/>
              </a:defRPr>
            </a:defPPr>
          </a:lstStyle>
          <a:p>
            <a:pPr algn="l">
              <a:defRPr sz="1725" b="1">
                <a:solidFill>
                  <a:srgbClr val="20252B"/>
                </a:solidFill>
                <a:latin typeface="Segoe UI"/>
                <a:ea typeface="Segoe UI"/>
                <a:cs typeface="Segoe UI"/>
              </a:defRPr>
            </a:pPr>
            <a:r>
              <a:rPr sz="1725" b="1">
                <a:solidFill>
                  <a:srgbClr val="20252B"/>
                </a:solidFill>
                <a:latin typeface="Segoe UI"/>
                <a:ea typeface="Segoe UI"/>
                <a:cs typeface="Segoe UI"/>
              </a:rPr>
              <a:t>“The minimum supported version of SQLite is increased from 3.27.0 to 3.31.0.”</a:t>
            </a:r>
          </a:p>
        </p:txBody>
      </p:sp>
      <p:sp>
        <p:nvSpPr>
          <p:cNvPr id="11" name="Rectangle 10">
            <a:extLst>
              <a:ext uri="{FF2B5EF4-FFF2-40B4-BE49-F238E27FC236}">
                <a16:creationId xmlns:a16="http://schemas.microsoft.com/office/drawing/2014/main" id="{3005201B-4411-4FFB-A657-FB11743C5A0F}"/>
              </a:ext>
            </a:extLst>
          </p:cNvPr>
          <p:cNvSpPr>
            <a:spLocks noGrp="1"/>
          </p:cNvSpPr>
          <p:nvPr/>
        </p:nvSpPr>
        <p:spPr>
          <a:xfrm>
            <a:off x="514350" y="3267075"/>
            <a:ext cx="5715000" cy="1000125"/>
          </a:xfrm>
          <a:prstGeom prst="rect">
            <a:avLst/>
          </a:prstGeom>
          <a:noFill/>
          <a:ln w="0">
            <a:noFill/>
            <a:prstDash val="solid"/>
          </a:ln>
        </p:spPr>
        <p:txBody>
          <a:bodyPr wrap="square" lIns="0" tIns="0" rIns="0" bIns="0" anchor="t">
            <a:normAutofit/>
          </a:bodyPr>
          <a:lstStyle>
            <a:defPPr algn="l">
              <a:defRPr sz="1650" b="0">
                <a:solidFill>
                  <a:srgbClr val="20252B"/>
                </a:solidFill>
                <a:latin typeface="Segoe UI"/>
                <a:ea typeface="Segoe UI"/>
                <a:cs typeface="Segoe UI"/>
              </a:defRPr>
            </a:defPPr>
          </a:lstStyle>
          <a:p>
            <a:pPr algn="l">
              <a:defRPr sz="1650" b="0">
                <a:solidFill>
                  <a:srgbClr val="20252B"/>
                </a:solidFill>
                <a:latin typeface="Segoe UI"/>
                <a:ea typeface="Segoe UI"/>
                <a:cs typeface="Segoe UI"/>
              </a:defRPr>
            </a:pPr>
            <a:r>
              <a:rPr sz="1650" b="0">
                <a:solidFill>
                  <a:srgbClr val="20252B"/>
                </a:solidFill>
                <a:latin typeface="Segoe UI"/>
                <a:ea typeface="Segoe UI"/>
                <a:cs typeface="Segoe UI"/>
              </a:rPr>
              <a:t>A developer must still decide whether the app uses SQLite, where it runs, and what to check before upgrading.</a:t>
            </a:r>
          </a:p>
        </p:txBody>
      </p:sp>
      <p:sp>
        <p:nvSpPr>
          <p:cNvPr id="12" name="Rectangle 11">
            <a:extLst>
              <a:ext uri="{FF2B5EF4-FFF2-40B4-BE49-F238E27FC236}">
                <a16:creationId xmlns:a16="http://schemas.microsoft.com/office/drawing/2014/main" id="{CEE3D3EA-C723-4C1F-9AA3-121F93182A28}"/>
              </a:ext>
            </a:extLst>
          </p:cNvPr>
          <p:cNvSpPr>
            <a:spLocks noGrp="1"/>
          </p:cNvSpPr>
          <p:nvPr/>
        </p:nvSpPr>
        <p:spPr>
          <a:xfrm>
            <a:off x="6677025" y="1343025"/>
            <a:ext cx="4524375"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THE EXISTING WORKFLOW</a:t>
            </a:r>
          </a:p>
        </p:txBody>
      </p:sp>
      <p:sp>
        <p:nvSpPr>
          <p:cNvPr id="13" name="Rectangle 12">
            <a:extLst>
              <a:ext uri="{FF2B5EF4-FFF2-40B4-BE49-F238E27FC236}">
                <a16:creationId xmlns:a16="http://schemas.microsoft.com/office/drawing/2014/main" id="{6A1E7EB6-5B68-4D99-AA46-50C71DDE1BBB}"/>
              </a:ext>
            </a:extLst>
          </p:cNvPr>
          <p:cNvSpPr>
            <a:spLocks noGrp="1"/>
          </p:cNvSpPr>
          <p:nvPr/>
        </p:nvSpPr>
        <p:spPr>
          <a:xfrm>
            <a:off x="6677025" y="1714500"/>
            <a:ext cx="4762500"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1  Read every relevant note</a:t>
            </a:r>
          </a:p>
        </p:txBody>
      </p:sp>
      <p:sp>
        <p:nvSpPr>
          <p:cNvPr id="14" name="Rectangle 13">
            <a:extLst>
              <a:ext uri="{FF2B5EF4-FFF2-40B4-BE49-F238E27FC236}">
                <a16:creationId xmlns:a16="http://schemas.microsoft.com/office/drawing/2014/main" id="{2D920F1D-5E6E-44FC-900D-2C93014B1287}"/>
              </a:ext>
            </a:extLst>
          </p:cNvPr>
          <p:cNvSpPr>
            <a:spLocks noGrp="1"/>
          </p:cNvSpPr>
          <p:nvPr/>
        </p:nvSpPr>
        <p:spPr>
          <a:xfrm>
            <a:off x="6677025" y="2047875"/>
            <a:ext cx="476250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Django advises reviewing release notes for each final release.</a:t>
            </a:r>
          </a:p>
        </p:txBody>
      </p:sp>
      <p:sp>
        <p:nvSpPr>
          <p:cNvPr id="15" name="Rectangle 14">
            <a:extLst>
              <a:ext uri="{FF2B5EF4-FFF2-40B4-BE49-F238E27FC236}">
                <a16:creationId xmlns:a16="http://schemas.microsoft.com/office/drawing/2014/main" id="{B720288D-9A9C-4CC1-BFA0-2FD7FCC4A234}"/>
              </a:ext>
            </a:extLst>
          </p:cNvPr>
          <p:cNvSpPr>
            <a:spLocks noGrp="1"/>
          </p:cNvSpPr>
          <p:nvPr/>
        </p:nvSpPr>
        <p:spPr>
          <a:xfrm>
            <a:off x="6677025" y="2809875"/>
            <a:ext cx="4762500"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2  Map changes to the application</a:t>
            </a:r>
          </a:p>
        </p:txBody>
      </p:sp>
      <p:sp>
        <p:nvSpPr>
          <p:cNvPr id="16" name="Rectangle 15">
            <a:extLst>
              <a:ext uri="{FF2B5EF4-FFF2-40B4-BE49-F238E27FC236}">
                <a16:creationId xmlns:a16="http://schemas.microsoft.com/office/drawing/2014/main" id="{654A1395-5A2D-406D-B323-384266C19C87}"/>
              </a:ext>
            </a:extLst>
          </p:cNvPr>
          <p:cNvSpPr>
            <a:spLocks noGrp="1"/>
          </p:cNvSpPr>
          <p:nvPr/>
        </p:nvSpPr>
        <p:spPr>
          <a:xfrm>
            <a:off x="6677025" y="3143250"/>
            <a:ext cx="476250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Identify affected code, settings, data or user-visible output.</a:t>
            </a:r>
          </a:p>
        </p:txBody>
      </p:sp>
      <p:sp>
        <p:nvSpPr>
          <p:cNvPr id="17" name="Rectangle 16">
            <a:extLst>
              <a:ext uri="{FF2B5EF4-FFF2-40B4-BE49-F238E27FC236}">
                <a16:creationId xmlns:a16="http://schemas.microsoft.com/office/drawing/2014/main" id="{B9FE585B-4389-49CB-9728-A81160E1ABC3}"/>
              </a:ext>
            </a:extLst>
          </p:cNvPr>
          <p:cNvSpPr>
            <a:spLocks noGrp="1"/>
          </p:cNvSpPr>
          <p:nvPr/>
        </p:nvSpPr>
        <p:spPr>
          <a:xfrm>
            <a:off x="6677025" y="3905250"/>
            <a:ext cx="4762500"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3  Choose a first verification area</a:t>
            </a:r>
          </a:p>
        </p:txBody>
      </p:sp>
      <p:sp>
        <p:nvSpPr>
          <p:cNvPr id="18" name="Rectangle 17">
            <a:extLst>
              <a:ext uri="{FF2B5EF4-FFF2-40B4-BE49-F238E27FC236}">
                <a16:creationId xmlns:a16="http://schemas.microsoft.com/office/drawing/2014/main" id="{D21AEDBD-DEEA-4EF3-AC64-274C778D4CE2}"/>
              </a:ext>
            </a:extLst>
          </p:cNvPr>
          <p:cNvSpPr>
            <a:spLocks noGrp="1"/>
          </p:cNvSpPr>
          <p:nvPr/>
        </p:nvSpPr>
        <p:spPr>
          <a:xfrm>
            <a:off x="6677025" y="4238625"/>
            <a:ext cx="476250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PatchProbe suggests where the human review should start.</a:t>
            </a:r>
          </a:p>
        </p:txBody>
      </p:sp>
      <p:sp>
        <p:nvSpPr>
          <p:cNvPr id="19" name="Rectangle 18">
            <a:extLst>
              <a:ext uri="{FF2B5EF4-FFF2-40B4-BE49-F238E27FC236}">
                <a16:creationId xmlns:a16="http://schemas.microsoft.com/office/drawing/2014/main" id="{EE76D451-519E-4B36-93EE-6611D01F6138}"/>
              </a:ext>
            </a:extLst>
          </p:cNvPr>
          <p:cNvSpPr>
            <a:spLocks noGrp="1"/>
          </p:cNvSpPr>
          <p:nvPr/>
        </p:nvSpPr>
        <p:spPr>
          <a:xfrm>
            <a:off x="514350" y="4457700"/>
            <a:ext cx="533400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THREE EXAMPLES OF THE SAME DECISION</a:t>
            </a:r>
          </a:p>
        </p:txBody>
      </p:sp>
      <p:sp>
        <p:nvSpPr>
          <p:cNvPr id="20" name="Rectangle 19">
            <a:extLst>
              <a:ext uri="{FF2B5EF4-FFF2-40B4-BE49-F238E27FC236}">
                <a16:creationId xmlns:a16="http://schemas.microsoft.com/office/drawing/2014/main" id="{B6619C9F-2604-4635-8EF2-E0643C5EA8ED}"/>
              </a:ext>
            </a:extLst>
          </p:cNvPr>
          <p:cNvSpPr>
            <a:spLocks noGrp="1"/>
          </p:cNvSpPr>
          <p:nvPr/>
        </p:nvSpPr>
        <p:spPr>
          <a:xfrm>
            <a:off x="514350" y="4733925"/>
            <a:ext cx="5095875" cy="295275"/>
          </a:xfrm>
          <a:prstGeom prst="rect">
            <a:avLst/>
          </a:prstGeom>
          <a:noFill/>
          <a:ln w="0">
            <a:noFill/>
            <a:prstDash val="solid"/>
          </a:ln>
        </p:spPr>
        <p:txBody>
          <a:bodyPr wrap="square" lIns="0" tIns="0" rIns="0" bIns="0" anchor="t">
            <a:normAutofit/>
          </a:bodyPr>
          <a:lstStyle>
            <a:defPPr algn="l">
              <a:defRPr sz="1275" b="0">
                <a:solidFill>
                  <a:srgbClr val="20252B"/>
                </a:solidFill>
                <a:latin typeface="Segoe UI"/>
                <a:ea typeface="Segoe UI"/>
                <a:cs typeface="Segoe UI"/>
              </a:defRPr>
            </a:defPPr>
          </a:lstStyle>
          <a:p>
            <a:pPr algn="l">
              <a:defRPr sz="1275" b="0">
                <a:solidFill>
                  <a:srgbClr val="20252B"/>
                </a:solidFill>
                <a:latin typeface="Segoe UI"/>
                <a:ea typeface="Segoe UI"/>
                <a:cs typeface="Segoe UI"/>
              </a:defRPr>
            </a:pPr>
            <a:r>
              <a:rPr sz="1275" b="0">
                <a:solidFill>
                  <a:srgbClr val="20252B"/>
                </a:solidFill>
                <a:latin typeface="Segoe UI"/>
                <a:ea typeface="Segoe UI"/>
                <a:cs typeface="Segoe UI"/>
              </a:rPr>
              <a:t>SQLite minimum version  →  Configuration / deployment</a:t>
            </a:r>
          </a:p>
        </p:txBody>
      </p:sp>
      <p:sp>
        <p:nvSpPr>
          <p:cNvPr id="21" name="Rectangle 20">
            <a:extLst>
              <a:ext uri="{FF2B5EF4-FFF2-40B4-BE49-F238E27FC236}">
                <a16:creationId xmlns:a16="http://schemas.microsoft.com/office/drawing/2014/main" id="{FC61EC47-64A0-46DE-B654-BB32DAA145B4}"/>
              </a:ext>
            </a:extLst>
          </p:cNvPr>
          <p:cNvSpPr>
            <a:spLocks noGrp="1"/>
          </p:cNvSpPr>
          <p:nvPr/>
        </p:nvSpPr>
        <p:spPr>
          <a:xfrm>
            <a:off x="514350" y="5057775"/>
            <a:ext cx="5095875" cy="295275"/>
          </a:xfrm>
          <a:prstGeom prst="rect">
            <a:avLst/>
          </a:prstGeom>
          <a:noFill/>
          <a:ln w="0">
            <a:noFill/>
            <a:prstDash val="solid"/>
          </a:ln>
        </p:spPr>
        <p:txBody>
          <a:bodyPr wrap="square" lIns="0" tIns="0" rIns="0" bIns="0" anchor="t">
            <a:normAutofit/>
          </a:bodyPr>
          <a:lstStyle>
            <a:defPPr algn="l">
              <a:defRPr sz="1275" b="0">
                <a:solidFill>
                  <a:srgbClr val="20252B"/>
                </a:solidFill>
                <a:latin typeface="Segoe UI"/>
                <a:ea typeface="Segoe UI"/>
                <a:cs typeface="Segoe UI"/>
              </a:defRPr>
            </a:defPPr>
          </a:lstStyle>
          <a:p>
            <a:pPr algn="l">
              <a:defRPr sz="1275" b="0">
                <a:solidFill>
                  <a:srgbClr val="20252B"/>
                </a:solidFill>
                <a:latin typeface="Segoe UI"/>
                <a:ea typeface="Segoe UI"/>
                <a:cs typeface="Segoe UI"/>
              </a:defRPr>
            </a:pPr>
            <a:r>
              <a:rPr sz="1275" b="0">
                <a:solidFill>
                  <a:srgbClr val="20252B"/>
                </a:solidFill>
                <a:latin typeface="Segoe UI"/>
                <a:ea typeface="Segoe UI"/>
                <a:cs typeface="Segoe UI"/>
              </a:rPr>
              <a:t>Removed Python method  →  API / code compatibility</a:t>
            </a:r>
          </a:p>
        </p:txBody>
      </p:sp>
      <p:sp>
        <p:nvSpPr>
          <p:cNvPr id="22" name="Rectangle 21">
            <a:extLst>
              <a:ext uri="{FF2B5EF4-FFF2-40B4-BE49-F238E27FC236}">
                <a16:creationId xmlns:a16="http://schemas.microsoft.com/office/drawing/2014/main" id="{457E704E-DC9E-48DF-AC6B-39B8C72CD6DE}"/>
              </a:ext>
            </a:extLst>
          </p:cNvPr>
          <p:cNvSpPr>
            <a:spLocks noGrp="1"/>
          </p:cNvSpPr>
          <p:nvPr/>
        </p:nvSpPr>
        <p:spPr>
          <a:xfrm>
            <a:off x="514350" y="5457825"/>
            <a:ext cx="11163300" cy="19050"/>
          </a:xfrm>
          <a:prstGeom prst="rect">
            <a:avLst/>
          </a:prstGeom>
          <a:solidFill>
            <a:srgbClr val="E6E0D8"/>
          </a:solidFill>
          <a:ln w="0">
            <a:noFill/>
            <a:prstDash val="solid"/>
          </a:ln>
        </p:spPr>
      </p:sp>
      <p:sp>
        <p:nvSpPr>
          <p:cNvPr id="23" name="Rectangle 22">
            <a:extLst>
              <a:ext uri="{FF2B5EF4-FFF2-40B4-BE49-F238E27FC236}">
                <a16:creationId xmlns:a16="http://schemas.microsoft.com/office/drawing/2014/main" id="{4339DC34-6F19-41DB-ADAE-8703323B03F0}"/>
              </a:ext>
            </a:extLst>
          </p:cNvPr>
          <p:cNvSpPr>
            <a:spLocks noGrp="1"/>
          </p:cNvSpPr>
          <p:nvPr/>
        </p:nvSpPr>
        <p:spPr>
          <a:xfrm>
            <a:off x="514350" y="5638800"/>
            <a:ext cx="11049000" cy="400050"/>
          </a:xfrm>
          <a:prstGeom prst="rect">
            <a:avLst/>
          </a:prstGeom>
          <a:noFill/>
          <a:ln w="0">
            <a:noFill/>
            <a:prstDash val="solid"/>
          </a:ln>
        </p:spPr>
        <p:txBody>
          <a:bodyPr wrap="square" lIns="0" tIns="0" rIns="0" bIns="0" anchor="t">
            <a:normAutofit/>
          </a:bodyPr>
          <a:lstStyle>
            <a:defPPr algn="l">
              <a:defRPr sz="1575" b="1">
                <a:solidFill>
                  <a:srgbClr val="BC171D"/>
                </a:solidFill>
                <a:latin typeface="Segoe UI"/>
                <a:ea typeface="Segoe UI"/>
                <a:cs typeface="Segoe UI"/>
              </a:defRPr>
            </a:defPPr>
          </a:lstStyle>
          <a:p>
            <a:pPr algn="l">
              <a:defRPr sz="1575" b="1">
                <a:solidFill>
                  <a:srgbClr val="BC171D"/>
                </a:solidFill>
                <a:latin typeface="Segoe UI"/>
                <a:ea typeface="Segoe UI"/>
                <a:cs typeface="Segoe UI"/>
              </a:defRPr>
            </a:pPr>
            <a:r>
              <a:rPr sz="1575" b="1">
                <a:solidFill>
                  <a:srgbClr val="BC171D"/>
                </a:solidFill>
                <a:latin typeface="Segoe UI"/>
                <a:ea typeface="Segoe UI"/>
                <a:cs typeface="Segoe UI"/>
              </a:rPr>
              <a:t>MVP audience: developers, QA reviewers and maintainers preparing dependency upgrades.</a:t>
            </a:r>
          </a:p>
        </p:txBody>
      </p:sp>
    </p:spTree>
    <p:extLst>
      <p:ext uri="{BB962C8B-B14F-4D97-AF65-F5344CB8AC3E}">
        <p14:creationId xmlns:p14="http://schemas.microsoft.com/office/powerpoint/2010/main" val="448244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8FFE6C5-91D2-49B1-8571-3B4C0820531D}"/>
              </a:ext>
            </a:extLst>
          </p:cNvPr>
          <p:cNvSpPr>
            <a:spLocks noGrp="1"/>
          </p:cNvSpPr>
          <p:nvPr/>
        </p:nvSpPr>
        <p:spPr>
          <a:xfrm>
            <a:off x="0" y="0"/>
            <a:ext cx="12192000" cy="95250"/>
          </a:xfrm>
          <a:prstGeom prst="rect">
            <a:avLst/>
          </a:prstGeom>
          <a:solidFill>
            <a:srgbClr val="BC171D"/>
          </a:solidFill>
          <a:ln w="0">
            <a:noFill/>
            <a:prstDash val="solid"/>
          </a:ln>
        </p:spPr>
      </p:sp>
      <p:sp>
        <p:nvSpPr>
          <p:cNvPr id="2" name="title-3">
            <a:extLst>
              <a:ext uri="{FF2B5EF4-FFF2-40B4-BE49-F238E27FC236}">
                <a16:creationId xmlns:a16="http://schemas.microsoft.com/office/drawing/2014/main" id="{E761E8FC-39E8-49CA-8F34-70A60C9B81CD}"/>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Related work and the task distinction</a:t>
            </a:r>
          </a:p>
        </p:txBody>
      </p:sp>
      <p:sp>
        <p:nvSpPr>
          <p:cNvPr id="3" name="Rectangle 2">
            <a:extLst>
              <a:ext uri="{FF2B5EF4-FFF2-40B4-BE49-F238E27FC236}">
                <a16:creationId xmlns:a16="http://schemas.microsoft.com/office/drawing/2014/main" id="{065B482B-A5A5-411E-8497-47AC41B7DF9D}"/>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AAF91E9E-3199-4E40-978E-A85B457E57AA}"/>
              </a:ext>
            </a:extLst>
          </p:cNvPr>
          <p:cNvSpPr>
            <a:spLocks noGrp="1"/>
          </p:cNvSpPr>
          <p:nvPr/>
        </p:nvSpPr>
        <p:spPr>
          <a:xfrm>
            <a:off x="514350" y="1057275"/>
            <a:ext cx="11087100" cy="30480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The contribution is a specific classification target and reviewer workflow.</a:t>
            </a:r>
          </a:p>
        </p:txBody>
      </p:sp>
      <p:sp>
        <p:nvSpPr>
          <p:cNvPr id="5" name="Rectangle 4">
            <a:extLst>
              <a:ext uri="{FF2B5EF4-FFF2-40B4-BE49-F238E27FC236}">
                <a16:creationId xmlns:a16="http://schemas.microsoft.com/office/drawing/2014/main" id="{ED30144E-C26C-4C9C-9C86-56FF46AAC528}"/>
              </a:ext>
            </a:extLst>
          </p:cNvPr>
          <p:cNvSpPr>
            <a:spLocks noGrp="1"/>
          </p:cNvSpPr>
          <p:nvPr/>
        </p:nvSpPr>
        <p:spPr>
          <a:xfrm>
            <a:off x="514350" y="6324600"/>
            <a:ext cx="11163300" cy="9525"/>
          </a:xfrm>
          <a:prstGeom prst="rect">
            <a:avLst/>
          </a:prstGeom>
          <a:solidFill>
            <a:srgbClr val="E6E0D8"/>
          </a:solidFill>
          <a:ln w="0">
            <a:noFill/>
            <a:prstDash val="solid"/>
          </a:ln>
        </p:spPr>
      </p:sp>
      <p:sp>
        <p:nvSpPr>
          <p:cNvPr id="6" name="Rectangle 5">
            <a:extLst>
              <a:ext uri="{FF2B5EF4-FFF2-40B4-BE49-F238E27FC236}">
                <a16:creationId xmlns:a16="http://schemas.microsoft.com/office/drawing/2014/main" id="{9E6CFE18-B79E-44C7-9AAC-F2D5C96D2C29}"/>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7" name="Rectangle 6">
            <a:extLst>
              <a:ext uri="{FF2B5EF4-FFF2-40B4-BE49-F238E27FC236}">
                <a16:creationId xmlns:a16="http://schemas.microsoft.com/office/drawing/2014/main" id="{A1EFE5CE-7051-453C-8E90-F953B8A89B9F}"/>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lang="en-IN" sz="975" b="0" dirty="0">
                <a:solidFill>
                  <a:srgbClr val="5F6973"/>
                </a:solidFill>
                <a:latin typeface="Segoe UI"/>
                <a:ea typeface="Segoe UI"/>
                <a:cs typeface="Segoe UI"/>
              </a:rPr>
              <a:t>Bhargav</a:t>
            </a:r>
            <a:r>
              <a:rPr sz="975" b="0" dirty="0">
                <a:solidFill>
                  <a:srgbClr val="5F6973"/>
                </a:solidFill>
                <a:latin typeface="Segoe UI"/>
                <a:ea typeface="Segoe UI"/>
                <a:cs typeface="Segoe UI"/>
              </a:rPr>
              <a:t>   •   03 / 13</a:t>
            </a:r>
          </a:p>
        </p:txBody>
      </p:sp>
      <p:graphicFrame>
        <p:nvGraphicFramePr>
          <p:cNvPr id="8" name="Table 7">
            <a:extLst>
              <a:ext uri="{FF2B5EF4-FFF2-40B4-BE49-F238E27FC236}">
                <a16:creationId xmlns:a16="http://schemas.microsoft.com/office/drawing/2014/main" id="{B904FDF2-5B21-4AC9-91AF-B3C58BD098E1}"/>
              </a:ext>
            </a:extLst>
          </p:cNvPr>
          <p:cNvGraphicFramePr/>
          <p:nvPr/>
        </p:nvGraphicFramePr>
        <p:xfrm>
          <a:off x="514350" y="1543050"/>
          <a:ext cx="11163300" cy="3333750"/>
        </p:xfrm>
        <a:graphic>
          <a:graphicData uri="http://schemas.openxmlformats.org/drawingml/2006/table">
            <a:tbl>
              <a:tblPr/>
              <a:tblGrid>
                <a:gridCol w="219075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4352925">
                  <a:extLst>
                    <a:ext uri="{9D8B030D-6E8A-4147-A177-3AD203B41FA5}">
                      <a16:colId xmlns:a16="http://schemas.microsoft.com/office/drawing/2014/main" val="20003"/>
                    </a:ext>
                  </a:extLst>
                </a:gridCol>
              </a:tblGrid>
              <a:tr h="666750">
                <a:tc>
                  <a:txBody>
                    <a:bodyPr/>
                    <a:lstStyle/>
                    <a:p>
                      <a:r>
                        <a:rPr sz="1350" b="1">
                          <a:solidFill>
                            <a:srgbClr val="FFFFFF"/>
                          </a:solidFill>
                          <a:latin typeface="Segoe UI"/>
                          <a:ea typeface="Segoe UI"/>
                          <a:cs typeface="Segoe UI"/>
                        </a:rPr>
                        <a:t>Work</a:t>
                      </a:r>
                    </a:p>
                  </a:txBody>
                  <a:tcPr anchor="ctr">
                    <a:lnL w="9525">
                      <a:solidFill>
                        <a:srgbClr val="E6E0D8"/>
                      </a:solidFill>
                      <a:prstDash val="solid"/>
                    </a:lnL>
                    <a:lnR w="9525">
                      <a:solidFill>
                        <a:srgbClr val="E6E0D8"/>
                      </a:solidFill>
                      <a:prstDash val="solid"/>
                    </a:lnR>
                    <a:lnT w="9525">
                      <a:solidFill>
                        <a:srgbClr val="E6E0D8"/>
                      </a:solidFill>
                      <a:prstDash val="solid"/>
                    </a:lnT>
                    <a:lnB w="9525">
                      <a:solidFill>
                        <a:srgbClr val="E6E0D8"/>
                      </a:solidFill>
                      <a:prstDash val="solid"/>
                    </a:lnB>
                    <a:solidFill>
                      <a:srgbClr val="BC171D"/>
                    </a:solidFill>
                  </a:tcPr>
                </a:tc>
                <a:tc>
                  <a:txBody>
                    <a:bodyPr/>
                    <a:lstStyle/>
                    <a:p>
                      <a:r>
                        <a:rPr sz="1350" b="1">
                          <a:solidFill>
                            <a:srgbClr val="FFFFFF"/>
                          </a:solidFill>
                          <a:latin typeface="Segoe UI"/>
                          <a:ea typeface="Segoe UI"/>
                          <a:cs typeface="Segoe UI"/>
                        </a:rPr>
                        <a:t>Input</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a:solidFill>
                        <a:srgbClr val="E6E0D8"/>
                      </a:solidFill>
                      <a:prstDash val="solid"/>
                    </a:lnT>
                    <a:lnB w="9525">
                      <a:solidFill>
                        <a:srgbClr val="E6E0D8"/>
                      </a:solidFill>
                      <a:prstDash val="solid"/>
                    </a:lnB>
                    <a:solidFill>
                      <a:srgbClr val="BC171D"/>
                    </a:solidFill>
                  </a:tcPr>
                </a:tc>
                <a:tc>
                  <a:txBody>
                    <a:bodyPr/>
                    <a:lstStyle/>
                    <a:p>
                      <a:r>
                        <a:rPr sz="1350" b="1">
                          <a:solidFill>
                            <a:srgbClr val="FFFFFF"/>
                          </a:solidFill>
                          <a:latin typeface="Segoe UI"/>
                          <a:ea typeface="Segoe UI"/>
                          <a:cs typeface="Segoe UI"/>
                        </a:rPr>
                        <a:t>Output</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a:solidFill>
                        <a:srgbClr val="E6E0D8"/>
                      </a:solidFill>
                      <a:prstDash val="solid"/>
                    </a:lnT>
                    <a:lnB w="9525">
                      <a:solidFill>
                        <a:srgbClr val="E6E0D8"/>
                      </a:solidFill>
                      <a:prstDash val="solid"/>
                    </a:lnB>
                    <a:solidFill>
                      <a:srgbClr val="BC171D"/>
                    </a:solidFill>
                  </a:tcPr>
                </a:tc>
                <a:tc>
                  <a:txBody>
                    <a:bodyPr/>
                    <a:lstStyle/>
                    <a:p>
                      <a:r>
                        <a:rPr sz="1350" b="1">
                          <a:solidFill>
                            <a:srgbClr val="FFFFFF"/>
                          </a:solidFill>
                          <a:latin typeface="Segoe UI"/>
                          <a:ea typeface="Segoe UI"/>
                          <a:cs typeface="Segoe UI"/>
                        </a:rPr>
                        <a:t>Relationship</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a:solidFill>
                        <a:srgbClr val="E6E0D8"/>
                      </a:solidFill>
                      <a:prstDash val="solid"/>
                    </a:lnT>
                    <a:lnB w="9525">
                      <a:solidFill>
                        <a:srgbClr val="E6E0D8"/>
                      </a:solidFill>
                      <a:prstDash val="solid"/>
                    </a:lnB>
                    <a:solidFill>
                      <a:srgbClr val="BC171D"/>
                    </a:solidFill>
                  </a:tcPr>
                </a:tc>
                <a:extLst>
                  <a:ext uri="{0D108BD9-81ED-4DB2-BD59-A6C34878D82A}">
                    <a16:rowId xmlns:a16="http://schemas.microsoft.com/office/drawing/2014/main" val="10000"/>
                  </a:ext>
                </a:extLst>
              </a:tr>
              <a:tr h="666750">
                <a:tc>
                  <a:txBody>
                    <a:bodyPr/>
                    <a:lstStyle/>
                    <a:p>
                      <a:r>
                        <a:rPr sz="1275" b="0">
                          <a:solidFill>
                            <a:srgbClr val="20252B"/>
                          </a:solidFill>
                          <a:latin typeface="Segoe UI"/>
                          <a:ea typeface="Segoe UI"/>
                          <a:cs typeface="Segoe UI"/>
                        </a:rPr>
                        <a:t>DeepRelease (2022)</a:t>
                      </a:r>
                    </a:p>
                  </a:txBody>
                  <a:tcPr anchor="ctr">
                    <a:lnL w="9525">
                      <a:solidFill>
                        <a:srgbClr val="E6E0D8"/>
                      </a:solidFill>
                      <a:prstDash val="soli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FFFFF"/>
                    </a:solidFill>
                  </a:tcPr>
                </a:tc>
                <a:tc>
                  <a:txBody>
                    <a:bodyPr/>
                    <a:lstStyle/>
                    <a:p>
                      <a:r>
                        <a:rPr sz="1275" b="0">
                          <a:solidFill>
                            <a:srgbClr val="20252B"/>
                          </a:solidFill>
                          <a:latin typeface="Segoe UI"/>
                          <a:ea typeface="Segoe UI"/>
                          <a:cs typeface="Segoe UI"/>
                        </a:rPr>
                        <a:t>Pull requests</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FFFFF"/>
                    </a:solidFill>
                  </a:tcPr>
                </a:tc>
                <a:tc>
                  <a:txBody>
                    <a:bodyPr/>
                    <a:lstStyle/>
                    <a:p>
                      <a:r>
                        <a:rPr sz="1275" b="0">
                          <a:solidFill>
                            <a:srgbClr val="20252B"/>
                          </a:solidFill>
                          <a:latin typeface="Segoe UI"/>
                          <a:ea typeface="Segoe UI"/>
                          <a:cs typeface="Segoe UI"/>
                        </a:rPr>
                        <a:t>Generated notes + change type</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FFFFF"/>
                    </a:solidFill>
                  </a:tcPr>
                </a:tc>
                <a:tc>
                  <a:txBody>
                    <a:bodyPr/>
                    <a:lstStyle/>
                    <a:p>
                      <a:r>
                        <a:rPr sz="1275" b="0">
                          <a:solidFill>
                            <a:srgbClr val="20252B"/>
                          </a:solidFill>
                          <a:latin typeface="Segoe UI"/>
                          <a:ea typeface="Segoe UI"/>
                          <a:cs typeface="Segoe UI"/>
                        </a:rPr>
                        <a:t>Earlier stage of the release-note process</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FFFFF"/>
                    </a:solidFill>
                  </a:tcPr>
                </a:tc>
                <a:extLst>
                  <a:ext uri="{0D108BD9-81ED-4DB2-BD59-A6C34878D82A}">
                    <a16:rowId xmlns:a16="http://schemas.microsoft.com/office/drawing/2014/main" val="10001"/>
                  </a:ext>
                </a:extLst>
              </a:tr>
              <a:tr h="666750">
                <a:tc>
                  <a:txBody>
                    <a:bodyPr/>
                    <a:lstStyle/>
                    <a:p>
                      <a:r>
                        <a:rPr sz="1275" b="0">
                          <a:solidFill>
                            <a:srgbClr val="20252B"/>
                          </a:solidFill>
                          <a:latin typeface="Segoe UI"/>
                          <a:ea typeface="Segoe UI"/>
                          <a:cs typeface="Segoe UI"/>
                        </a:rPr>
                        <a:t>Wu et al. (2022)</a:t>
                      </a:r>
                    </a:p>
                  </a:txBody>
                  <a:tcPr anchor="ctr">
                    <a:lnL w="9525">
                      <a:solidFill>
                        <a:srgbClr val="E6E0D8"/>
                      </a:solidFill>
                      <a:prstDash val="soli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5F2ED"/>
                    </a:solidFill>
                  </a:tcPr>
                </a:tc>
                <a:tc>
                  <a:txBody>
                    <a:bodyPr/>
                    <a:lstStyle/>
                    <a:p>
                      <a:r>
                        <a:rPr sz="1275" b="0">
                          <a:solidFill>
                            <a:srgbClr val="20252B"/>
                          </a:solidFill>
                          <a:latin typeface="Segoe UI"/>
                          <a:ea typeface="Segoe UI"/>
                          <a:cs typeface="Segoe UI"/>
                        </a:rPr>
                        <a:t>Release-note issues</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5F2ED"/>
                    </a:solidFill>
                  </a:tcPr>
                </a:tc>
                <a:tc>
                  <a:txBody>
                    <a:bodyPr/>
                    <a:lstStyle/>
                    <a:p>
                      <a:r>
                        <a:rPr sz="1275" b="0">
                          <a:solidFill>
                            <a:srgbClr val="20252B"/>
                          </a:solidFill>
                          <a:latin typeface="Segoe UI"/>
                          <a:ea typeface="Segoe UI"/>
                          <a:cs typeface="Segoe UI"/>
                        </a:rPr>
                        <a:t>Issue taxonomy</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5F2ED"/>
                    </a:solidFill>
                  </a:tcPr>
                </a:tc>
                <a:tc>
                  <a:txBody>
                    <a:bodyPr/>
                    <a:lstStyle/>
                    <a:p>
                      <a:r>
                        <a:rPr sz="1275" b="0">
                          <a:solidFill>
                            <a:srgbClr val="20252B"/>
                          </a:solidFill>
                          <a:latin typeface="Segoe UI"/>
                          <a:ea typeface="Segoe UI"/>
                          <a:cs typeface="Segoe UI"/>
                        </a:rPr>
                        <a:t>Studies note problems, not first checks</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5F2ED"/>
                    </a:solidFill>
                  </a:tcPr>
                </a:tc>
                <a:extLst>
                  <a:ext uri="{0D108BD9-81ED-4DB2-BD59-A6C34878D82A}">
                    <a16:rowId xmlns:a16="http://schemas.microsoft.com/office/drawing/2014/main" val="10002"/>
                  </a:ext>
                </a:extLst>
              </a:tr>
              <a:tr h="666750">
                <a:tc>
                  <a:txBody>
                    <a:bodyPr/>
                    <a:lstStyle/>
                    <a:p>
                      <a:r>
                        <a:rPr sz="1275" b="0">
                          <a:solidFill>
                            <a:srgbClr val="20252B"/>
                          </a:solidFill>
                          <a:latin typeface="Segoe UI"/>
                          <a:ea typeface="Segoe UI"/>
                          <a:cs typeface="Segoe UI"/>
                        </a:rPr>
                        <a:t>Pan et al. (2021)</a:t>
                      </a:r>
                    </a:p>
                  </a:txBody>
                  <a:tcPr anchor="ctr">
                    <a:lnL w="9525">
                      <a:solidFill>
                        <a:srgbClr val="E6E0D8"/>
                      </a:solidFill>
                      <a:prstDash val="soli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FFFFF"/>
                    </a:solidFill>
                  </a:tcPr>
                </a:tc>
                <a:tc>
                  <a:txBody>
                    <a:bodyPr/>
                    <a:lstStyle/>
                    <a:p>
                      <a:r>
                        <a:rPr sz="1275" b="0">
                          <a:solidFill>
                            <a:srgbClr val="20252B"/>
                          </a:solidFill>
                          <a:latin typeface="Segoe UI"/>
                          <a:ea typeface="Segoe UI"/>
                          <a:cs typeface="Segoe UI"/>
                        </a:rPr>
                        <a:t>Test/project data</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FFFFF"/>
                    </a:solidFill>
                  </a:tcPr>
                </a:tc>
                <a:tc>
                  <a:txBody>
                    <a:bodyPr/>
                    <a:lstStyle/>
                    <a:p>
                      <a:r>
                        <a:rPr sz="1275" b="0">
                          <a:solidFill>
                            <a:srgbClr val="20252B"/>
                          </a:solidFill>
                          <a:latin typeface="Segoe UI"/>
                          <a:ea typeface="Segoe UI"/>
                          <a:cs typeface="Segoe UI"/>
                        </a:rPr>
                        <a:t>Test selection</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FFFFF"/>
                    </a:solidFill>
                  </a:tcPr>
                </a:tc>
                <a:tc>
                  <a:txBody>
                    <a:bodyPr/>
                    <a:lstStyle/>
                    <a:p>
                      <a:r>
                        <a:rPr sz="1275" b="0">
                          <a:solidFill>
                            <a:srgbClr val="20252B"/>
                          </a:solidFill>
                          <a:latin typeface="Segoe UI"/>
                          <a:ea typeface="Segoe UI"/>
                          <a:cs typeface="Segoe UI"/>
                        </a:rPr>
                        <a:t>Chooses concrete tests, a deeper task</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FFFFF"/>
                    </a:solidFill>
                  </a:tcPr>
                </a:tc>
                <a:extLst>
                  <a:ext uri="{0D108BD9-81ED-4DB2-BD59-A6C34878D82A}">
                    <a16:rowId xmlns:a16="http://schemas.microsoft.com/office/drawing/2014/main" val="10003"/>
                  </a:ext>
                </a:extLst>
              </a:tr>
              <a:tr h="666750">
                <a:tc>
                  <a:txBody>
                    <a:bodyPr/>
                    <a:lstStyle/>
                    <a:p>
                      <a:r>
                        <a:rPr sz="1275" b="1">
                          <a:solidFill>
                            <a:srgbClr val="20252B"/>
                          </a:solidFill>
                          <a:latin typeface="Segoe UI"/>
                          <a:ea typeface="Segoe UI"/>
                          <a:cs typeface="Segoe UI"/>
                        </a:rPr>
                        <a:t>PatchProbe</a:t>
                      </a:r>
                    </a:p>
                  </a:txBody>
                  <a:tcPr anchor="ctr">
                    <a:lnL w="9525">
                      <a:solidFill>
                        <a:srgbClr val="E6E0D8"/>
                      </a:solidFill>
                      <a:prstDash val="soli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0DEDC"/>
                    </a:solidFill>
                  </a:tcPr>
                </a:tc>
                <a:tc>
                  <a:txBody>
                    <a:bodyPr/>
                    <a:lstStyle/>
                    <a:p>
                      <a:r>
                        <a:rPr sz="1275" b="1">
                          <a:solidFill>
                            <a:srgbClr val="20252B"/>
                          </a:solidFill>
                          <a:latin typeface="Segoe UI"/>
                          <a:ea typeface="Segoe UI"/>
                          <a:cs typeface="Segoe UI"/>
                        </a:rPr>
                        <a:t>Published note entry</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0DEDC"/>
                    </a:solidFill>
                  </a:tcPr>
                </a:tc>
                <a:tc>
                  <a:txBody>
                    <a:bodyPr/>
                    <a:lstStyle/>
                    <a:p>
                      <a:r>
                        <a:rPr sz="1275" b="1">
                          <a:solidFill>
                            <a:srgbClr val="20252B"/>
                          </a:solidFill>
                          <a:latin typeface="Segoe UI"/>
                          <a:ea typeface="Segoe UI"/>
                          <a:cs typeface="Segoe UI"/>
                        </a:rPr>
                        <a:t>First verification area</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0DEDC"/>
                    </a:solidFill>
                  </a:tcPr>
                </a:tc>
                <a:tc>
                  <a:txBody>
                    <a:bodyPr/>
                    <a:lstStyle/>
                    <a:p>
                      <a:r>
                        <a:rPr sz="1275" b="1">
                          <a:solidFill>
                            <a:srgbClr val="20252B"/>
                          </a:solidFill>
                          <a:latin typeface="Segoe UI"/>
                          <a:ea typeface="Segoe UI"/>
                          <a:cs typeface="Segoe UI"/>
                        </a:rPr>
                        <a:t>Human review of a downstream check lane</a:t>
                      </a:r>
                    </a:p>
                  </a:txBody>
                  <a:tcPr anchor="ctr">
                    <a:lnL w="9525" cap="flat" cmpd="sng" algn="ctr">
                      <a:solidFill>
                        <a:srgbClr val="E6E0D8"/>
                      </a:solidFill>
                      <a:prstDash val="solid"/>
                      <a:round/>
                      <a:headEnd type="none" w="med" len="med"/>
                      <a:tailEnd type="none" w="med" len="med"/>
                    </a:lnL>
                    <a:lnR w="9525">
                      <a:solidFill>
                        <a:srgbClr val="E6E0D8"/>
                      </a:solidFill>
                      <a:prstDash val="solid"/>
                    </a:lnR>
                    <a:lnT w="9525" cap="flat" cmpd="sng" algn="ctr">
                      <a:solidFill>
                        <a:srgbClr val="E6E0D8"/>
                      </a:solidFill>
                      <a:prstDash val="solid"/>
                      <a:round/>
                      <a:headEnd type="none" w="med" len="med"/>
                      <a:tailEnd type="none" w="med" len="med"/>
                    </a:lnT>
                    <a:lnB w="9525">
                      <a:solidFill>
                        <a:srgbClr val="E6E0D8"/>
                      </a:solidFill>
                      <a:prstDash val="solid"/>
                    </a:lnB>
                    <a:solidFill>
                      <a:srgbClr val="F0DEDC"/>
                    </a:solidFill>
                  </a:tcPr>
                </a:tc>
                <a:extLst>
                  <a:ext uri="{0D108BD9-81ED-4DB2-BD59-A6C34878D82A}">
                    <a16:rowId xmlns:a16="http://schemas.microsoft.com/office/drawing/2014/main" val="10004"/>
                  </a:ext>
                </a:extLst>
              </a:tr>
            </a:tbl>
          </a:graphicData>
        </a:graphic>
      </p:graphicFrame>
      <p:sp>
        <p:nvSpPr>
          <p:cNvPr id="9" name="Rectangle 8">
            <a:extLst>
              <a:ext uri="{FF2B5EF4-FFF2-40B4-BE49-F238E27FC236}">
                <a16:creationId xmlns:a16="http://schemas.microsoft.com/office/drawing/2014/main" id="{75BB8F0D-65E8-4F81-BA27-D40429F2C2CC}"/>
              </a:ext>
            </a:extLst>
          </p:cNvPr>
          <p:cNvSpPr>
            <a:spLocks noGrp="1"/>
          </p:cNvSpPr>
          <p:nvPr/>
        </p:nvSpPr>
        <p:spPr>
          <a:xfrm>
            <a:off x="514350" y="5105400"/>
            <a:ext cx="11096625" cy="457200"/>
          </a:xfrm>
          <a:prstGeom prst="rect">
            <a:avLst/>
          </a:prstGeom>
          <a:noFill/>
          <a:ln w="0">
            <a:noFill/>
            <a:prstDash val="solid"/>
          </a:ln>
        </p:spPr>
        <p:txBody>
          <a:bodyPr wrap="square" lIns="0" tIns="0" rIns="0" bIns="0" anchor="t">
            <a:normAutofit/>
          </a:bodyPr>
          <a:lstStyle>
            <a:defPPr algn="l">
              <a:defRPr sz="1725" b="1">
                <a:solidFill>
                  <a:srgbClr val="20252B"/>
                </a:solidFill>
                <a:latin typeface="Segoe UI"/>
                <a:ea typeface="Segoe UI"/>
                <a:cs typeface="Segoe UI"/>
              </a:defRPr>
            </a:defPPr>
          </a:lstStyle>
          <a:p>
            <a:pPr algn="l">
              <a:defRPr sz="1725" b="1">
                <a:solidFill>
                  <a:srgbClr val="20252B"/>
                </a:solidFill>
                <a:latin typeface="Segoe UI"/>
                <a:ea typeface="Segoe UI"/>
                <a:cs typeface="Segoe UI"/>
              </a:defRPr>
            </a:pPr>
            <a:r>
              <a:rPr sz="1725" b="1">
                <a:solidFill>
                  <a:srgbClr val="20252B"/>
                </a:solidFill>
                <a:latin typeface="Segoe UI"/>
                <a:ea typeface="Segoe UI"/>
                <a:cs typeface="Segoe UI"/>
              </a:rPr>
              <a:t>Our scoped novelty: published release-note text is routed to the first area a developer should verify.</a:t>
            </a:r>
          </a:p>
        </p:txBody>
      </p:sp>
      <p:sp>
        <p:nvSpPr>
          <p:cNvPr id="10" name="Rectangle 9">
            <a:extLst>
              <a:ext uri="{FF2B5EF4-FFF2-40B4-BE49-F238E27FC236}">
                <a16:creationId xmlns:a16="http://schemas.microsoft.com/office/drawing/2014/main" id="{2D3CC163-DF34-46F9-B211-41CBE9AB531D}"/>
              </a:ext>
            </a:extLst>
          </p:cNvPr>
          <p:cNvSpPr>
            <a:spLocks noGrp="1"/>
          </p:cNvSpPr>
          <p:nvPr/>
        </p:nvSpPr>
        <p:spPr>
          <a:xfrm>
            <a:off x="514350" y="5686425"/>
            <a:ext cx="11096625" cy="3238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This comparison supports differentiation within the reviewed sources; it does not establish a worldwide-first claim.</a:t>
            </a:r>
          </a:p>
        </p:txBody>
      </p:sp>
    </p:spTree>
    <p:extLst>
      <p:ext uri="{BB962C8B-B14F-4D97-AF65-F5344CB8AC3E}">
        <p14:creationId xmlns:p14="http://schemas.microsoft.com/office/powerpoint/2010/main" val="4442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ED1FAFC2-6B80-4526-8278-BF1E0D23684F}"/>
              </a:ext>
            </a:extLst>
          </p:cNvPr>
          <p:cNvSpPr>
            <a:spLocks noGrp="1"/>
          </p:cNvSpPr>
          <p:nvPr/>
        </p:nvSpPr>
        <p:spPr>
          <a:xfrm>
            <a:off x="0" y="0"/>
            <a:ext cx="12192000" cy="95250"/>
          </a:xfrm>
          <a:prstGeom prst="rect">
            <a:avLst/>
          </a:prstGeom>
          <a:solidFill>
            <a:srgbClr val="BC171D"/>
          </a:solidFill>
          <a:ln w="0">
            <a:noFill/>
            <a:prstDash val="solid"/>
          </a:ln>
        </p:spPr>
      </p:sp>
      <p:sp>
        <p:nvSpPr>
          <p:cNvPr id="2" name="title-4">
            <a:extLst>
              <a:ext uri="{FF2B5EF4-FFF2-40B4-BE49-F238E27FC236}">
                <a16:creationId xmlns:a16="http://schemas.microsoft.com/office/drawing/2014/main" id="{1494E7F8-CF8A-41D4-9502-2311E280A9CB}"/>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Dataset, labels and pilot coverage</a:t>
            </a:r>
          </a:p>
        </p:txBody>
      </p:sp>
      <p:sp>
        <p:nvSpPr>
          <p:cNvPr id="3" name="Rectangle 2">
            <a:extLst>
              <a:ext uri="{FF2B5EF4-FFF2-40B4-BE49-F238E27FC236}">
                <a16:creationId xmlns:a16="http://schemas.microsoft.com/office/drawing/2014/main" id="{0081CE07-E31E-492B-A9B4-F2F2FBBE0DA5}"/>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0E98733A-B26F-4C5F-8A88-1F2C100134EC}"/>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4690E308-A221-464B-8E7E-0E75B36DEEF1}"/>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65C36757-334A-4B2C-94C7-78A5F8B161D5}"/>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lang="en-IN" sz="975" b="0" dirty="0">
                <a:solidFill>
                  <a:srgbClr val="5F6973"/>
                </a:solidFill>
                <a:latin typeface="Segoe UI"/>
                <a:ea typeface="Segoe UI"/>
                <a:cs typeface="Segoe UI"/>
              </a:rPr>
              <a:t>Kavya</a:t>
            </a:r>
            <a:r>
              <a:rPr sz="975" b="0" dirty="0">
                <a:solidFill>
                  <a:srgbClr val="5F6973"/>
                </a:solidFill>
                <a:latin typeface="Segoe UI"/>
                <a:ea typeface="Segoe UI"/>
                <a:cs typeface="Segoe UI"/>
              </a:rPr>
              <a:t>   •   04 / 13</a:t>
            </a:r>
          </a:p>
        </p:txBody>
      </p:sp>
      <p:sp>
        <p:nvSpPr>
          <p:cNvPr id="7" name="Rectangle 6">
            <a:extLst>
              <a:ext uri="{FF2B5EF4-FFF2-40B4-BE49-F238E27FC236}">
                <a16:creationId xmlns:a16="http://schemas.microsoft.com/office/drawing/2014/main" id="{33A8CF63-94FA-4030-A143-66D5892313AA}"/>
              </a:ext>
            </a:extLst>
          </p:cNvPr>
          <p:cNvSpPr>
            <a:spLocks noGrp="1"/>
          </p:cNvSpPr>
          <p:nvPr/>
        </p:nvSpPr>
        <p:spPr>
          <a:xfrm>
            <a:off x="514350" y="1381125"/>
            <a:ext cx="2095500" cy="723900"/>
          </a:xfrm>
          <a:prstGeom prst="rect">
            <a:avLst/>
          </a:prstGeom>
          <a:noFill/>
          <a:ln w="0">
            <a:noFill/>
            <a:prstDash val="solid"/>
          </a:ln>
        </p:spPr>
        <p:txBody>
          <a:bodyPr wrap="square" lIns="0" tIns="0" rIns="0" bIns="0" anchor="t">
            <a:normAutofit/>
          </a:bodyPr>
          <a:lstStyle>
            <a:defPPr algn="l">
              <a:defRPr sz="3900" b="1">
                <a:solidFill>
                  <a:srgbClr val="BC171D"/>
                </a:solidFill>
                <a:latin typeface="Bahnschrift"/>
                <a:ea typeface="Bahnschrift"/>
                <a:cs typeface="Bahnschrift"/>
              </a:defRPr>
            </a:defPPr>
          </a:lstStyle>
          <a:p>
            <a:pPr algn="l">
              <a:defRPr sz="3900" b="1">
                <a:solidFill>
                  <a:srgbClr val="BC171D"/>
                </a:solidFill>
                <a:latin typeface="Bahnschrift"/>
                <a:ea typeface="Bahnschrift"/>
                <a:cs typeface="Bahnschrift"/>
              </a:defRPr>
            </a:pPr>
            <a:r>
              <a:rPr sz="3900" b="1">
                <a:solidFill>
                  <a:srgbClr val="BC171D"/>
                </a:solidFill>
                <a:latin typeface="Bahnschrift"/>
                <a:ea typeface="Bahnschrift"/>
                <a:cs typeface="Bahnschrift"/>
              </a:rPr>
              <a:t>14</a:t>
            </a:r>
          </a:p>
        </p:txBody>
      </p:sp>
      <p:sp>
        <p:nvSpPr>
          <p:cNvPr id="8" name="Rectangle 7">
            <a:extLst>
              <a:ext uri="{FF2B5EF4-FFF2-40B4-BE49-F238E27FC236}">
                <a16:creationId xmlns:a16="http://schemas.microsoft.com/office/drawing/2014/main" id="{97F9E9CD-CE5C-4E5F-856C-60484FE6A49A}"/>
              </a:ext>
            </a:extLst>
          </p:cNvPr>
          <p:cNvSpPr>
            <a:spLocks noGrp="1"/>
          </p:cNvSpPr>
          <p:nvPr/>
        </p:nvSpPr>
        <p:spPr>
          <a:xfrm>
            <a:off x="514350" y="2057400"/>
            <a:ext cx="2143125" cy="314325"/>
          </a:xfrm>
          <a:prstGeom prst="rect">
            <a:avLst/>
          </a:prstGeom>
          <a:noFill/>
          <a:ln w="0">
            <a:noFill/>
            <a:prstDash val="solid"/>
          </a:ln>
        </p:spPr>
        <p:txBody>
          <a:bodyPr wrap="square" lIns="0" tIns="0" rIns="0" bIns="0" anchor="t">
            <a:normAutofit/>
          </a:bodyPr>
          <a:lstStyle>
            <a:defPPr algn="l">
              <a:defRPr sz="1350" b="0">
                <a:solidFill>
                  <a:srgbClr val="20252B"/>
                </a:solidFill>
                <a:latin typeface="Segoe UI"/>
                <a:ea typeface="Segoe UI"/>
                <a:cs typeface="Segoe UI"/>
              </a:defRPr>
            </a:defPPr>
          </a:lstStyle>
          <a:p>
            <a:pPr algn="l">
              <a:defRPr sz="1350" b="0">
                <a:solidFill>
                  <a:srgbClr val="20252B"/>
                </a:solidFill>
                <a:latin typeface="Segoe UI"/>
                <a:ea typeface="Segoe UI"/>
                <a:cs typeface="Segoe UI"/>
              </a:defRPr>
            </a:pPr>
            <a:r>
              <a:rPr sz="1350" b="0">
                <a:solidFill>
                  <a:srgbClr val="20252B"/>
                </a:solidFill>
                <a:latin typeface="Segoe UI"/>
                <a:ea typeface="Segoe UI"/>
                <a:cs typeface="Segoe UI"/>
              </a:rPr>
              <a:t>pinned source files</a:t>
            </a:r>
          </a:p>
        </p:txBody>
      </p:sp>
      <p:sp>
        <p:nvSpPr>
          <p:cNvPr id="9" name="Rectangle 8">
            <a:extLst>
              <a:ext uri="{FF2B5EF4-FFF2-40B4-BE49-F238E27FC236}">
                <a16:creationId xmlns:a16="http://schemas.microsoft.com/office/drawing/2014/main" id="{410B1285-1197-4F09-BA76-D36564EB34C0}"/>
              </a:ext>
            </a:extLst>
          </p:cNvPr>
          <p:cNvSpPr>
            <a:spLocks noGrp="1"/>
          </p:cNvSpPr>
          <p:nvPr/>
        </p:nvSpPr>
        <p:spPr>
          <a:xfrm>
            <a:off x="3000375" y="1381125"/>
            <a:ext cx="2095500" cy="723900"/>
          </a:xfrm>
          <a:prstGeom prst="rect">
            <a:avLst/>
          </a:prstGeom>
          <a:noFill/>
          <a:ln w="0">
            <a:noFill/>
            <a:prstDash val="solid"/>
          </a:ln>
        </p:spPr>
        <p:txBody>
          <a:bodyPr wrap="square" lIns="0" tIns="0" rIns="0" bIns="0" anchor="t">
            <a:normAutofit/>
          </a:bodyPr>
          <a:lstStyle>
            <a:defPPr algn="l">
              <a:defRPr sz="3900" b="1">
                <a:solidFill>
                  <a:srgbClr val="BC171D"/>
                </a:solidFill>
                <a:latin typeface="Bahnschrift"/>
                <a:ea typeface="Bahnschrift"/>
                <a:cs typeface="Bahnschrift"/>
              </a:defRPr>
            </a:defPPr>
          </a:lstStyle>
          <a:p>
            <a:pPr algn="l">
              <a:defRPr sz="3900" b="1">
                <a:solidFill>
                  <a:srgbClr val="BC171D"/>
                </a:solidFill>
                <a:latin typeface="Bahnschrift"/>
                <a:ea typeface="Bahnschrift"/>
                <a:cs typeface="Bahnschrift"/>
              </a:defRPr>
            </a:pPr>
            <a:r>
              <a:rPr sz="3900" b="1">
                <a:solidFill>
                  <a:srgbClr val="BC171D"/>
                </a:solidFill>
                <a:latin typeface="Bahnschrift"/>
                <a:ea typeface="Bahnschrift"/>
                <a:cs typeface="Bahnschrift"/>
              </a:rPr>
              <a:t>571</a:t>
            </a:r>
          </a:p>
        </p:txBody>
      </p:sp>
      <p:sp>
        <p:nvSpPr>
          <p:cNvPr id="10" name="Rectangle 9">
            <a:extLst>
              <a:ext uri="{FF2B5EF4-FFF2-40B4-BE49-F238E27FC236}">
                <a16:creationId xmlns:a16="http://schemas.microsoft.com/office/drawing/2014/main" id="{117B167A-6067-45A2-952E-C37D3C2C5F17}"/>
              </a:ext>
            </a:extLst>
          </p:cNvPr>
          <p:cNvSpPr>
            <a:spLocks noGrp="1"/>
          </p:cNvSpPr>
          <p:nvPr/>
        </p:nvSpPr>
        <p:spPr>
          <a:xfrm>
            <a:off x="3000375" y="2057400"/>
            <a:ext cx="2143125" cy="314325"/>
          </a:xfrm>
          <a:prstGeom prst="rect">
            <a:avLst/>
          </a:prstGeom>
          <a:noFill/>
          <a:ln w="0">
            <a:noFill/>
            <a:prstDash val="solid"/>
          </a:ln>
        </p:spPr>
        <p:txBody>
          <a:bodyPr wrap="square" lIns="0" tIns="0" rIns="0" bIns="0" anchor="t">
            <a:normAutofit/>
          </a:bodyPr>
          <a:lstStyle>
            <a:defPPr algn="l">
              <a:defRPr sz="1350" b="0">
                <a:solidFill>
                  <a:srgbClr val="20252B"/>
                </a:solidFill>
                <a:latin typeface="Segoe UI"/>
                <a:ea typeface="Segoe UI"/>
                <a:cs typeface="Segoe UI"/>
              </a:defRPr>
            </a:defPPr>
          </a:lstStyle>
          <a:p>
            <a:pPr algn="l">
              <a:defRPr sz="1350" b="0">
                <a:solidFill>
                  <a:srgbClr val="20252B"/>
                </a:solidFill>
                <a:latin typeface="Segoe UI"/>
                <a:ea typeface="Segoe UI"/>
                <a:cs typeface="Segoe UI"/>
              </a:defRPr>
            </a:pPr>
            <a:r>
              <a:rPr sz="1350" b="0">
                <a:solidFill>
                  <a:srgbClr val="20252B"/>
                </a:solidFill>
                <a:latin typeface="Segoe UI"/>
                <a:ea typeface="Segoe UI"/>
                <a:cs typeface="Segoe UI"/>
              </a:rPr>
              <a:t>extracted entries</a:t>
            </a:r>
          </a:p>
        </p:txBody>
      </p:sp>
      <p:sp>
        <p:nvSpPr>
          <p:cNvPr id="11" name="Rectangle 10">
            <a:extLst>
              <a:ext uri="{FF2B5EF4-FFF2-40B4-BE49-F238E27FC236}">
                <a16:creationId xmlns:a16="http://schemas.microsoft.com/office/drawing/2014/main" id="{64C5E5EF-8D61-40CF-B24C-2360B00D06B3}"/>
              </a:ext>
            </a:extLst>
          </p:cNvPr>
          <p:cNvSpPr>
            <a:spLocks noGrp="1"/>
          </p:cNvSpPr>
          <p:nvPr/>
        </p:nvSpPr>
        <p:spPr>
          <a:xfrm>
            <a:off x="5486400" y="1381125"/>
            <a:ext cx="2095500" cy="723900"/>
          </a:xfrm>
          <a:prstGeom prst="rect">
            <a:avLst/>
          </a:prstGeom>
          <a:noFill/>
          <a:ln w="0">
            <a:noFill/>
            <a:prstDash val="solid"/>
          </a:ln>
        </p:spPr>
        <p:txBody>
          <a:bodyPr wrap="square" lIns="0" tIns="0" rIns="0" bIns="0" anchor="t">
            <a:normAutofit/>
          </a:bodyPr>
          <a:lstStyle>
            <a:defPPr algn="l">
              <a:defRPr sz="3900" b="1">
                <a:solidFill>
                  <a:srgbClr val="BC171D"/>
                </a:solidFill>
                <a:latin typeface="Bahnschrift"/>
                <a:ea typeface="Bahnschrift"/>
                <a:cs typeface="Bahnschrift"/>
              </a:defRPr>
            </a:defPPr>
          </a:lstStyle>
          <a:p>
            <a:pPr algn="l">
              <a:defRPr sz="3900" b="1">
                <a:solidFill>
                  <a:srgbClr val="BC171D"/>
                </a:solidFill>
                <a:latin typeface="Bahnschrift"/>
                <a:ea typeface="Bahnschrift"/>
                <a:cs typeface="Bahnschrift"/>
              </a:defRPr>
            </a:pPr>
            <a:r>
              <a:rPr sz="3900" b="1">
                <a:solidFill>
                  <a:srgbClr val="BC171D"/>
                </a:solidFill>
                <a:latin typeface="Bahnschrift"/>
                <a:ea typeface="Bahnschrift"/>
                <a:cs typeface="Bahnschrift"/>
              </a:rPr>
              <a:t>50</a:t>
            </a:r>
          </a:p>
        </p:txBody>
      </p:sp>
      <p:sp>
        <p:nvSpPr>
          <p:cNvPr id="12" name="Rectangle 11">
            <a:extLst>
              <a:ext uri="{FF2B5EF4-FFF2-40B4-BE49-F238E27FC236}">
                <a16:creationId xmlns:a16="http://schemas.microsoft.com/office/drawing/2014/main" id="{E507C49E-645D-446D-A300-AE27A2FDAAEA}"/>
              </a:ext>
            </a:extLst>
          </p:cNvPr>
          <p:cNvSpPr>
            <a:spLocks noGrp="1"/>
          </p:cNvSpPr>
          <p:nvPr/>
        </p:nvSpPr>
        <p:spPr>
          <a:xfrm>
            <a:off x="5486400" y="2057400"/>
            <a:ext cx="2143125" cy="314325"/>
          </a:xfrm>
          <a:prstGeom prst="rect">
            <a:avLst/>
          </a:prstGeom>
          <a:noFill/>
          <a:ln w="0">
            <a:noFill/>
            <a:prstDash val="solid"/>
          </a:ln>
        </p:spPr>
        <p:txBody>
          <a:bodyPr wrap="square" lIns="0" tIns="0" rIns="0" bIns="0" anchor="t">
            <a:normAutofit/>
          </a:bodyPr>
          <a:lstStyle>
            <a:defPPr algn="l">
              <a:defRPr sz="1350" b="0">
                <a:solidFill>
                  <a:srgbClr val="20252B"/>
                </a:solidFill>
                <a:latin typeface="Segoe UI"/>
                <a:ea typeface="Segoe UI"/>
                <a:cs typeface="Segoe UI"/>
              </a:defRPr>
            </a:defPPr>
          </a:lstStyle>
          <a:p>
            <a:pPr algn="l">
              <a:defRPr sz="1350" b="0">
                <a:solidFill>
                  <a:srgbClr val="20252B"/>
                </a:solidFill>
                <a:latin typeface="Segoe UI"/>
                <a:ea typeface="Segoe UI"/>
                <a:cs typeface="Segoe UI"/>
              </a:defRPr>
            </a:pPr>
            <a:r>
              <a:rPr sz="1350" b="0">
                <a:solidFill>
                  <a:srgbClr val="20252B"/>
                </a:solidFill>
                <a:latin typeface="Segoe UI"/>
                <a:ea typeface="Segoe UI"/>
                <a:cs typeface="Segoe UI"/>
              </a:rPr>
              <a:t>human-confirmed pilot</a:t>
            </a:r>
          </a:p>
        </p:txBody>
      </p:sp>
      <p:sp>
        <p:nvSpPr>
          <p:cNvPr id="13" name="Rectangle 12">
            <a:extLst>
              <a:ext uri="{FF2B5EF4-FFF2-40B4-BE49-F238E27FC236}">
                <a16:creationId xmlns:a16="http://schemas.microsoft.com/office/drawing/2014/main" id="{C1A577DA-A8A9-4EE7-AE6E-2AA9F7504993}"/>
              </a:ext>
            </a:extLst>
          </p:cNvPr>
          <p:cNvSpPr>
            <a:spLocks noGrp="1"/>
          </p:cNvSpPr>
          <p:nvPr/>
        </p:nvSpPr>
        <p:spPr>
          <a:xfrm>
            <a:off x="7972425" y="1381125"/>
            <a:ext cx="2095500" cy="723900"/>
          </a:xfrm>
          <a:prstGeom prst="rect">
            <a:avLst/>
          </a:prstGeom>
          <a:noFill/>
          <a:ln w="0">
            <a:noFill/>
            <a:prstDash val="solid"/>
          </a:ln>
        </p:spPr>
        <p:txBody>
          <a:bodyPr wrap="square" lIns="0" tIns="0" rIns="0" bIns="0" anchor="t">
            <a:normAutofit/>
          </a:bodyPr>
          <a:lstStyle>
            <a:defPPr algn="l">
              <a:defRPr sz="3900" b="1">
                <a:solidFill>
                  <a:srgbClr val="BC171D"/>
                </a:solidFill>
                <a:latin typeface="Bahnschrift"/>
                <a:ea typeface="Bahnschrift"/>
                <a:cs typeface="Bahnschrift"/>
              </a:defRPr>
            </a:defPPr>
          </a:lstStyle>
          <a:p>
            <a:pPr algn="l">
              <a:defRPr sz="3900" b="1">
                <a:solidFill>
                  <a:srgbClr val="BC171D"/>
                </a:solidFill>
                <a:latin typeface="Bahnschrift"/>
                <a:ea typeface="Bahnschrift"/>
                <a:cs typeface="Bahnschrift"/>
              </a:defRPr>
            </a:pPr>
            <a:r>
              <a:rPr sz="3900" b="1">
                <a:solidFill>
                  <a:srgbClr val="BC171D"/>
                </a:solidFill>
                <a:latin typeface="Bahnschrift"/>
                <a:ea typeface="Bahnschrift"/>
                <a:cs typeface="Bahnschrift"/>
              </a:rPr>
              <a:t>49</a:t>
            </a:r>
          </a:p>
        </p:txBody>
      </p:sp>
      <p:sp>
        <p:nvSpPr>
          <p:cNvPr id="14" name="Rectangle 13">
            <a:extLst>
              <a:ext uri="{FF2B5EF4-FFF2-40B4-BE49-F238E27FC236}">
                <a16:creationId xmlns:a16="http://schemas.microsoft.com/office/drawing/2014/main" id="{F3D2E683-C3EE-429D-AD37-52D0583C70B4}"/>
              </a:ext>
            </a:extLst>
          </p:cNvPr>
          <p:cNvSpPr>
            <a:spLocks noGrp="1"/>
          </p:cNvSpPr>
          <p:nvPr/>
        </p:nvSpPr>
        <p:spPr>
          <a:xfrm>
            <a:off x="7972425" y="2057400"/>
            <a:ext cx="2143125" cy="314325"/>
          </a:xfrm>
          <a:prstGeom prst="rect">
            <a:avLst/>
          </a:prstGeom>
          <a:noFill/>
          <a:ln w="0">
            <a:noFill/>
            <a:prstDash val="solid"/>
          </a:ln>
        </p:spPr>
        <p:txBody>
          <a:bodyPr wrap="square" lIns="0" tIns="0" rIns="0" bIns="0" anchor="t">
            <a:normAutofit/>
          </a:bodyPr>
          <a:lstStyle>
            <a:defPPr algn="l">
              <a:defRPr sz="1350" b="0">
                <a:solidFill>
                  <a:srgbClr val="20252B"/>
                </a:solidFill>
                <a:latin typeface="Segoe UI"/>
                <a:ea typeface="Segoe UI"/>
                <a:cs typeface="Segoe UI"/>
              </a:defRPr>
            </a:defPPr>
          </a:lstStyle>
          <a:p>
            <a:pPr algn="l">
              <a:defRPr sz="1350" b="0">
                <a:solidFill>
                  <a:srgbClr val="20252B"/>
                </a:solidFill>
                <a:latin typeface="Segoe UI"/>
                <a:ea typeface="Segoe UI"/>
                <a:cs typeface="Segoe UI"/>
              </a:defRPr>
            </a:pPr>
            <a:r>
              <a:rPr sz="1350" b="0">
                <a:solidFill>
                  <a:srgbClr val="20252B"/>
                </a:solidFill>
                <a:latin typeface="Segoe UI"/>
                <a:ea typeface="Segoe UI"/>
                <a:cs typeface="Segoe UI"/>
              </a:rPr>
              <a:t>model-usable labels</a:t>
            </a:r>
          </a:p>
        </p:txBody>
      </p:sp>
      <p:sp>
        <p:nvSpPr>
          <p:cNvPr id="15" name="Rectangle 14">
            <a:extLst>
              <a:ext uri="{FF2B5EF4-FFF2-40B4-BE49-F238E27FC236}">
                <a16:creationId xmlns:a16="http://schemas.microsoft.com/office/drawing/2014/main" id="{80171983-E32F-4EDD-8109-6EE697029971}"/>
              </a:ext>
            </a:extLst>
          </p:cNvPr>
          <p:cNvSpPr>
            <a:spLocks noGrp="1"/>
          </p:cNvSpPr>
          <p:nvPr/>
        </p:nvSpPr>
        <p:spPr>
          <a:xfrm>
            <a:off x="514350" y="2476500"/>
            <a:ext cx="11163300" cy="19050"/>
          </a:xfrm>
          <a:prstGeom prst="rect">
            <a:avLst/>
          </a:prstGeom>
          <a:solidFill>
            <a:srgbClr val="E6E0D8"/>
          </a:solidFill>
          <a:ln w="0">
            <a:noFill/>
            <a:prstDash val="solid"/>
          </a:ln>
        </p:spPr>
      </p:sp>
      <p:sp>
        <p:nvSpPr>
          <p:cNvPr id="16" name="Rectangle 15">
            <a:extLst>
              <a:ext uri="{FF2B5EF4-FFF2-40B4-BE49-F238E27FC236}">
                <a16:creationId xmlns:a16="http://schemas.microsoft.com/office/drawing/2014/main" id="{DC9BE904-33A8-459B-A70A-B392653BA815}"/>
              </a:ext>
            </a:extLst>
          </p:cNvPr>
          <p:cNvSpPr>
            <a:spLocks noGrp="1"/>
          </p:cNvSpPr>
          <p:nvPr/>
        </p:nvSpPr>
        <p:spPr>
          <a:xfrm>
            <a:off x="514350" y="2705100"/>
            <a:ext cx="400050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PILOT CLASS COUNTS</a:t>
            </a:r>
          </a:p>
        </p:txBody>
      </p:sp>
      <p:graphicFrame>
        <p:nvGraphicFramePr>
          <p:cNvPr id="17" name="Chart">
            <a:extLst>
              <a:ext uri="{FF2B5EF4-FFF2-40B4-BE49-F238E27FC236}">
                <a16:creationId xmlns:a16="http://schemas.microsoft.com/office/drawing/2014/main" id="{31F23BC9-C00F-483C-A736-C6D3BC136B7A}"/>
              </a:ext>
            </a:extLst>
          </p:cNvPr>
          <p:cNvGraphicFramePr/>
          <p:nvPr/>
        </p:nvGraphicFramePr>
        <p:xfrm>
          <a:off x="2400300" y="3095625"/>
          <a:ext cx="5924550" cy="2714625"/>
        </p:xfrm>
        <a:graphic>
          <a:graphicData uri="http://schemas.openxmlformats.org/drawingml/2006/chart">
            <c:chart xmlns:c="http://schemas.openxmlformats.org/drawingml/2006/chart" xmlns:r="http://schemas.openxmlformats.org/officeDocument/2006/relationships" r:id="rId3"/>
          </a:graphicData>
        </a:graphic>
      </p:graphicFrame>
      <p:sp>
        <p:nvSpPr>
          <p:cNvPr id="18" name="Rectangle 17">
            <a:extLst>
              <a:ext uri="{FF2B5EF4-FFF2-40B4-BE49-F238E27FC236}">
                <a16:creationId xmlns:a16="http://schemas.microsoft.com/office/drawing/2014/main" id="{5C9435F4-45E8-4F2B-BEF6-4E1FD25AFF6F}"/>
              </a:ext>
            </a:extLst>
          </p:cNvPr>
          <p:cNvSpPr>
            <a:spLocks noGrp="1"/>
          </p:cNvSpPr>
          <p:nvPr/>
        </p:nvSpPr>
        <p:spPr>
          <a:xfrm>
            <a:off x="514350" y="3324225"/>
            <a:ext cx="1790700" cy="285750"/>
          </a:xfrm>
          <a:prstGeom prst="rect">
            <a:avLst/>
          </a:prstGeom>
          <a:noFill/>
          <a:ln w="0">
            <a:noFill/>
            <a:prstDash val="solid"/>
          </a:ln>
        </p:spPr>
        <p:txBody>
          <a:bodyPr wrap="square" lIns="0" tIns="0" rIns="0" bIns="0" anchor="t">
            <a:normAutofit/>
          </a:bodyPr>
          <a:lstStyle>
            <a:defPPr algn="l">
              <a:defRPr sz="1275" b="0">
                <a:solidFill>
                  <a:srgbClr val="20252B"/>
                </a:solidFill>
                <a:latin typeface="Segoe UI"/>
                <a:ea typeface="Segoe UI"/>
                <a:cs typeface="Segoe UI"/>
              </a:defRPr>
            </a:defPPr>
          </a:lstStyle>
          <a:p>
            <a:pPr algn="l">
              <a:defRPr sz="1275" b="0">
                <a:solidFill>
                  <a:srgbClr val="20252B"/>
                </a:solidFill>
                <a:latin typeface="Segoe UI"/>
                <a:ea typeface="Segoe UI"/>
                <a:cs typeface="Segoe UI"/>
              </a:defRPr>
            </a:pPr>
            <a:r>
              <a:rPr sz="1275" b="0">
                <a:solidFill>
                  <a:srgbClr val="20252B"/>
                </a:solidFill>
                <a:latin typeface="Segoe UI"/>
                <a:ea typeface="Segoe UI"/>
                <a:cs typeface="Segoe UI"/>
              </a:rPr>
              <a:t>No targeted check</a:t>
            </a:r>
          </a:p>
        </p:txBody>
      </p:sp>
      <p:sp>
        <p:nvSpPr>
          <p:cNvPr id="19" name="Rectangle 18">
            <a:extLst>
              <a:ext uri="{FF2B5EF4-FFF2-40B4-BE49-F238E27FC236}">
                <a16:creationId xmlns:a16="http://schemas.microsoft.com/office/drawing/2014/main" id="{567673FC-8DC1-473A-A7AB-3938C097DD5D}"/>
              </a:ext>
            </a:extLst>
          </p:cNvPr>
          <p:cNvSpPr>
            <a:spLocks noGrp="1"/>
          </p:cNvSpPr>
          <p:nvPr/>
        </p:nvSpPr>
        <p:spPr>
          <a:xfrm>
            <a:off x="514350" y="3752850"/>
            <a:ext cx="1790700" cy="285750"/>
          </a:xfrm>
          <a:prstGeom prst="rect">
            <a:avLst/>
          </a:prstGeom>
          <a:noFill/>
          <a:ln w="0">
            <a:noFill/>
            <a:prstDash val="solid"/>
          </a:ln>
        </p:spPr>
        <p:txBody>
          <a:bodyPr wrap="square" lIns="0" tIns="0" rIns="0" bIns="0" anchor="t">
            <a:normAutofit/>
          </a:bodyPr>
          <a:lstStyle>
            <a:defPPr algn="l">
              <a:defRPr sz="1275" b="0">
                <a:solidFill>
                  <a:srgbClr val="20252B"/>
                </a:solidFill>
                <a:latin typeface="Segoe UI"/>
                <a:ea typeface="Segoe UI"/>
                <a:cs typeface="Segoe UI"/>
              </a:defRPr>
            </a:defPPr>
          </a:lstStyle>
          <a:p>
            <a:pPr algn="l">
              <a:defRPr sz="1275" b="0">
                <a:solidFill>
                  <a:srgbClr val="20252B"/>
                </a:solidFill>
                <a:latin typeface="Segoe UI"/>
                <a:ea typeface="Segoe UI"/>
                <a:cs typeface="Segoe UI"/>
              </a:defRPr>
            </a:pPr>
            <a:r>
              <a:rPr sz="1275" b="0">
                <a:solidFill>
                  <a:srgbClr val="20252B"/>
                </a:solidFill>
                <a:latin typeface="Segoe UI"/>
                <a:ea typeface="Segoe UI"/>
                <a:cs typeface="Segoe UI"/>
              </a:rPr>
              <a:t>Data / schema</a:t>
            </a:r>
          </a:p>
        </p:txBody>
      </p:sp>
      <p:sp>
        <p:nvSpPr>
          <p:cNvPr id="20" name="Rectangle 19">
            <a:extLst>
              <a:ext uri="{FF2B5EF4-FFF2-40B4-BE49-F238E27FC236}">
                <a16:creationId xmlns:a16="http://schemas.microsoft.com/office/drawing/2014/main" id="{3AC55E54-6F13-4B37-B23B-4A36F330D865}"/>
              </a:ext>
            </a:extLst>
          </p:cNvPr>
          <p:cNvSpPr>
            <a:spLocks noGrp="1"/>
          </p:cNvSpPr>
          <p:nvPr/>
        </p:nvSpPr>
        <p:spPr>
          <a:xfrm>
            <a:off x="514350" y="4181475"/>
            <a:ext cx="1790700" cy="285750"/>
          </a:xfrm>
          <a:prstGeom prst="rect">
            <a:avLst/>
          </a:prstGeom>
          <a:noFill/>
          <a:ln w="0">
            <a:noFill/>
            <a:prstDash val="solid"/>
          </a:ln>
        </p:spPr>
        <p:txBody>
          <a:bodyPr wrap="square" lIns="0" tIns="0" rIns="0" bIns="0" anchor="t">
            <a:normAutofit/>
          </a:bodyPr>
          <a:lstStyle>
            <a:defPPr algn="l">
              <a:defRPr sz="1275" b="0">
                <a:solidFill>
                  <a:srgbClr val="20252B"/>
                </a:solidFill>
                <a:latin typeface="Segoe UI"/>
                <a:ea typeface="Segoe UI"/>
                <a:cs typeface="Segoe UI"/>
              </a:defRPr>
            </a:defPPr>
          </a:lstStyle>
          <a:p>
            <a:pPr algn="l">
              <a:defRPr sz="1275" b="0">
                <a:solidFill>
                  <a:srgbClr val="20252B"/>
                </a:solidFill>
                <a:latin typeface="Segoe UI"/>
                <a:ea typeface="Segoe UI"/>
                <a:cs typeface="Segoe UI"/>
              </a:defRPr>
            </a:pPr>
            <a:r>
              <a:rPr sz="1275" b="0">
                <a:solidFill>
                  <a:srgbClr val="20252B"/>
                </a:solidFill>
                <a:latin typeface="Segoe UI"/>
                <a:ea typeface="Segoe UI"/>
                <a:cs typeface="Segoe UI"/>
              </a:rPr>
              <a:t>Configuration</a:t>
            </a:r>
          </a:p>
        </p:txBody>
      </p:sp>
      <p:sp>
        <p:nvSpPr>
          <p:cNvPr id="21" name="Rectangle 20">
            <a:extLst>
              <a:ext uri="{FF2B5EF4-FFF2-40B4-BE49-F238E27FC236}">
                <a16:creationId xmlns:a16="http://schemas.microsoft.com/office/drawing/2014/main" id="{2C9D4C3B-C158-4AD4-B451-829FE832686F}"/>
              </a:ext>
            </a:extLst>
          </p:cNvPr>
          <p:cNvSpPr>
            <a:spLocks noGrp="1"/>
          </p:cNvSpPr>
          <p:nvPr/>
        </p:nvSpPr>
        <p:spPr>
          <a:xfrm>
            <a:off x="514350" y="4610100"/>
            <a:ext cx="1790700" cy="285750"/>
          </a:xfrm>
          <a:prstGeom prst="rect">
            <a:avLst/>
          </a:prstGeom>
          <a:noFill/>
          <a:ln w="0">
            <a:noFill/>
            <a:prstDash val="solid"/>
          </a:ln>
        </p:spPr>
        <p:txBody>
          <a:bodyPr wrap="square" lIns="0" tIns="0" rIns="0" bIns="0" anchor="t">
            <a:normAutofit/>
          </a:bodyPr>
          <a:lstStyle>
            <a:defPPr algn="l">
              <a:defRPr sz="1275" b="0">
                <a:solidFill>
                  <a:srgbClr val="20252B"/>
                </a:solidFill>
                <a:latin typeface="Segoe UI"/>
                <a:ea typeface="Segoe UI"/>
                <a:cs typeface="Segoe UI"/>
              </a:defRPr>
            </a:defPPr>
          </a:lstStyle>
          <a:p>
            <a:pPr algn="l">
              <a:defRPr sz="1275" b="0">
                <a:solidFill>
                  <a:srgbClr val="20252B"/>
                </a:solidFill>
                <a:latin typeface="Segoe UI"/>
                <a:ea typeface="Segoe UI"/>
                <a:cs typeface="Segoe UI"/>
              </a:defRPr>
            </a:pPr>
            <a:r>
              <a:rPr sz="1275" b="0">
                <a:solidFill>
                  <a:srgbClr val="20252B"/>
                </a:solidFill>
                <a:latin typeface="Segoe UI"/>
                <a:ea typeface="Segoe UI"/>
                <a:cs typeface="Segoe UI"/>
              </a:rPr>
              <a:t>UI / output</a:t>
            </a:r>
          </a:p>
        </p:txBody>
      </p:sp>
      <p:sp>
        <p:nvSpPr>
          <p:cNvPr id="22" name="Rectangle 21">
            <a:extLst>
              <a:ext uri="{FF2B5EF4-FFF2-40B4-BE49-F238E27FC236}">
                <a16:creationId xmlns:a16="http://schemas.microsoft.com/office/drawing/2014/main" id="{103B6276-8BEE-4B5E-AE36-FA6A21585792}"/>
              </a:ext>
            </a:extLst>
          </p:cNvPr>
          <p:cNvSpPr>
            <a:spLocks noGrp="1"/>
          </p:cNvSpPr>
          <p:nvPr/>
        </p:nvSpPr>
        <p:spPr>
          <a:xfrm>
            <a:off x="514350" y="5038725"/>
            <a:ext cx="1790700" cy="285750"/>
          </a:xfrm>
          <a:prstGeom prst="rect">
            <a:avLst/>
          </a:prstGeom>
          <a:noFill/>
          <a:ln w="0">
            <a:noFill/>
            <a:prstDash val="solid"/>
          </a:ln>
        </p:spPr>
        <p:txBody>
          <a:bodyPr wrap="square" lIns="0" tIns="0" rIns="0" bIns="0" anchor="t">
            <a:normAutofit/>
          </a:bodyPr>
          <a:lstStyle>
            <a:defPPr algn="l">
              <a:defRPr sz="1275" b="0">
                <a:solidFill>
                  <a:srgbClr val="20252B"/>
                </a:solidFill>
                <a:latin typeface="Segoe UI"/>
                <a:ea typeface="Segoe UI"/>
                <a:cs typeface="Segoe UI"/>
              </a:defRPr>
            </a:defPPr>
          </a:lstStyle>
          <a:p>
            <a:pPr algn="l">
              <a:defRPr sz="1275" b="0">
                <a:solidFill>
                  <a:srgbClr val="20252B"/>
                </a:solidFill>
                <a:latin typeface="Segoe UI"/>
                <a:ea typeface="Segoe UI"/>
                <a:cs typeface="Segoe UI"/>
              </a:defRPr>
            </a:pPr>
            <a:r>
              <a:rPr sz="1275" b="0">
                <a:solidFill>
                  <a:srgbClr val="20252B"/>
                </a:solidFill>
                <a:latin typeface="Segoe UI"/>
                <a:ea typeface="Segoe UI"/>
                <a:cs typeface="Segoe UI"/>
              </a:rPr>
              <a:t>API / code</a:t>
            </a:r>
          </a:p>
        </p:txBody>
      </p:sp>
      <p:sp>
        <p:nvSpPr>
          <p:cNvPr id="23" name="Rectangle 22">
            <a:extLst>
              <a:ext uri="{FF2B5EF4-FFF2-40B4-BE49-F238E27FC236}">
                <a16:creationId xmlns:a16="http://schemas.microsoft.com/office/drawing/2014/main" id="{91EA9BE8-CE44-47C3-998E-8A4FFE0C4404}"/>
              </a:ext>
            </a:extLst>
          </p:cNvPr>
          <p:cNvSpPr>
            <a:spLocks noGrp="1"/>
          </p:cNvSpPr>
          <p:nvPr/>
        </p:nvSpPr>
        <p:spPr>
          <a:xfrm>
            <a:off x="8658225" y="3048000"/>
            <a:ext cx="3019425" cy="2571750"/>
          </a:xfrm>
          <a:prstGeom prst="rect">
            <a:avLst/>
          </a:prstGeom>
          <a:solidFill>
            <a:srgbClr val="FFFFFF"/>
          </a:solidFill>
          <a:ln w="0">
            <a:noFill/>
            <a:prstDash val="solid"/>
          </a:ln>
        </p:spPr>
      </p:sp>
      <p:sp>
        <p:nvSpPr>
          <p:cNvPr id="24" name="Rectangle 23">
            <a:extLst>
              <a:ext uri="{FF2B5EF4-FFF2-40B4-BE49-F238E27FC236}">
                <a16:creationId xmlns:a16="http://schemas.microsoft.com/office/drawing/2014/main" id="{4A13F8B7-3417-4FA8-B798-AC0EFA755217}"/>
              </a:ext>
            </a:extLst>
          </p:cNvPr>
          <p:cNvSpPr>
            <a:spLocks noGrp="1"/>
          </p:cNvSpPr>
          <p:nvPr/>
        </p:nvSpPr>
        <p:spPr>
          <a:xfrm>
            <a:off x="8658225" y="3048000"/>
            <a:ext cx="47625" cy="2571750"/>
          </a:xfrm>
          <a:prstGeom prst="rect">
            <a:avLst/>
          </a:prstGeom>
          <a:solidFill>
            <a:srgbClr val="BC171D"/>
          </a:solidFill>
          <a:ln w="0">
            <a:noFill/>
            <a:prstDash val="solid"/>
          </a:ln>
        </p:spPr>
      </p:sp>
      <p:sp>
        <p:nvSpPr>
          <p:cNvPr id="25" name="Rectangle 24">
            <a:extLst>
              <a:ext uri="{FF2B5EF4-FFF2-40B4-BE49-F238E27FC236}">
                <a16:creationId xmlns:a16="http://schemas.microsoft.com/office/drawing/2014/main" id="{E1475EAC-B6B9-43AD-95DF-36E765C390E1}"/>
              </a:ext>
            </a:extLst>
          </p:cNvPr>
          <p:cNvSpPr>
            <a:spLocks noGrp="1"/>
          </p:cNvSpPr>
          <p:nvPr/>
        </p:nvSpPr>
        <p:spPr>
          <a:xfrm>
            <a:off x="8848725" y="3238500"/>
            <a:ext cx="2571750" cy="285750"/>
          </a:xfrm>
          <a:prstGeom prst="rect">
            <a:avLst/>
          </a:prstGeom>
          <a:noFill/>
          <a:ln w="0">
            <a:noFill/>
            <a:prstDash val="solid"/>
          </a:ln>
        </p:spPr>
        <p:txBody>
          <a:bodyPr wrap="square" lIns="0" tIns="0" rIns="0" bIns="0" anchor="t">
            <a:normAutofit/>
          </a:bodyPr>
          <a:lstStyle>
            <a:defPPr algn="l">
              <a:defRPr sz="1350" b="1">
                <a:solidFill>
                  <a:srgbClr val="BC171D"/>
                </a:solidFill>
                <a:latin typeface="Segoe UI"/>
                <a:ea typeface="Segoe UI"/>
                <a:cs typeface="Segoe UI"/>
              </a:defRPr>
            </a:defPPr>
          </a:lstStyle>
          <a:p>
            <a:pPr algn="l">
              <a:defRPr sz="1350" b="1">
                <a:solidFill>
                  <a:srgbClr val="BC171D"/>
                </a:solidFill>
                <a:latin typeface="Segoe UI"/>
                <a:ea typeface="Segoe UI"/>
                <a:cs typeface="Segoe UI"/>
              </a:defRPr>
            </a:pPr>
            <a:r>
              <a:rPr sz="1350" b="1">
                <a:solidFill>
                  <a:srgbClr val="BC171D"/>
                </a:solidFill>
                <a:latin typeface="Segoe UI"/>
                <a:ea typeface="Segoe UI"/>
                <a:cs typeface="Segoe UI"/>
              </a:rPr>
              <a:t>Review unit</a:t>
            </a:r>
          </a:p>
        </p:txBody>
      </p:sp>
      <p:sp>
        <p:nvSpPr>
          <p:cNvPr id="26" name="Rectangle 25">
            <a:extLst>
              <a:ext uri="{FF2B5EF4-FFF2-40B4-BE49-F238E27FC236}">
                <a16:creationId xmlns:a16="http://schemas.microsoft.com/office/drawing/2014/main" id="{38BFD855-2AF5-4133-99DA-CF92EF4E8F42}"/>
              </a:ext>
            </a:extLst>
          </p:cNvPr>
          <p:cNvSpPr>
            <a:spLocks noGrp="1"/>
          </p:cNvSpPr>
          <p:nvPr/>
        </p:nvSpPr>
        <p:spPr>
          <a:xfrm>
            <a:off x="8848725" y="3581400"/>
            <a:ext cx="2571750" cy="704850"/>
          </a:xfrm>
          <a:prstGeom prst="rect">
            <a:avLst/>
          </a:prstGeom>
          <a:noFill/>
          <a:ln w="0">
            <a:noFill/>
            <a:prstDash val="solid"/>
          </a:ln>
        </p:spPr>
        <p:txBody>
          <a:bodyPr wrap="square" lIns="0" tIns="0" rIns="0" bIns="0" anchor="t">
            <a:normAutofit/>
          </a:bodyPr>
          <a:lstStyle>
            <a:defPPr algn="l">
              <a:defRPr sz="1575" b="1">
                <a:solidFill>
                  <a:srgbClr val="20252B"/>
                </a:solidFill>
                <a:latin typeface="Segoe UI"/>
                <a:ea typeface="Segoe UI"/>
                <a:cs typeface="Segoe UI"/>
              </a:defRPr>
            </a:defPPr>
          </a:lstStyle>
          <a:p>
            <a:pPr algn="l">
              <a:defRPr sz="1575" b="1">
                <a:solidFill>
                  <a:srgbClr val="20252B"/>
                </a:solidFill>
                <a:latin typeface="Segoe UI"/>
                <a:ea typeface="Segoe UI"/>
                <a:cs typeface="Segoe UI"/>
              </a:defRPr>
            </a:pPr>
            <a:r>
              <a:rPr sz="1575" b="1">
                <a:solidFill>
                  <a:srgbClr val="20252B"/>
                </a:solidFill>
                <a:latin typeface="Segoe UI"/>
                <a:ea typeface="Segoe UI"/>
                <a:cs typeface="Segoe UI"/>
              </a:rPr>
              <a:t>One substantive Django release-note entry</a:t>
            </a:r>
          </a:p>
        </p:txBody>
      </p:sp>
      <p:sp>
        <p:nvSpPr>
          <p:cNvPr id="27" name="Rectangle 26">
            <a:extLst>
              <a:ext uri="{FF2B5EF4-FFF2-40B4-BE49-F238E27FC236}">
                <a16:creationId xmlns:a16="http://schemas.microsoft.com/office/drawing/2014/main" id="{7D3FE060-C133-4F78-9FF8-4636B01604A9}"/>
              </a:ext>
            </a:extLst>
          </p:cNvPr>
          <p:cNvSpPr>
            <a:spLocks noGrp="1"/>
          </p:cNvSpPr>
          <p:nvPr/>
        </p:nvSpPr>
        <p:spPr>
          <a:xfrm>
            <a:off x="8848725" y="4505325"/>
            <a:ext cx="2571750" cy="962025"/>
          </a:xfrm>
          <a:prstGeom prst="rect">
            <a:avLst/>
          </a:prstGeom>
          <a:noFill/>
          <a:ln w="0">
            <a:noFill/>
            <a:prstDash val="solid"/>
          </a:ln>
        </p:spPr>
        <p:txBody>
          <a:bodyPr wrap="square" lIns="0" tIns="0" rIns="0" bIns="0" anchor="t">
            <a:normAutofit/>
          </a:bodyPr>
          <a:lstStyle>
            <a:defPPr algn="l">
              <a:defRPr sz="1350" b="0">
                <a:solidFill>
                  <a:srgbClr val="20252B"/>
                </a:solidFill>
                <a:latin typeface="Segoe UI"/>
                <a:ea typeface="Segoe UI"/>
                <a:cs typeface="Segoe UI"/>
              </a:defRPr>
            </a:defPPr>
          </a:lstStyle>
          <a:p>
            <a:pPr algn="l">
              <a:defRPr sz="1350" b="0">
                <a:solidFill>
                  <a:srgbClr val="20252B"/>
                </a:solidFill>
                <a:latin typeface="Segoe UI"/>
                <a:ea typeface="Segoe UI"/>
                <a:cs typeface="Segoe UI"/>
              </a:defRPr>
            </a:pPr>
            <a:r>
              <a:rPr sz="1350" b="0">
                <a:solidFill>
                  <a:srgbClr val="20252B"/>
                </a:solidFill>
                <a:latin typeface="Segoe UI"/>
                <a:ea typeface="Segoe UI"/>
                <a:cs typeface="Segoe UI"/>
              </a:rPr>
              <a:t>Five target classes</a:t>
            </a:r>
          </a:p>
          <a:p>
            <a:pPr algn="l">
              <a:defRPr sz="1350" b="0">
                <a:solidFill>
                  <a:srgbClr val="20252B"/>
                </a:solidFill>
                <a:latin typeface="Segoe UI"/>
                <a:ea typeface="Segoe UI"/>
                <a:cs typeface="Segoe UI"/>
              </a:defRPr>
            </a:pPr>
            <a:r>
              <a:rPr sz="1350" b="0">
                <a:solidFill>
                  <a:srgbClr val="20252B"/>
                </a:solidFill>
                <a:latin typeface="Segoe UI"/>
                <a:ea typeface="Segoe UI"/>
                <a:cs typeface="Segoe UI"/>
              </a:rPr>
              <a:t>One separate UNCLEAR state</a:t>
            </a:r>
          </a:p>
          <a:p>
            <a:pPr algn="l">
              <a:defRPr sz="1350" b="0">
                <a:solidFill>
                  <a:srgbClr val="20252B"/>
                </a:solidFill>
                <a:latin typeface="Segoe UI"/>
                <a:ea typeface="Segoe UI"/>
                <a:cs typeface="Segoe UI"/>
              </a:defRPr>
            </a:pPr>
            <a:r>
              <a:rPr sz="1350" b="0">
                <a:solidFill>
                  <a:srgbClr val="20252B"/>
                </a:solidFill>
                <a:latin typeface="Segoe UI"/>
                <a:ea typeface="Segoe UI"/>
                <a:cs typeface="Segoe UI"/>
              </a:rPr>
              <a:t>One UNCLEAR row excluded</a:t>
            </a:r>
          </a:p>
        </p:txBody>
      </p:sp>
      <p:sp>
        <p:nvSpPr>
          <p:cNvPr id="28" name="Rectangle 27">
            <a:extLst>
              <a:ext uri="{FF2B5EF4-FFF2-40B4-BE49-F238E27FC236}">
                <a16:creationId xmlns:a16="http://schemas.microsoft.com/office/drawing/2014/main" id="{09E17350-1441-4122-9545-B71783CEEAF7}"/>
              </a:ext>
            </a:extLst>
          </p:cNvPr>
          <p:cNvSpPr>
            <a:spLocks noGrp="1"/>
          </p:cNvSpPr>
          <p:nvPr/>
        </p:nvSpPr>
        <p:spPr>
          <a:xfrm>
            <a:off x="514350" y="5886450"/>
            <a:ext cx="11001375" cy="30480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Pilot releases: 4.2, 5.0, 5.1, 5.2 and 6.0. Ten entries were selected from each.</a:t>
            </a:r>
          </a:p>
        </p:txBody>
      </p:sp>
    </p:spTree>
    <p:extLst>
      <p:ext uri="{BB962C8B-B14F-4D97-AF65-F5344CB8AC3E}">
        <p14:creationId xmlns:p14="http://schemas.microsoft.com/office/powerpoint/2010/main" val="1236589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41" name="Rectangle 40">
            <a:extLst>
              <a:ext uri="{FF2B5EF4-FFF2-40B4-BE49-F238E27FC236}">
                <a16:creationId xmlns:a16="http://schemas.microsoft.com/office/drawing/2014/main" id="{22E3D40E-100C-4756-B1F2-E84954DE1981}"/>
              </a:ext>
            </a:extLst>
          </p:cNvPr>
          <p:cNvSpPr>
            <a:spLocks noGrp="1"/>
          </p:cNvSpPr>
          <p:nvPr/>
        </p:nvSpPr>
        <p:spPr>
          <a:xfrm>
            <a:off x="0" y="0"/>
            <a:ext cx="12192000" cy="95250"/>
          </a:xfrm>
          <a:prstGeom prst="rect">
            <a:avLst/>
          </a:prstGeom>
          <a:solidFill>
            <a:srgbClr val="BC171D"/>
          </a:solidFill>
          <a:ln w="0">
            <a:noFill/>
            <a:prstDash val="solid"/>
          </a:ln>
        </p:spPr>
      </p:sp>
      <p:sp>
        <p:nvSpPr>
          <p:cNvPr id="2" name="title-5">
            <a:extLst>
              <a:ext uri="{FF2B5EF4-FFF2-40B4-BE49-F238E27FC236}">
                <a16:creationId xmlns:a16="http://schemas.microsoft.com/office/drawing/2014/main" id="{E002AB5A-6D40-4CA5-BC3C-0F9D67C72D51}"/>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End-to-end NLP methodology</a:t>
            </a:r>
          </a:p>
        </p:txBody>
      </p:sp>
      <p:sp>
        <p:nvSpPr>
          <p:cNvPr id="3" name="Rectangle 2">
            <a:extLst>
              <a:ext uri="{FF2B5EF4-FFF2-40B4-BE49-F238E27FC236}">
                <a16:creationId xmlns:a16="http://schemas.microsoft.com/office/drawing/2014/main" id="{3B2A22C5-0174-4F25-AAF8-2ACC7DB8A0D0}"/>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C7AACEAC-B017-4082-91F4-727A0F42372F}"/>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E9515E70-1C56-4ACB-A161-9AAEF0AECE0B}"/>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FB9D4C5A-D947-4EEB-936A-13B5434DD570}"/>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lang="en-IN" sz="975" dirty="0">
                <a:solidFill>
                  <a:srgbClr val="5F6973"/>
                </a:solidFill>
                <a:latin typeface="Segoe UI"/>
                <a:ea typeface="Segoe UI"/>
                <a:cs typeface="Segoe UI"/>
              </a:rPr>
              <a:t>Kavya</a:t>
            </a:r>
            <a:r>
              <a:rPr sz="975" b="0" dirty="0">
                <a:solidFill>
                  <a:srgbClr val="5F6973"/>
                </a:solidFill>
                <a:latin typeface="Segoe UI"/>
                <a:ea typeface="Segoe UI"/>
                <a:cs typeface="Segoe UI"/>
              </a:rPr>
              <a:t>   •   05 / 13</a:t>
            </a:r>
          </a:p>
        </p:txBody>
      </p:sp>
      <p:sp>
        <p:nvSpPr>
          <p:cNvPr id="7" name="Rectangle 6">
            <a:extLst>
              <a:ext uri="{FF2B5EF4-FFF2-40B4-BE49-F238E27FC236}">
                <a16:creationId xmlns:a16="http://schemas.microsoft.com/office/drawing/2014/main" id="{8D0BAF47-8E5B-43D2-AD0F-072C024807D7}"/>
              </a:ext>
            </a:extLst>
          </p:cNvPr>
          <p:cNvSpPr>
            <a:spLocks noGrp="1"/>
          </p:cNvSpPr>
          <p:nvPr/>
        </p:nvSpPr>
        <p:spPr>
          <a:xfrm>
            <a:off x="514350" y="1581150"/>
            <a:ext cx="1733550" cy="57150"/>
          </a:xfrm>
          <a:prstGeom prst="rect">
            <a:avLst/>
          </a:prstGeom>
          <a:solidFill>
            <a:srgbClr val="BC171D"/>
          </a:solidFill>
          <a:ln w="0">
            <a:noFill/>
            <a:prstDash val="solid"/>
          </a:ln>
        </p:spPr>
      </p:sp>
      <p:sp>
        <p:nvSpPr>
          <p:cNvPr id="8" name="Rectangle 7">
            <a:extLst>
              <a:ext uri="{FF2B5EF4-FFF2-40B4-BE49-F238E27FC236}">
                <a16:creationId xmlns:a16="http://schemas.microsoft.com/office/drawing/2014/main" id="{28CCA3CB-B94B-4AA2-B2B2-671DB5F679EC}"/>
              </a:ext>
            </a:extLst>
          </p:cNvPr>
          <p:cNvSpPr>
            <a:spLocks noGrp="1"/>
          </p:cNvSpPr>
          <p:nvPr/>
        </p:nvSpPr>
        <p:spPr>
          <a:xfrm>
            <a:off x="514350" y="1752600"/>
            <a:ext cx="1733550" cy="381000"/>
          </a:xfrm>
          <a:prstGeom prst="rect">
            <a:avLst/>
          </a:prstGeom>
          <a:noFill/>
          <a:ln w="0">
            <a:noFill/>
            <a:prstDash val="solid"/>
          </a:ln>
        </p:spPr>
        <p:txBody>
          <a:bodyPr wrap="square" lIns="0" tIns="0" rIns="0" bIns="0" anchor="t">
            <a:normAutofit/>
          </a:bodyPr>
          <a:lstStyle>
            <a:defPPr algn="l">
              <a:defRPr sz="2175" b="1">
                <a:solidFill>
                  <a:srgbClr val="BC171D"/>
                </a:solidFill>
                <a:latin typeface="Bahnschrift"/>
                <a:ea typeface="Bahnschrift"/>
                <a:cs typeface="Bahnschrift"/>
              </a:defRPr>
            </a:defPPr>
          </a:lstStyle>
          <a:p>
            <a:pPr algn="l">
              <a:defRPr sz="2175" b="1">
                <a:solidFill>
                  <a:srgbClr val="BC171D"/>
                </a:solidFill>
                <a:latin typeface="Bahnschrift"/>
                <a:ea typeface="Bahnschrift"/>
                <a:cs typeface="Bahnschrift"/>
              </a:defRPr>
            </a:pPr>
            <a:r>
              <a:rPr sz="2175" b="1">
                <a:solidFill>
                  <a:srgbClr val="BC171D"/>
                </a:solidFill>
                <a:latin typeface="Bahnschrift"/>
                <a:ea typeface="Bahnschrift"/>
                <a:cs typeface="Bahnschrift"/>
              </a:rPr>
              <a:t>01</a:t>
            </a:r>
          </a:p>
        </p:txBody>
      </p:sp>
      <p:sp>
        <p:nvSpPr>
          <p:cNvPr id="9" name="Rectangle 8">
            <a:extLst>
              <a:ext uri="{FF2B5EF4-FFF2-40B4-BE49-F238E27FC236}">
                <a16:creationId xmlns:a16="http://schemas.microsoft.com/office/drawing/2014/main" id="{6A3C5026-B767-421E-93F3-6F3587DDFC55}"/>
              </a:ext>
            </a:extLst>
          </p:cNvPr>
          <p:cNvSpPr>
            <a:spLocks noGrp="1"/>
          </p:cNvSpPr>
          <p:nvPr/>
        </p:nvSpPr>
        <p:spPr>
          <a:xfrm>
            <a:off x="514350" y="2200275"/>
            <a:ext cx="1733550" cy="4286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Pinned RST</a:t>
            </a:r>
          </a:p>
        </p:txBody>
      </p:sp>
      <p:sp>
        <p:nvSpPr>
          <p:cNvPr id="10" name="Rectangle 9">
            <a:extLst>
              <a:ext uri="{FF2B5EF4-FFF2-40B4-BE49-F238E27FC236}">
                <a16:creationId xmlns:a16="http://schemas.microsoft.com/office/drawing/2014/main" id="{37595E23-1F11-409A-9D1C-BAD5563A2330}"/>
              </a:ext>
            </a:extLst>
          </p:cNvPr>
          <p:cNvSpPr>
            <a:spLocks noGrp="1"/>
          </p:cNvSpPr>
          <p:nvPr/>
        </p:nvSpPr>
        <p:spPr>
          <a:xfrm>
            <a:off x="514350" y="2695575"/>
            <a:ext cx="1733550" cy="87630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14 official Django</a:t>
            </a:r>
          </a:p>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source files</a:t>
            </a:r>
          </a:p>
        </p:txBody>
      </p:sp>
      <p:sp>
        <p:nvSpPr>
          <p:cNvPr id="11" name="Rectangle 10">
            <a:extLst>
              <a:ext uri="{FF2B5EF4-FFF2-40B4-BE49-F238E27FC236}">
                <a16:creationId xmlns:a16="http://schemas.microsoft.com/office/drawing/2014/main" id="{523B0925-4C3F-4E94-ADB7-51EB278E4C4B}"/>
              </a:ext>
            </a:extLst>
          </p:cNvPr>
          <p:cNvSpPr>
            <a:spLocks noGrp="1"/>
          </p:cNvSpPr>
          <p:nvPr/>
        </p:nvSpPr>
        <p:spPr>
          <a:xfrm>
            <a:off x="2400300" y="1581150"/>
            <a:ext cx="1733550" cy="57150"/>
          </a:xfrm>
          <a:prstGeom prst="rect">
            <a:avLst/>
          </a:prstGeom>
          <a:solidFill>
            <a:srgbClr val="BC171D"/>
          </a:solidFill>
          <a:ln w="0">
            <a:noFill/>
            <a:prstDash val="solid"/>
          </a:ln>
        </p:spPr>
      </p:sp>
      <p:sp>
        <p:nvSpPr>
          <p:cNvPr id="12" name="Rectangle 11">
            <a:extLst>
              <a:ext uri="{FF2B5EF4-FFF2-40B4-BE49-F238E27FC236}">
                <a16:creationId xmlns:a16="http://schemas.microsoft.com/office/drawing/2014/main" id="{10878DF7-5F3D-45C4-91F1-1747127B3FE6}"/>
              </a:ext>
            </a:extLst>
          </p:cNvPr>
          <p:cNvSpPr>
            <a:spLocks noGrp="1"/>
          </p:cNvSpPr>
          <p:nvPr/>
        </p:nvSpPr>
        <p:spPr>
          <a:xfrm>
            <a:off x="2400300" y="1752600"/>
            <a:ext cx="1733550" cy="381000"/>
          </a:xfrm>
          <a:prstGeom prst="rect">
            <a:avLst/>
          </a:prstGeom>
          <a:noFill/>
          <a:ln w="0">
            <a:noFill/>
            <a:prstDash val="solid"/>
          </a:ln>
        </p:spPr>
        <p:txBody>
          <a:bodyPr wrap="square" lIns="0" tIns="0" rIns="0" bIns="0" anchor="t">
            <a:normAutofit/>
          </a:bodyPr>
          <a:lstStyle>
            <a:defPPr algn="l">
              <a:defRPr sz="2175" b="1">
                <a:solidFill>
                  <a:srgbClr val="BC171D"/>
                </a:solidFill>
                <a:latin typeface="Bahnschrift"/>
                <a:ea typeface="Bahnschrift"/>
                <a:cs typeface="Bahnschrift"/>
              </a:defRPr>
            </a:defPPr>
          </a:lstStyle>
          <a:p>
            <a:pPr algn="l">
              <a:defRPr sz="2175" b="1">
                <a:solidFill>
                  <a:srgbClr val="BC171D"/>
                </a:solidFill>
                <a:latin typeface="Bahnschrift"/>
                <a:ea typeface="Bahnschrift"/>
                <a:cs typeface="Bahnschrift"/>
              </a:defRPr>
            </a:pPr>
            <a:r>
              <a:rPr sz="2175" b="1">
                <a:solidFill>
                  <a:srgbClr val="BC171D"/>
                </a:solidFill>
                <a:latin typeface="Bahnschrift"/>
                <a:ea typeface="Bahnschrift"/>
                <a:cs typeface="Bahnschrift"/>
              </a:rPr>
              <a:t>02</a:t>
            </a:r>
          </a:p>
        </p:txBody>
      </p:sp>
      <p:sp>
        <p:nvSpPr>
          <p:cNvPr id="13" name="Rectangle 12">
            <a:extLst>
              <a:ext uri="{FF2B5EF4-FFF2-40B4-BE49-F238E27FC236}">
                <a16:creationId xmlns:a16="http://schemas.microsoft.com/office/drawing/2014/main" id="{876ECF07-3351-4771-BBF8-79D8AEBE017C}"/>
              </a:ext>
            </a:extLst>
          </p:cNvPr>
          <p:cNvSpPr>
            <a:spLocks noGrp="1"/>
          </p:cNvSpPr>
          <p:nvPr/>
        </p:nvSpPr>
        <p:spPr>
          <a:xfrm>
            <a:off x="2400300" y="2200275"/>
            <a:ext cx="1733550" cy="4286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Extraction</a:t>
            </a:r>
          </a:p>
        </p:txBody>
      </p:sp>
      <p:sp>
        <p:nvSpPr>
          <p:cNvPr id="14" name="Rectangle 13">
            <a:extLst>
              <a:ext uri="{FF2B5EF4-FFF2-40B4-BE49-F238E27FC236}">
                <a16:creationId xmlns:a16="http://schemas.microsoft.com/office/drawing/2014/main" id="{732C3095-4443-4028-86A5-E3A31A8F42DB}"/>
              </a:ext>
            </a:extLst>
          </p:cNvPr>
          <p:cNvSpPr>
            <a:spLocks noGrp="1"/>
          </p:cNvSpPr>
          <p:nvPr/>
        </p:nvSpPr>
        <p:spPr>
          <a:xfrm>
            <a:off x="2400300" y="2695575"/>
            <a:ext cx="1733550" cy="87630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Clean entries, IDs,</a:t>
            </a:r>
          </a:p>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URLs and hashes</a:t>
            </a:r>
          </a:p>
        </p:txBody>
      </p:sp>
      <p:sp>
        <p:nvSpPr>
          <p:cNvPr id="15" name="Rectangle 14">
            <a:extLst>
              <a:ext uri="{FF2B5EF4-FFF2-40B4-BE49-F238E27FC236}">
                <a16:creationId xmlns:a16="http://schemas.microsoft.com/office/drawing/2014/main" id="{0BA5C15F-31ED-4417-8EEE-C11FC2EBFEAD}"/>
              </a:ext>
            </a:extLst>
          </p:cNvPr>
          <p:cNvSpPr>
            <a:spLocks noGrp="1"/>
          </p:cNvSpPr>
          <p:nvPr/>
        </p:nvSpPr>
        <p:spPr>
          <a:xfrm>
            <a:off x="4286250" y="1581150"/>
            <a:ext cx="1733550" cy="57150"/>
          </a:xfrm>
          <a:prstGeom prst="rect">
            <a:avLst/>
          </a:prstGeom>
          <a:solidFill>
            <a:srgbClr val="BC171D"/>
          </a:solidFill>
          <a:ln w="0">
            <a:noFill/>
            <a:prstDash val="solid"/>
          </a:ln>
        </p:spPr>
      </p:sp>
      <p:sp>
        <p:nvSpPr>
          <p:cNvPr id="16" name="Rectangle 15">
            <a:extLst>
              <a:ext uri="{FF2B5EF4-FFF2-40B4-BE49-F238E27FC236}">
                <a16:creationId xmlns:a16="http://schemas.microsoft.com/office/drawing/2014/main" id="{6BE79454-3082-4F41-80F9-7F4120BB6CD1}"/>
              </a:ext>
            </a:extLst>
          </p:cNvPr>
          <p:cNvSpPr>
            <a:spLocks noGrp="1"/>
          </p:cNvSpPr>
          <p:nvPr/>
        </p:nvSpPr>
        <p:spPr>
          <a:xfrm>
            <a:off x="4286250" y="1752600"/>
            <a:ext cx="1733550" cy="381000"/>
          </a:xfrm>
          <a:prstGeom prst="rect">
            <a:avLst/>
          </a:prstGeom>
          <a:noFill/>
          <a:ln w="0">
            <a:noFill/>
            <a:prstDash val="solid"/>
          </a:ln>
        </p:spPr>
        <p:txBody>
          <a:bodyPr wrap="square" lIns="0" tIns="0" rIns="0" bIns="0" anchor="t">
            <a:normAutofit/>
          </a:bodyPr>
          <a:lstStyle>
            <a:defPPr algn="l">
              <a:defRPr sz="2175" b="1">
                <a:solidFill>
                  <a:srgbClr val="BC171D"/>
                </a:solidFill>
                <a:latin typeface="Bahnschrift"/>
                <a:ea typeface="Bahnschrift"/>
                <a:cs typeface="Bahnschrift"/>
              </a:defRPr>
            </a:defPPr>
          </a:lstStyle>
          <a:p>
            <a:pPr algn="l">
              <a:defRPr sz="2175" b="1">
                <a:solidFill>
                  <a:srgbClr val="BC171D"/>
                </a:solidFill>
                <a:latin typeface="Bahnschrift"/>
                <a:ea typeface="Bahnschrift"/>
                <a:cs typeface="Bahnschrift"/>
              </a:defRPr>
            </a:pPr>
            <a:r>
              <a:rPr sz="2175" b="1">
                <a:solidFill>
                  <a:srgbClr val="BC171D"/>
                </a:solidFill>
                <a:latin typeface="Bahnschrift"/>
                <a:ea typeface="Bahnschrift"/>
                <a:cs typeface="Bahnschrift"/>
              </a:rPr>
              <a:t>03</a:t>
            </a:r>
          </a:p>
        </p:txBody>
      </p:sp>
      <p:sp>
        <p:nvSpPr>
          <p:cNvPr id="17" name="Rectangle 16">
            <a:extLst>
              <a:ext uri="{FF2B5EF4-FFF2-40B4-BE49-F238E27FC236}">
                <a16:creationId xmlns:a16="http://schemas.microsoft.com/office/drawing/2014/main" id="{3743B525-94E2-4714-ACFE-44D678E91EA7}"/>
              </a:ext>
            </a:extLst>
          </p:cNvPr>
          <p:cNvSpPr>
            <a:spLocks noGrp="1"/>
          </p:cNvSpPr>
          <p:nvPr/>
        </p:nvSpPr>
        <p:spPr>
          <a:xfrm>
            <a:off x="4286250" y="2200275"/>
            <a:ext cx="1733550" cy="4286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Human review</a:t>
            </a:r>
          </a:p>
        </p:txBody>
      </p:sp>
      <p:sp>
        <p:nvSpPr>
          <p:cNvPr id="18" name="Rectangle 17">
            <a:extLst>
              <a:ext uri="{FF2B5EF4-FFF2-40B4-BE49-F238E27FC236}">
                <a16:creationId xmlns:a16="http://schemas.microsoft.com/office/drawing/2014/main" id="{43C2533E-22EC-4DBB-8E5B-1AE19873A2A3}"/>
              </a:ext>
            </a:extLst>
          </p:cNvPr>
          <p:cNvSpPr>
            <a:spLocks noGrp="1"/>
          </p:cNvSpPr>
          <p:nvPr/>
        </p:nvSpPr>
        <p:spPr>
          <a:xfrm>
            <a:off x="4286250" y="2695575"/>
            <a:ext cx="1733550" cy="87630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50 decisions,</a:t>
            </a:r>
          </a:p>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UNCLEAR separate</a:t>
            </a:r>
          </a:p>
        </p:txBody>
      </p:sp>
      <p:sp>
        <p:nvSpPr>
          <p:cNvPr id="19" name="Rectangle 18">
            <a:extLst>
              <a:ext uri="{FF2B5EF4-FFF2-40B4-BE49-F238E27FC236}">
                <a16:creationId xmlns:a16="http://schemas.microsoft.com/office/drawing/2014/main" id="{D33817E7-B6FC-4C0D-8864-048D61BA83E8}"/>
              </a:ext>
            </a:extLst>
          </p:cNvPr>
          <p:cNvSpPr>
            <a:spLocks noGrp="1"/>
          </p:cNvSpPr>
          <p:nvPr/>
        </p:nvSpPr>
        <p:spPr>
          <a:xfrm>
            <a:off x="6172200" y="1581150"/>
            <a:ext cx="1733550" cy="57150"/>
          </a:xfrm>
          <a:prstGeom prst="rect">
            <a:avLst/>
          </a:prstGeom>
          <a:solidFill>
            <a:srgbClr val="BC171D"/>
          </a:solidFill>
          <a:ln w="0">
            <a:noFill/>
            <a:prstDash val="solid"/>
          </a:ln>
        </p:spPr>
      </p:sp>
      <p:sp>
        <p:nvSpPr>
          <p:cNvPr id="20" name="Rectangle 19">
            <a:extLst>
              <a:ext uri="{FF2B5EF4-FFF2-40B4-BE49-F238E27FC236}">
                <a16:creationId xmlns:a16="http://schemas.microsoft.com/office/drawing/2014/main" id="{C01BAACF-D337-4F37-8052-F5636C81B533}"/>
              </a:ext>
            </a:extLst>
          </p:cNvPr>
          <p:cNvSpPr>
            <a:spLocks noGrp="1"/>
          </p:cNvSpPr>
          <p:nvPr/>
        </p:nvSpPr>
        <p:spPr>
          <a:xfrm>
            <a:off x="6172200" y="1752600"/>
            <a:ext cx="1733550" cy="381000"/>
          </a:xfrm>
          <a:prstGeom prst="rect">
            <a:avLst/>
          </a:prstGeom>
          <a:noFill/>
          <a:ln w="0">
            <a:noFill/>
            <a:prstDash val="solid"/>
          </a:ln>
        </p:spPr>
        <p:txBody>
          <a:bodyPr wrap="square" lIns="0" tIns="0" rIns="0" bIns="0" anchor="t">
            <a:normAutofit/>
          </a:bodyPr>
          <a:lstStyle>
            <a:defPPr algn="l">
              <a:defRPr sz="2175" b="1">
                <a:solidFill>
                  <a:srgbClr val="BC171D"/>
                </a:solidFill>
                <a:latin typeface="Bahnschrift"/>
                <a:ea typeface="Bahnschrift"/>
                <a:cs typeface="Bahnschrift"/>
              </a:defRPr>
            </a:defPPr>
          </a:lstStyle>
          <a:p>
            <a:pPr algn="l">
              <a:defRPr sz="2175" b="1">
                <a:solidFill>
                  <a:srgbClr val="BC171D"/>
                </a:solidFill>
                <a:latin typeface="Bahnschrift"/>
                <a:ea typeface="Bahnschrift"/>
                <a:cs typeface="Bahnschrift"/>
              </a:defRPr>
            </a:pPr>
            <a:r>
              <a:rPr sz="2175" b="1">
                <a:solidFill>
                  <a:srgbClr val="BC171D"/>
                </a:solidFill>
                <a:latin typeface="Bahnschrift"/>
                <a:ea typeface="Bahnschrift"/>
                <a:cs typeface="Bahnschrift"/>
              </a:rPr>
              <a:t>04</a:t>
            </a:r>
          </a:p>
        </p:txBody>
      </p:sp>
      <p:sp>
        <p:nvSpPr>
          <p:cNvPr id="21" name="Rectangle 20">
            <a:extLst>
              <a:ext uri="{FF2B5EF4-FFF2-40B4-BE49-F238E27FC236}">
                <a16:creationId xmlns:a16="http://schemas.microsoft.com/office/drawing/2014/main" id="{FEE26CBC-4AA1-445F-BF5A-595AD289439B}"/>
              </a:ext>
            </a:extLst>
          </p:cNvPr>
          <p:cNvSpPr>
            <a:spLocks noGrp="1"/>
          </p:cNvSpPr>
          <p:nvPr/>
        </p:nvSpPr>
        <p:spPr>
          <a:xfrm>
            <a:off x="6172200" y="2200275"/>
            <a:ext cx="1733550" cy="4286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Release split</a:t>
            </a:r>
          </a:p>
        </p:txBody>
      </p:sp>
      <p:sp>
        <p:nvSpPr>
          <p:cNvPr id="22" name="Rectangle 21">
            <a:extLst>
              <a:ext uri="{FF2B5EF4-FFF2-40B4-BE49-F238E27FC236}">
                <a16:creationId xmlns:a16="http://schemas.microsoft.com/office/drawing/2014/main" id="{160CEE65-2E97-49EC-B2C2-B432F42364A6}"/>
              </a:ext>
            </a:extLst>
          </p:cNvPr>
          <p:cNvSpPr>
            <a:spLocks noGrp="1"/>
          </p:cNvSpPr>
          <p:nvPr/>
        </p:nvSpPr>
        <p:spPr>
          <a:xfrm>
            <a:off x="6172200" y="2695575"/>
            <a:ext cx="1733550" cy="87630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Whole versions in</a:t>
            </a:r>
          </a:p>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train, dev or test</a:t>
            </a:r>
          </a:p>
        </p:txBody>
      </p:sp>
      <p:sp>
        <p:nvSpPr>
          <p:cNvPr id="23" name="Rectangle 22">
            <a:extLst>
              <a:ext uri="{FF2B5EF4-FFF2-40B4-BE49-F238E27FC236}">
                <a16:creationId xmlns:a16="http://schemas.microsoft.com/office/drawing/2014/main" id="{2EAC4344-E212-454F-8424-382714C5130B}"/>
              </a:ext>
            </a:extLst>
          </p:cNvPr>
          <p:cNvSpPr>
            <a:spLocks noGrp="1"/>
          </p:cNvSpPr>
          <p:nvPr/>
        </p:nvSpPr>
        <p:spPr>
          <a:xfrm>
            <a:off x="8058150" y="1581150"/>
            <a:ext cx="1733550" cy="57150"/>
          </a:xfrm>
          <a:prstGeom prst="rect">
            <a:avLst/>
          </a:prstGeom>
          <a:solidFill>
            <a:srgbClr val="BC171D"/>
          </a:solidFill>
          <a:ln w="0">
            <a:noFill/>
            <a:prstDash val="solid"/>
          </a:ln>
        </p:spPr>
      </p:sp>
      <p:sp>
        <p:nvSpPr>
          <p:cNvPr id="24" name="Rectangle 23">
            <a:extLst>
              <a:ext uri="{FF2B5EF4-FFF2-40B4-BE49-F238E27FC236}">
                <a16:creationId xmlns:a16="http://schemas.microsoft.com/office/drawing/2014/main" id="{877188CF-1A13-4BE8-BACC-E1CBBC13F652}"/>
              </a:ext>
            </a:extLst>
          </p:cNvPr>
          <p:cNvSpPr>
            <a:spLocks noGrp="1"/>
          </p:cNvSpPr>
          <p:nvPr/>
        </p:nvSpPr>
        <p:spPr>
          <a:xfrm>
            <a:off x="8058150" y="1752600"/>
            <a:ext cx="1733550" cy="381000"/>
          </a:xfrm>
          <a:prstGeom prst="rect">
            <a:avLst/>
          </a:prstGeom>
          <a:noFill/>
          <a:ln w="0">
            <a:noFill/>
            <a:prstDash val="solid"/>
          </a:ln>
        </p:spPr>
        <p:txBody>
          <a:bodyPr wrap="square" lIns="0" tIns="0" rIns="0" bIns="0" anchor="t">
            <a:normAutofit/>
          </a:bodyPr>
          <a:lstStyle>
            <a:defPPr algn="l">
              <a:defRPr sz="2175" b="1">
                <a:solidFill>
                  <a:srgbClr val="BC171D"/>
                </a:solidFill>
                <a:latin typeface="Bahnschrift"/>
                <a:ea typeface="Bahnschrift"/>
                <a:cs typeface="Bahnschrift"/>
              </a:defRPr>
            </a:defPPr>
          </a:lstStyle>
          <a:p>
            <a:pPr algn="l">
              <a:defRPr sz="2175" b="1">
                <a:solidFill>
                  <a:srgbClr val="BC171D"/>
                </a:solidFill>
                <a:latin typeface="Bahnschrift"/>
                <a:ea typeface="Bahnschrift"/>
                <a:cs typeface="Bahnschrift"/>
              </a:defRPr>
            </a:pPr>
            <a:r>
              <a:rPr sz="2175" b="1">
                <a:solidFill>
                  <a:srgbClr val="BC171D"/>
                </a:solidFill>
                <a:latin typeface="Bahnschrift"/>
                <a:ea typeface="Bahnschrift"/>
                <a:cs typeface="Bahnschrift"/>
              </a:rPr>
              <a:t>05</a:t>
            </a:r>
          </a:p>
        </p:txBody>
      </p:sp>
      <p:sp>
        <p:nvSpPr>
          <p:cNvPr id="25" name="Rectangle 24">
            <a:extLst>
              <a:ext uri="{FF2B5EF4-FFF2-40B4-BE49-F238E27FC236}">
                <a16:creationId xmlns:a16="http://schemas.microsoft.com/office/drawing/2014/main" id="{4EBDCAC3-30DE-4DE3-9913-CBE0A7AF0AEF}"/>
              </a:ext>
            </a:extLst>
          </p:cNvPr>
          <p:cNvSpPr>
            <a:spLocks noGrp="1"/>
          </p:cNvSpPr>
          <p:nvPr/>
        </p:nvSpPr>
        <p:spPr>
          <a:xfrm>
            <a:off x="8058150" y="2200275"/>
            <a:ext cx="1733550" cy="4286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Text model</a:t>
            </a:r>
          </a:p>
        </p:txBody>
      </p:sp>
      <p:sp>
        <p:nvSpPr>
          <p:cNvPr id="26" name="Rectangle 25">
            <a:extLst>
              <a:ext uri="{FF2B5EF4-FFF2-40B4-BE49-F238E27FC236}">
                <a16:creationId xmlns:a16="http://schemas.microsoft.com/office/drawing/2014/main" id="{27169287-AE2A-4E98-A630-6219ABA22224}"/>
              </a:ext>
            </a:extLst>
          </p:cNvPr>
          <p:cNvSpPr>
            <a:spLocks noGrp="1"/>
          </p:cNvSpPr>
          <p:nvPr/>
        </p:nvSpPr>
        <p:spPr>
          <a:xfrm>
            <a:off x="8058150" y="2695575"/>
            <a:ext cx="1733550" cy="87630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Word + character</a:t>
            </a:r>
          </a:p>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TF-IDF, logistic LR</a:t>
            </a:r>
          </a:p>
        </p:txBody>
      </p:sp>
      <p:sp>
        <p:nvSpPr>
          <p:cNvPr id="27" name="Rectangle 26">
            <a:extLst>
              <a:ext uri="{FF2B5EF4-FFF2-40B4-BE49-F238E27FC236}">
                <a16:creationId xmlns:a16="http://schemas.microsoft.com/office/drawing/2014/main" id="{1263C5FA-9C1B-4880-9EA6-0E381B0B7AF7}"/>
              </a:ext>
            </a:extLst>
          </p:cNvPr>
          <p:cNvSpPr>
            <a:spLocks noGrp="1"/>
          </p:cNvSpPr>
          <p:nvPr/>
        </p:nvSpPr>
        <p:spPr>
          <a:xfrm>
            <a:off x="9944100" y="1581150"/>
            <a:ext cx="1733550" cy="57150"/>
          </a:xfrm>
          <a:prstGeom prst="rect">
            <a:avLst/>
          </a:prstGeom>
          <a:solidFill>
            <a:srgbClr val="20252B"/>
          </a:solidFill>
          <a:ln w="0">
            <a:noFill/>
            <a:prstDash val="solid"/>
          </a:ln>
        </p:spPr>
      </p:sp>
      <p:sp>
        <p:nvSpPr>
          <p:cNvPr id="28" name="Rectangle 27">
            <a:extLst>
              <a:ext uri="{FF2B5EF4-FFF2-40B4-BE49-F238E27FC236}">
                <a16:creationId xmlns:a16="http://schemas.microsoft.com/office/drawing/2014/main" id="{BC5F6CE7-1D67-4F0E-A25E-997D5B5A6001}"/>
              </a:ext>
            </a:extLst>
          </p:cNvPr>
          <p:cNvSpPr>
            <a:spLocks noGrp="1"/>
          </p:cNvSpPr>
          <p:nvPr/>
        </p:nvSpPr>
        <p:spPr>
          <a:xfrm>
            <a:off x="9944100" y="1752600"/>
            <a:ext cx="1733550" cy="381000"/>
          </a:xfrm>
          <a:prstGeom prst="rect">
            <a:avLst/>
          </a:prstGeom>
          <a:noFill/>
          <a:ln w="0">
            <a:noFill/>
            <a:prstDash val="solid"/>
          </a:ln>
        </p:spPr>
        <p:txBody>
          <a:bodyPr wrap="square" lIns="0" tIns="0" rIns="0" bIns="0" anchor="t">
            <a:normAutofit/>
          </a:bodyPr>
          <a:lstStyle>
            <a:defPPr algn="l">
              <a:defRPr sz="2175" b="1">
                <a:solidFill>
                  <a:srgbClr val="BC171D"/>
                </a:solidFill>
                <a:latin typeface="Bahnschrift"/>
                <a:ea typeface="Bahnschrift"/>
                <a:cs typeface="Bahnschrift"/>
              </a:defRPr>
            </a:defPPr>
          </a:lstStyle>
          <a:p>
            <a:pPr algn="l">
              <a:defRPr sz="2175" b="1">
                <a:solidFill>
                  <a:srgbClr val="BC171D"/>
                </a:solidFill>
                <a:latin typeface="Bahnschrift"/>
                <a:ea typeface="Bahnschrift"/>
                <a:cs typeface="Bahnschrift"/>
              </a:defRPr>
            </a:pPr>
            <a:r>
              <a:rPr sz="2175" b="1">
                <a:solidFill>
                  <a:srgbClr val="BC171D"/>
                </a:solidFill>
                <a:latin typeface="Bahnschrift"/>
                <a:ea typeface="Bahnschrift"/>
                <a:cs typeface="Bahnschrift"/>
              </a:rPr>
              <a:t>06</a:t>
            </a:r>
          </a:p>
        </p:txBody>
      </p:sp>
      <p:sp>
        <p:nvSpPr>
          <p:cNvPr id="29" name="Rectangle 28">
            <a:extLst>
              <a:ext uri="{FF2B5EF4-FFF2-40B4-BE49-F238E27FC236}">
                <a16:creationId xmlns:a16="http://schemas.microsoft.com/office/drawing/2014/main" id="{A0B47383-3071-46E6-9C1F-40670751E886}"/>
              </a:ext>
            </a:extLst>
          </p:cNvPr>
          <p:cNvSpPr>
            <a:spLocks noGrp="1"/>
          </p:cNvSpPr>
          <p:nvPr/>
        </p:nvSpPr>
        <p:spPr>
          <a:xfrm>
            <a:off x="9944100" y="2200275"/>
            <a:ext cx="1733550" cy="4286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Review output</a:t>
            </a:r>
          </a:p>
        </p:txBody>
      </p:sp>
      <p:sp>
        <p:nvSpPr>
          <p:cNvPr id="30" name="Rectangle 29">
            <a:extLst>
              <a:ext uri="{FF2B5EF4-FFF2-40B4-BE49-F238E27FC236}">
                <a16:creationId xmlns:a16="http://schemas.microsoft.com/office/drawing/2014/main" id="{80FD4153-4259-489C-8C4A-0A6B8B121452}"/>
              </a:ext>
            </a:extLst>
          </p:cNvPr>
          <p:cNvSpPr>
            <a:spLocks noGrp="1"/>
          </p:cNvSpPr>
          <p:nvPr/>
        </p:nvSpPr>
        <p:spPr>
          <a:xfrm>
            <a:off x="9944100" y="2695575"/>
            <a:ext cx="1733550" cy="87630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Suggested area,</a:t>
            </a:r>
          </a:p>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scores and errors</a:t>
            </a:r>
          </a:p>
        </p:txBody>
      </p:sp>
      <p:sp>
        <p:nvSpPr>
          <p:cNvPr id="31" name="Rectangle 30">
            <a:extLst>
              <a:ext uri="{FF2B5EF4-FFF2-40B4-BE49-F238E27FC236}">
                <a16:creationId xmlns:a16="http://schemas.microsoft.com/office/drawing/2014/main" id="{FC5CF75D-2558-43F0-BD4B-363C310AFBE5}"/>
              </a:ext>
            </a:extLst>
          </p:cNvPr>
          <p:cNvSpPr>
            <a:spLocks noGrp="1"/>
          </p:cNvSpPr>
          <p:nvPr/>
        </p:nvSpPr>
        <p:spPr>
          <a:xfrm>
            <a:off x="514350" y="3810000"/>
            <a:ext cx="11163300" cy="19050"/>
          </a:xfrm>
          <a:prstGeom prst="rect">
            <a:avLst/>
          </a:prstGeom>
          <a:solidFill>
            <a:srgbClr val="E6E0D8"/>
          </a:solidFill>
          <a:ln w="0">
            <a:noFill/>
            <a:prstDash val="solid"/>
          </a:ln>
        </p:spPr>
      </p:sp>
      <p:sp>
        <p:nvSpPr>
          <p:cNvPr id="32" name="Rectangle 31">
            <a:extLst>
              <a:ext uri="{FF2B5EF4-FFF2-40B4-BE49-F238E27FC236}">
                <a16:creationId xmlns:a16="http://schemas.microsoft.com/office/drawing/2014/main" id="{BAEFBA1E-CCBE-4E07-953D-E0E98515A131}"/>
              </a:ext>
            </a:extLst>
          </p:cNvPr>
          <p:cNvSpPr>
            <a:spLocks noGrp="1"/>
          </p:cNvSpPr>
          <p:nvPr/>
        </p:nvSpPr>
        <p:spPr>
          <a:xfrm>
            <a:off x="514350" y="4048125"/>
            <a:ext cx="876300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CONTROLS THAT KEEP THE EXPERIMENT INTERPRETABLE</a:t>
            </a:r>
          </a:p>
        </p:txBody>
      </p:sp>
      <p:sp>
        <p:nvSpPr>
          <p:cNvPr id="33" name="Rectangle 32">
            <a:extLst>
              <a:ext uri="{FF2B5EF4-FFF2-40B4-BE49-F238E27FC236}">
                <a16:creationId xmlns:a16="http://schemas.microsoft.com/office/drawing/2014/main" id="{EAA37229-1C9D-46F3-9AEE-50C5A48C7982}"/>
              </a:ext>
            </a:extLst>
          </p:cNvPr>
          <p:cNvSpPr>
            <a:spLocks noGrp="1"/>
          </p:cNvSpPr>
          <p:nvPr/>
        </p:nvSpPr>
        <p:spPr>
          <a:xfrm>
            <a:off x="514350" y="4429125"/>
            <a:ext cx="2238375" cy="2952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Model input</a:t>
            </a:r>
          </a:p>
        </p:txBody>
      </p:sp>
      <p:sp>
        <p:nvSpPr>
          <p:cNvPr id="34" name="Rectangle 33">
            <a:extLst>
              <a:ext uri="{FF2B5EF4-FFF2-40B4-BE49-F238E27FC236}">
                <a16:creationId xmlns:a16="http://schemas.microsoft.com/office/drawing/2014/main" id="{46103094-2133-4638-BB23-0B1DFCA61E7E}"/>
              </a:ext>
            </a:extLst>
          </p:cNvPr>
          <p:cNvSpPr>
            <a:spLocks noGrp="1"/>
          </p:cNvSpPr>
          <p:nvPr/>
        </p:nvSpPr>
        <p:spPr>
          <a:xfrm>
            <a:off x="2438400" y="4429125"/>
            <a:ext cx="3505200" cy="57150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Cleaned note text only. No release or section heading.</a:t>
            </a:r>
          </a:p>
        </p:txBody>
      </p:sp>
      <p:sp>
        <p:nvSpPr>
          <p:cNvPr id="35" name="Rectangle 34">
            <a:extLst>
              <a:ext uri="{FF2B5EF4-FFF2-40B4-BE49-F238E27FC236}">
                <a16:creationId xmlns:a16="http://schemas.microsoft.com/office/drawing/2014/main" id="{29754508-2841-4CC1-8C12-E8BBD7CF33C0}"/>
              </a:ext>
            </a:extLst>
          </p:cNvPr>
          <p:cNvSpPr>
            <a:spLocks noGrp="1"/>
          </p:cNvSpPr>
          <p:nvPr/>
        </p:nvSpPr>
        <p:spPr>
          <a:xfrm>
            <a:off x="6153150" y="4429125"/>
            <a:ext cx="2238375" cy="2952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Training boundary</a:t>
            </a:r>
          </a:p>
        </p:txBody>
      </p:sp>
      <p:sp>
        <p:nvSpPr>
          <p:cNvPr id="36" name="Rectangle 35">
            <a:extLst>
              <a:ext uri="{FF2B5EF4-FFF2-40B4-BE49-F238E27FC236}">
                <a16:creationId xmlns:a16="http://schemas.microsoft.com/office/drawing/2014/main" id="{09AC64A6-BF22-4654-B27D-FD10E6789367}"/>
              </a:ext>
            </a:extLst>
          </p:cNvPr>
          <p:cNvSpPr>
            <a:spLocks noGrp="1"/>
          </p:cNvSpPr>
          <p:nvPr/>
        </p:nvSpPr>
        <p:spPr>
          <a:xfrm>
            <a:off x="8077200" y="4429125"/>
            <a:ext cx="3505200" cy="57150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Both TF-IDF vocabularies fit on train releases only.</a:t>
            </a:r>
          </a:p>
        </p:txBody>
      </p:sp>
      <p:sp>
        <p:nvSpPr>
          <p:cNvPr id="37" name="Rectangle 36">
            <a:extLst>
              <a:ext uri="{FF2B5EF4-FFF2-40B4-BE49-F238E27FC236}">
                <a16:creationId xmlns:a16="http://schemas.microsoft.com/office/drawing/2014/main" id="{1F074F68-4CE4-4357-8137-78EE64535781}"/>
              </a:ext>
            </a:extLst>
          </p:cNvPr>
          <p:cNvSpPr>
            <a:spLocks noGrp="1"/>
          </p:cNvSpPr>
          <p:nvPr/>
        </p:nvSpPr>
        <p:spPr>
          <a:xfrm>
            <a:off x="514350" y="5210175"/>
            <a:ext cx="2238375" cy="2952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Leakage audit</a:t>
            </a:r>
          </a:p>
        </p:txBody>
      </p:sp>
      <p:sp>
        <p:nvSpPr>
          <p:cNvPr id="38" name="Rectangle 37">
            <a:extLst>
              <a:ext uri="{FF2B5EF4-FFF2-40B4-BE49-F238E27FC236}">
                <a16:creationId xmlns:a16="http://schemas.microsoft.com/office/drawing/2014/main" id="{25E70D99-2582-4DB4-9B38-00AC6903566E}"/>
              </a:ext>
            </a:extLst>
          </p:cNvPr>
          <p:cNvSpPr>
            <a:spLocks noGrp="1"/>
          </p:cNvSpPr>
          <p:nvPr/>
        </p:nvSpPr>
        <p:spPr>
          <a:xfrm>
            <a:off x="2438400" y="5210175"/>
            <a:ext cx="3505200" cy="57150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Exact cross-split duplicates stop training; similar pairs are flagged.</a:t>
            </a:r>
          </a:p>
        </p:txBody>
      </p:sp>
      <p:sp>
        <p:nvSpPr>
          <p:cNvPr id="39" name="Rectangle 38">
            <a:extLst>
              <a:ext uri="{FF2B5EF4-FFF2-40B4-BE49-F238E27FC236}">
                <a16:creationId xmlns:a16="http://schemas.microsoft.com/office/drawing/2014/main" id="{E4A2E3FB-B930-4C62-93E9-5DB5D78266C0}"/>
              </a:ext>
            </a:extLst>
          </p:cNvPr>
          <p:cNvSpPr>
            <a:spLocks noGrp="1"/>
          </p:cNvSpPr>
          <p:nvPr/>
        </p:nvSpPr>
        <p:spPr>
          <a:xfrm>
            <a:off x="6153150" y="5210175"/>
            <a:ext cx="2238375" cy="2952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Evaluation</a:t>
            </a:r>
          </a:p>
        </p:txBody>
      </p:sp>
      <p:sp>
        <p:nvSpPr>
          <p:cNvPr id="40" name="Rectangle 39">
            <a:extLst>
              <a:ext uri="{FF2B5EF4-FFF2-40B4-BE49-F238E27FC236}">
                <a16:creationId xmlns:a16="http://schemas.microsoft.com/office/drawing/2014/main" id="{808D8E41-65BF-438E-A2FC-85FA08AF1997}"/>
              </a:ext>
            </a:extLst>
          </p:cNvPr>
          <p:cNvSpPr>
            <a:spLocks noGrp="1"/>
          </p:cNvSpPr>
          <p:nvPr/>
        </p:nvSpPr>
        <p:spPr>
          <a:xfrm>
            <a:off x="8077200" y="5210175"/>
            <a:ext cx="3505200" cy="57150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Majority and keyword baselines, macro-F1, per-class errors.</a:t>
            </a:r>
          </a:p>
        </p:txBody>
      </p:sp>
    </p:spTree>
    <p:extLst>
      <p:ext uri="{BB962C8B-B14F-4D97-AF65-F5344CB8AC3E}">
        <p14:creationId xmlns:p14="http://schemas.microsoft.com/office/powerpoint/2010/main" val="19959205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254B45C-73F0-4B56-B5B0-E88D5CFDF66E}"/>
              </a:ext>
            </a:extLst>
          </p:cNvPr>
          <p:cNvSpPr>
            <a:spLocks noGrp="1"/>
          </p:cNvSpPr>
          <p:nvPr/>
        </p:nvSpPr>
        <p:spPr>
          <a:xfrm>
            <a:off x="0" y="0"/>
            <a:ext cx="12192000" cy="95250"/>
          </a:xfrm>
          <a:prstGeom prst="rect">
            <a:avLst/>
          </a:prstGeom>
          <a:solidFill>
            <a:srgbClr val="BC171D"/>
          </a:solidFill>
          <a:ln w="0">
            <a:noFill/>
            <a:prstDash val="solid"/>
          </a:ln>
        </p:spPr>
        <p:txBody>
          <a:bodyPr/>
          <a:p/>
        </p:txBody>
      </p:sp>
      <p:sp>
        <p:nvSpPr>
          <p:cNvPr id="2" name="title-6">
            <a:extLst>
              <a:ext uri="{FF2B5EF4-FFF2-40B4-BE49-F238E27FC236}">
                <a16:creationId xmlns:a16="http://schemas.microsoft.com/office/drawing/2014/main" id="{920A09D2-8D99-4810-BE48-08C5A62F5A65}"/>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Technology stack and design choices</a:t>
            </a:r>
          </a:p>
        </p:txBody>
      </p:sp>
      <p:sp>
        <p:nvSpPr>
          <p:cNvPr id="3" name="Rectangle 2">
            <a:extLst>
              <a:ext uri="{FF2B5EF4-FFF2-40B4-BE49-F238E27FC236}">
                <a16:creationId xmlns:a16="http://schemas.microsoft.com/office/drawing/2014/main" id="{ABDDD76F-9507-4013-9AEA-A067C23FF653}"/>
              </a:ext>
            </a:extLst>
          </p:cNvPr>
          <p:cNvSpPr>
            <a:spLocks noGrp="1"/>
          </p:cNvSpPr>
          <p:nvPr/>
        </p:nvSpPr>
        <p:spPr>
          <a:xfrm>
            <a:off x="514350" y="990600"/>
            <a:ext cx="11163300" cy="28575"/>
          </a:xfrm>
          <a:prstGeom prst="rect">
            <a:avLst/>
          </a:prstGeom>
          <a:solidFill>
            <a:srgbClr val="BC171D"/>
          </a:solidFill>
          <a:ln w="0">
            <a:noFill/>
            <a:prstDash val="solid"/>
          </a:ln>
        </p:spPr>
        <p:txBody>
          <a:bodyPr/>
          <a:p/>
        </p:txBody>
      </p:sp>
      <p:sp>
        <p:nvSpPr>
          <p:cNvPr id="4" name="Rectangle 3">
            <a:extLst>
              <a:ext uri="{FF2B5EF4-FFF2-40B4-BE49-F238E27FC236}">
                <a16:creationId xmlns:a16="http://schemas.microsoft.com/office/drawing/2014/main" id="{14BF4108-92D6-43B9-AC14-68642775F4F7}"/>
              </a:ext>
            </a:extLst>
          </p:cNvPr>
          <p:cNvSpPr>
            <a:spLocks noGrp="1"/>
          </p:cNvSpPr>
          <p:nvPr/>
        </p:nvSpPr>
        <p:spPr>
          <a:xfrm>
            <a:off x="514350" y="6324600"/>
            <a:ext cx="11163300" cy="9525"/>
          </a:xfrm>
          <a:prstGeom prst="rect">
            <a:avLst/>
          </a:prstGeom>
          <a:solidFill>
            <a:srgbClr val="E6E0D8"/>
          </a:solidFill>
          <a:ln w="0">
            <a:noFill/>
            <a:prstDash val="solid"/>
          </a:ln>
        </p:spPr>
        <p:txBody>
          <a:bodyPr/>
          <a:p/>
        </p:txBody>
      </p:sp>
      <p:sp>
        <p:nvSpPr>
          <p:cNvPr id="5" name="Rectangle 4">
            <a:extLst>
              <a:ext uri="{FF2B5EF4-FFF2-40B4-BE49-F238E27FC236}">
                <a16:creationId xmlns:a16="http://schemas.microsoft.com/office/drawing/2014/main" id="{DBA8F404-9716-420B-9B5A-238C8B838BD5}"/>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6649C832-D8CB-4A48-8BC9-39DF39738BE4}"/>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sz="975" b="0">
                <a:solidFill>
                  <a:srgbClr val="5F6973"/>
                </a:solidFill>
                <a:latin typeface="Segoe UI"/>
                <a:ea typeface="Segoe UI"/>
                <a:cs typeface="Segoe UI"/>
              </a:rPr>
              <a:t>Kavya   •   06 / 13</a:t>
            </a:r>
          </a:p>
        </p:txBody>
      </p:sp>
      <p:sp>
        <p:nvSpPr>
          <p:cNvPr id="7" name="Rectangle 6">
            <a:extLst>
              <a:ext uri="{FF2B5EF4-FFF2-40B4-BE49-F238E27FC236}">
                <a16:creationId xmlns:a16="http://schemas.microsoft.com/office/drawing/2014/main" id="{81FC61D7-84CE-4AEA-B2C5-2032A94F638F}"/>
              </a:ext>
            </a:extLst>
          </p:cNvPr>
          <p:cNvSpPr>
            <a:spLocks noGrp="1"/>
          </p:cNvSpPr>
          <p:nvPr/>
        </p:nvSpPr>
        <p:spPr>
          <a:xfrm>
            <a:off x="514350" y="1428750"/>
            <a:ext cx="11163300" cy="438150"/>
          </a:xfrm>
          <a:prstGeom prst="rect">
            <a:avLst/>
          </a:prstGeom>
          <a:solidFill>
            <a:srgbClr val="BC171D"/>
          </a:solidFill>
          <a:ln w="0">
            <a:noFill/>
            <a:prstDash val="solid"/>
          </a:ln>
        </p:spPr>
        <p:txBody>
          <a:bodyPr/>
          <a:p/>
        </p:txBody>
      </p:sp>
      <p:sp>
        <p:nvSpPr>
          <p:cNvPr id="8" name="Rectangle 7">
            <a:extLst>
              <a:ext uri="{FF2B5EF4-FFF2-40B4-BE49-F238E27FC236}">
                <a16:creationId xmlns:a16="http://schemas.microsoft.com/office/drawing/2014/main" id="{734EFD0D-4036-40DD-80A3-88A3E7FAF34C}"/>
              </a:ext>
            </a:extLst>
          </p:cNvPr>
          <p:cNvSpPr>
            <a:spLocks noGrp="1"/>
          </p:cNvSpPr>
          <p:nvPr/>
        </p:nvSpPr>
        <p:spPr>
          <a:xfrm>
            <a:off x="676275" y="1533525"/>
            <a:ext cx="2333625" cy="276225"/>
          </a:xfrm>
          <a:prstGeom prst="rect">
            <a:avLst/>
          </a:prstGeom>
          <a:noFill/>
          <a:ln w="0">
            <a:noFill/>
            <a:prstDash val="solid"/>
          </a:ln>
        </p:spPr>
        <p:txBody>
          <a:bodyPr wrap="square" lIns="0" tIns="0" rIns="0" bIns="0" anchor="t">
            <a:normAutofit/>
          </a:bodyPr>
          <a:lstStyle>
            <a:defPPr algn="l">
              <a:defRPr sz="1275" b="1">
                <a:solidFill>
                  <a:srgbClr val="FFFFFF"/>
                </a:solidFill>
                <a:latin typeface="Segoe UI"/>
                <a:ea typeface="Segoe UI"/>
                <a:cs typeface="Segoe UI"/>
              </a:defRPr>
            </a:defPPr>
          </a:lstStyle>
          <a:p>
            <a:pPr algn="l">
              <a:defRPr sz="1275" b="1">
                <a:solidFill>
                  <a:srgbClr val="FFFFFF"/>
                </a:solidFill>
                <a:latin typeface="Segoe UI"/>
                <a:ea typeface="Segoe UI"/>
                <a:cs typeface="Segoe UI"/>
              </a:defRPr>
            </a:pPr>
            <a:r>
              <a:rPr sz="1275" b="1">
                <a:solidFill>
                  <a:srgbClr val="FFFFFF"/>
                </a:solidFill>
                <a:latin typeface="Segoe UI"/>
                <a:ea typeface="Segoe UI"/>
                <a:cs typeface="Segoe UI"/>
              </a:rPr>
              <a:t>LAYER</a:t>
            </a:r>
          </a:p>
        </p:txBody>
      </p:sp>
      <p:sp>
        <p:nvSpPr>
          <p:cNvPr id="9" name="Rectangle 8">
            <a:extLst>
              <a:ext uri="{FF2B5EF4-FFF2-40B4-BE49-F238E27FC236}">
                <a16:creationId xmlns:a16="http://schemas.microsoft.com/office/drawing/2014/main" id="{099112CD-8158-4E94-AED2-1EC5EC0FD8AB}"/>
              </a:ext>
            </a:extLst>
          </p:cNvPr>
          <p:cNvSpPr>
            <a:spLocks noGrp="1"/>
          </p:cNvSpPr>
          <p:nvPr/>
        </p:nvSpPr>
        <p:spPr>
          <a:xfrm>
            <a:off x="3314700" y="1533525"/>
            <a:ext cx="2952750" cy="276225"/>
          </a:xfrm>
          <a:prstGeom prst="rect">
            <a:avLst/>
          </a:prstGeom>
          <a:noFill/>
          <a:ln w="0">
            <a:noFill/>
            <a:prstDash val="solid"/>
          </a:ln>
        </p:spPr>
        <p:txBody>
          <a:bodyPr wrap="square" lIns="0" tIns="0" rIns="0" bIns="0" anchor="t">
            <a:normAutofit/>
          </a:bodyPr>
          <a:lstStyle>
            <a:defPPr algn="l">
              <a:defRPr sz="1275" b="1">
                <a:solidFill>
                  <a:srgbClr val="FFFFFF"/>
                </a:solidFill>
                <a:latin typeface="Segoe UI"/>
                <a:ea typeface="Segoe UI"/>
                <a:cs typeface="Segoe UI"/>
              </a:defRPr>
            </a:defPPr>
          </a:lstStyle>
          <a:p>
            <a:pPr algn="l">
              <a:defRPr sz="1275" b="1">
                <a:solidFill>
                  <a:srgbClr val="FFFFFF"/>
                </a:solidFill>
                <a:latin typeface="Segoe UI"/>
                <a:ea typeface="Segoe UI"/>
                <a:cs typeface="Segoe UI"/>
              </a:defRPr>
            </a:pPr>
            <a:r>
              <a:rPr sz="1275" b="1">
                <a:solidFill>
                  <a:srgbClr val="FFFFFF"/>
                </a:solidFill>
                <a:latin typeface="Segoe UI"/>
                <a:ea typeface="Segoe UI"/>
                <a:cs typeface="Segoe UI"/>
              </a:rPr>
              <a:t>CHOICE</a:t>
            </a:r>
          </a:p>
        </p:txBody>
      </p:sp>
      <p:sp>
        <p:nvSpPr>
          <p:cNvPr id="10" name="Rectangle 9">
            <a:extLst>
              <a:ext uri="{FF2B5EF4-FFF2-40B4-BE49-F238E27FC236}">
                <a16:creationId xmlns:a16="http://schemas.microsoft.com/office/drawing/2014/main" id="{6CEF91A8-F5BB-4CE3-9228-CB5F6F072E99}"/>
              </a:ext>
            </a:extLst>
          </p:cNvPr>
          <p:cNvSpPr>
            <a:spLocks noGrp="1"/>
          </p:cNvSpPr>
          <p:nvPr/>
        </p:nvSpPr>
        <p:spPr>
          <a:xfrm>
            <a:off x="6762750" y="1533525"/>
            <a:ext cx="4572000" cy="276225"/>
          </a:xfrm>
          <a:prstGeom prst="rect">
            <a:avLst/>
          </a:prstGeom>
          <a:noFill/>
          <a:ln w="0">
            <a:noFill/>
            <a:prstDash val="solid"/>
          </a:ln>
        </p:spPr>
        <p:txBody>
          <a:bodyPr wrap="square" lIns="0" tIns="0" rIns="0" bIns="0" anchor="t">
            <a:normAutofit/>
          </a:bodyPr>
          <a:lstStyle>
            <a:defPPr algn="l">
              <a:defRPr sz="1275" b="1">
                <a:solidFill>
                  <a:srgbClr val="FFFFFF"/>
                </a:solidFill>
                <a:latin typeface="Segoe UI"/>
                <a:ea typeface="Segoe UI"/>
                <a:cs typeface="Segoe UI"/>
              </a:defRPr>
            </a:defPPr>
          </a:lstStyle>
          <a:p>
            <a:pPr algn="l">
              <a:defRPr sz="1275" b="1">
                <a:solidFill>
                  <a:srgbClr val="FFFFFF"/>
                </a:solidFill>
                <a:latin typeface="Segoe UI"/>
                <a:ea typeface="Segoe UI"/>
                <a:cs typeface="Segoe UI"/>
              </a:defRPr>
            </a:pPr>
            <a:r>
              <a:rPr sz="1275" b="1">
                <a:solidFill>
                  <a:srgbClr val="FFFFFF"/>
                </a:solidFill>
                <a:latin typeface="Segoe UI"/>
                <a:ea typeface="Segoe UI"/>
                <a:cs typeface="Segoe UI"/>
              </a:rPr>
              <a:t>REASON IN THIS MVP</a:t>
            </a:r>
          </a:p>
        </p:txBody>
      </p:sp>
      <p:sp>
        <p:nvSpPr>
          <p:cNvPr id="11" name="Rectangle 10">
            <a:extLst>
              <a:ext uri="{FF2B5EF4-FFF2-40B4-BE49-F238E27FC236}">
                <a16:creationId xmlns:a16="http://schemas.microsoft.com/office/drawing/2014/main" id="{5CC3E49B-893E-40C2-8A36-BEB60899F10E}"/>
              </a:ext>
            </a:extLst>
          </p:cNvPr>
          <p:cNvSpPr>
            <a:spLocks noGrp="1"/>
          </p:cNvSpPr>
          <p:nvPr/>
        </p:nvSpPr>
        <p:spPr>
          <a:xfrm>
            <a:off x="514350" y="1866900"/>
            <a:ext cx="11163300" cy="685800"/>
          </a:xfrm>
          <a:prstGeom prst="rect">
            <a:avLst/>
          </a:prstGeom>
          <a:solidFill>
            <a:srgbClr val="FFFFFF"/>
          </a:solidFill>
          <a:ln w="0">
            <a:noFill/>
            <a:prstDash val="solid"/>
          </a:ln>
        </p:spPr>
        <p:txBody>
          <a:bodyPr/>
          <a:p/>
        </p:txBody>
      </p:sp>
      <p:sp>
        <p:nvSpPr>
          <p:cNvPr id="12" name="Rectangle 11">
            <a:extLst>
              <a:ext uri="{FF2B5EF4-FFF2-40B4-BE49-F238E27FC236}">
                <a16:creationId xmlns:a16="http://schemas.microsoft.com/office/drawing/2014/main" id="{90983B39-A0B4-4B1B-975F-16B97A560EC3}"/>
              </a:ext>
            </a:extLst>
          </p:cNvPr>
          <p:cNvSpPr>
            <a:spLocks noGrp="1"/>
          </p:cNvSpPr>
          <p:nvPr/>
        </p:nvSpPr>
        <p:spPr>
          <a:xfrm>
            <a:off x="666750" y="2028825"/>
            <a:ext cx="2286000" cy="4476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Source processing</a:t>
            </a:r>
          </a:p>
        </p:txBody>
      </p:sp>
      <p:sp>
        <p:nvSpPr>
          <p:cNvPr id="13" name="Rectangle 12">
            <a:extLst>
              <a:ext uri="{FF2B5EF4-FFF2-40B4-BE49-F238E27FC236}">
                <a16:creationId xmlns:a16="http://schemas.microsoft.com/office/drawing/2014/main" id="{AE9C3F1F-060D-4A6E-BB45-2E868D349E54}"/>
              </a:ext>
            </a:extLst>
          </p:cNvPr>
          <p:cNvSpPr>
            <a:spLocks noGrp="1"/>
          </p:cNvSpPr>
          <p:nvPr/>
        </p:nvSpPr>
        <p:spPr>
          <a:xfrm>
            <a:off x="3314700" y="2028825"/>
            <a:ext cx="2876550" cy="457200"/>
          </a:xfrm>
          <a:prstGeom prst="rect">
            <a:avLst/>
          </a:prstGeom>
          <a:noFill/>
          <a:ln w="0">
            <a:noFill/>
            <a:prstDash val="solid"/>
          </a:ln>
        </p:spPr>
        <p:txBody>
          <a:bodyPr wrap="square" lIns="0" tIns="0" rIns="0" bIns="0" anchor="t">
            <a:normAutofit/>
          </a:bodyPr>
          <a:lstStyle>
            <a:defPPr algn="l">
              <a:defRPr sz="1425" b="0">
                <a:solidFill>
                  <a:srgbClr val="20252B"/>
                </a:solidFill>
                <a:latin typeface="Segoe UI"/>
                <a:ea typeface="Segoe UI"/>
                <a:cs typeface="Segoe UI"/>
              </a:defRPr>
            </a:defPPr>
          </a:lstStyle>
          <a:p>
            <a:pPr algn="l">
              <a:defRPr sz="1425" b="0">
                <a:solidFill>
                  <a:srgbClr val="20252B"/>
                </a:solidFill>
                <a:latin typeface="Segoe UI"/>
                <a:ea typeface="Segoe UI"/>
                <a:cs typeface="Segoe UI"/>
              </a:defRPr>
            </a:pPr>
            <a:r>
              <a:rPr sz="1425" b="0">
                <a:solidFill>
                  <a:srgbClr val="20252B"/>
                </a:solidFill>
                <a:latin typeface="Segoe UI"/>
                <a:ea typeface="Segoe UI"/>
                <a:cs typeface="Segoe UI"/>
              </a:rPr>
              <a:t>Python standard library</a:t>
            </a:r>
          </a:p>
        </p:txBody>
      </p:sp>
      <p:sp>
        <p:nvSpPr>
          <p:cNvPr id="14" name="Rectangle 13">
            <a:extLst>
              <a:ext uri="{FF2B5EF4-FFF2-40B4-BE49-F238E27FC236}">
                <a16:creationId xmlns:a16="http://schemas.microsoft.com/office/drawing/2014/main" id="{CD805945-6980-48CC-8B2C-783C8ED8A497}"/>
              </a:ext>
            </a:extLst>
          </p:cNvPr>
          <p:cNvSpPr>
            <a:spLocks noGrp="1"/>
          </p:cNvSpPr>
          <p:nvPr/>
        </p:nvSpPr>
        <p:spPr>
          <a:xfrm>
            <a:off x="6762750" y="2028825"/>
            <a:ext cx="4600575" cy="47625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RST parsing, CSV, hashes and pinned source URLs</a:t>
            </a:r>
          </a:p>
        </p:txBody>
      </p:sp>
      <p:sp>
        <p:nvSpPr>
          <p:cNvPr id="15" name="Rectangle 14">
            <a:extLst>
              <a:ext uri="{FF2B5EF4-FFF2-40B4-BE49-F238E27FC236}">
                <a16:creationId xmlns:a16="http://schemas.microsoft.com/office/drawing/2014/main" id="{2288AADF-DDD2-4E5A-A6EA-D4DB0551E1B4}"/>
              </a:ext>
            </a:extLst>
          </p:cNvPr>
          <p:cNvSpPr>
            <a:spLocks noGrp="1"/>
          </p:cNvSpPr>
          <p:nvPr/>
        </p:nvSpPr>
        <p:spPr>
          <a:xfrm>
            <a:off x="514350" y="2543175"/>
            <a:ext cx="11163300" cy="9525"/>
          </a:xfrm>
          <a:prstGeom prst="rect">
            <a:avLst/>
          </a:prstGeom>
          <a:solidFill>
            <a:srgbClr val="E6E0D8"/>
          </a:solidFill>
          <a:ln w="0">
            <a:noFill/>
            <a:prstDash val="solid"/>
          </a:ln>
        </p:spPr>
        <p:txBody>
          <a:bodyPr/>
          <a:p/>
        </p:txBody>
      </p:sp>
      <p:sp>
        <p:nvSpPr>
          <p:cNvPr id="16" name="Rectangle 15">
            <a:extLst>
              <a:ext uri="{FF2B5EF4-FFF2-40B4-BE49-F238E27FC236}">
                <a16:creationId xmlns:a16="http://schemas.microsoft.com/office/drawing/2014/main" id="{28A856B7-F6E1-40AD-B5DF-54833FA2013E}"/>
              </a:ext>
            </a:extLst>
          </p:cNvPr>
          <p:cNvSpPr>
            <a:spLocks noGrp="1"/>
          </p:cNvSpPr>
          <p:nvPr/>
        </p:nvSpPr>
        <p:spPr>
          <a:xfrm>
            <a:off x="666750" y="2714625"/>
            <a:ext cx="2286000" cy="4476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Model and metrics</a:t>
            </a:r>
          </a:p>
        </p:txBody>
      </p:sp>
      <p:sp>
        <p:nvSpPr>
          <p:cNvPr id="17" name="Rectangle 16">
            <a:extLst>
              <a:ext uri="{FF2B5EF4-FFF2-40B4-BE49-F238E27FC236}">
                <a16:creationId xmlns:a16="http://schemas.microsoft.com/office/drawing/2014/main" id="{9615A79E-E9C9-4116-843B-E3D91EDAC8B2}"/>
              </a:ext>
            </a:extLst>
          </p:cNvPr>
          <p:cNvSpPr>
            <a:spLocks noGrp="1"/>
          </p:cNvSpPr>
          <p:nvPr/>
        </p:nvSpPr>
        <p:spPr>
          <a:xfrm>
            <a:off x="3314700" y="2714625"/>
            <a:ext cx="2876550" cy="457200"/>
          </a:xfrm>
          <a:prstGeom prst="rect">
            <a:avLst/>
          </a:prstGeom>
          <a:noFill/>
          <a:ln w="0">
            <a:noFill/>
            <a:prstDash val="solid"/>
          </a:ln>
        </p:spPr>
        <p:txBody>
          <a:bodyPr wrap="square" lIns="0" tIns="0" rIns="0" bIns="0" anchor="t">
            <a:normAutofit/>
          </a:bodyPr>
          <a:lstStyle>
            <a:defPPr algn="l">
              <a:defRPr sz="1425" b="0">
                <a:solidFill>
                  <a:srgbClr val="20252B"/>
                </a:solidFill>
                <a:latin typeface="Segoe UI"/>
                <a:ea typeface="Segoe UI"/>
                <a:cs typeface="Segoe UI"/>
              </a:defRPr>
            </a:defPPr>
          </a:lstStyle>
          <a:p>
            <a:pPr algn="l">
              <a:defRPr sz="1425" b="0">
                <a:solidFill>
                  <a:srgbClr val="20252B"/>
                </a:solidFill>
                <a:latin typeface="Segoe UI"/>
                <a:ea typeface="Segoe UI"/>
                <a:cs typeface="Segoe UI"/>
              </a:defRPr>
            </a:pPr>
            <a:r>
              <a:rPr sz="1425" b="0">
                <a:solidFill>
                  <a:srgbClr val="20252B"/>
                </a:solidFill>
                <a:latin typeface="Segoe UI"/>
                <a:ea typeface="Segoe UI"/>
                <a:cs typeface="Segoe UI"/>
              </a:rPr>
              <a:t>scikit-learn + NumPy</a:t>
            </a:r>
          </a:p>
        </p:txBody>
      </p:sp>
      <p:sp>
        <p:nvSpPr>
          <p:cNvPr id="18" name="Rectangle 17">
            <a:extLst>
              <a:ext uri="{FF2B5EF4-FFF2-40B4-BE49-F238E27FC236}">
                <a16:creationId xmlns:a16="http://schemas.microsoft.com/office/drawing/2014/main" id="{8D3EE231-5785-4FD0-988E-E57A455FB594}"/>
              </a:ext>
            </a:extLst>
          </p:cNvPr>
          <p:cNvSpPr>
            <a:spLocks noGrp="1"/>
          </p:cNvSpPr>
          <p:nvPr/>
        </p:nvSpPr>
        <p:spPr>
          <a:xfrm>
            <a:off x="6762750" y="2714625"/>
            <a:ext cx="4600575" cy="47625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TF-IDF, logistic regression, baselines and F1</a:t>
            </a:r>
          </a:p>
        </p:txBody>
      </p:sp>
      <p:sp>
        <p:nvSpPr>
          <p:cNvPr id="19" name="Rectangle 18">
            <a:extLst>
              <a:ext uri="{FF2B5EF4-FFF2-40B4-BE49-F238E27FC236}">
                <a16:creationId xmlns:a16="http://schemas.microsoft.com/office/drawing/2014/main" id="{A6FE173A-4986-4386-BEAB-535314D2B686}"/>
              </a:ext>
            </a:extLst>
          </p:cNvPr>
          <p:cNvSpPr>
            <a:spLocks noGrp="1"/>
          </p:cNvSpPr>
          <p:nvPr/>
        </p:nvSpPr>
        <p:spPr>
          <a:xfrm>
            <a:off x="514350" y="3228975"/>
            <a:ext cx="11163300" cy="9525"/>
          </a:xfrm>
          <a:prstGeom prst="rect">
            <a:avLst/>
          </a:prstGeom>
          <a:solidFill>
            <a:srgbClr val="E6E0D8"/>
          </a:solidFill>
          <a:ln w="0">
            <a:noFill/>
            <a:prstDash val="solid"/>
          </a:ln>
        </p:spPr>
        <p:txBody>
          <a:bodyPr/>
          <a:p/>
        </p:txBody>
      </p:sp>
      <p:sp>
        <p:nvSpPr>
          <p:cNvPr id="20" name="Rectangle 19">
            <a:extLst>
              <a:ext uri="{FF2B5EF4-FFF2-40B4-BE49-F238E27FC236}">
                <a16:creationId xmlns:a16="http://schemas.microsoft.com/office/drawing/2014/main" id="{B113FD78-342A-428D-8C34-A89187E7FF3A}"/>
              </a:ext>
            </a:extLst>
          </p:cNvPr>
          <p:cNvSpPr>
            <a:spLocks noGrp="1"/>
          </p:cNvSpPr>
          <p:nvPr/>
        </p:nvSpPr>
        <p:spPr>
          <a:xfrm>
            <a:off x="514350" y="3238500"/>
            <a:ext cx="11163300" cy="685800"/>
          </a:xfrm>
          <a:prstGeom prst="rect">
            <a:avLst/>
          </a:prstGeom>
          <a:solidFill>
            <a:srgbClr val="FFFFFF"/>
          </a:solidFill>
          <a:ln w="0">
            <a:noFill/>
            <a:prstDash val="solid"/>
          </a:ln>
        </p:spPr>
        <p:txBody>
          <a:bodyPr/>
          <a:p/>
        </p:txBody>
      </p:sp>
      <p:sp>
        <p:nvSpPr>
          <p:cNvPr id="21" name="Rectangle 20">
            <a:extLst>
              <a:ext uri="{FF2B5EF4-FFF2-40B4-BE49-F238E27FC236}">
                <a16:creationId xmlns:a16="http://schemas.microsoft.com/office/drawing/2014/main" id="{B93C7802-A35E-4D80-B979-621D9D71D86E}"/>
              </a:ext>
            </a:extLst>
          </p:cNvPr>
          <p:cNvSpPr>
            <a:spLocks noGrp="1"/>
          </p:cNvSpPr>
          <p:nvPr/>
        </p:nvSpPr>
        <p:spPr>
          <a:xfrm>
            <a:off x="666750" y="3400425"/>
            <a:ext cx="2286000" cy="4476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Review interface</a:t>
            </a:r>
          </a:p>
        </p:txBody>
      </p:sp>
      <p:sp>
        <p:nvSpPr>
          <p:cNvPr id="22" name="Rectangle 21">
            <a:extLst>
              <a:ext uri="{FF2B5EF4-FFF2-40B4-BE49-F238E27FC236}">
                <a16:creationId xmlns:a16="http://schemas.microsoft.com/office/drawing/2014/main" id="{E35BEB3F-FB68-49EC-BEDD-BDE72E4F1CA5}"/>
              </a:ext>
            </a:extLst>
          </p:cNvPr>
          <p:cNvSpPr>
            <a:spLocks noGrp="1"/>
          </p:cNvSpPr>
          <p:nvPr/>
        </p:nvSpPr>
        <p:spPr>
          <a:xfrm>
            <a:off x="3314700" y="3400425"/>
            <a:ext cx="2876550" cy="457200"/>
          </a:xfrm>
          <a:prstGeom prst="rect">
            <a:avLst/>
          </a:prstGeom>
          <a:noFill/>
          <a:ln w="0">
            <a:noFill/>
            <a:prstDash val="solid"/>
          </a:ln>
        </p:spPr>
        <p:txBody>
          <a:bodyPr wrap="square" lIns="0" tIns="0" rIns="0" bIns="0" anchor="t">
            <a:normAutofit/>
          </a:bodyPr>
          <a:lstStyle>
            <a:defPPr algn="l">
              <a:defRPr sz="1425" b="0">
                <a:solidFill>
                  <a:srgbClr val="20252B"/>
                </a:solidFill>
                <a:latin typeface="Segoe UI"/>
                <a:ea typeface="Segoe UI"/>
                <a:cs typeface="Segoe UI"/>
              </a:defRPr>
            </a:defPPr>
          </a:lstStyle>
          <a:p>
            <a:pPr algn="l">
              <a:defRPr sz="1425" b="0">
                <a:solidFill>
                  <a:srgbClr val="20252B"/>
                </a:solidFill>
                <a:latin typeface="Segoe UI"/>
                <a:ea typeface="Segoe UI"/>
                <a:cs typeface="Segoe UI"/>
              </a:defRPr>
            </a:pPr>
            <a:r>
              <a:rPr sz="1425" b="0">
                <a:solidFill>
                  <a:srgbClr val="20252B"/>
                </a:solidFill>
                <a:latin typeface="Segoe UI"/>
                <a:ea typeface="Segoe UI"/>
                <a:cs typeface="Segoe UI"/>
              </a:rPr>
              <a:t>Streamlit</a:t>
            </a:r>
          </a:p>
        </p:txBody>
      </p:sp>
      <p:sp>
        <p:nvSpPr>
          <p:cNvPr id="23" name="Rectangle 22">
            <a:extLst>
              <a:ext uri="{FF2B5EF4-FFF2-40B4-BE49-F238E27FC236}">
                <a16:creationId xmlns:a16="http://schemas.microsoft.com/office/drawing/2014/main" id="{FA8DEC78-27AD-4E6B-ADC1-6DFA476D9F11}"/>
              </a:ext>
            </a:extLst>
          </p:cNvPr>
          <p:cNvSpPr>
            <a:spLocks noGrp="1"/>
          </p:cNvSpPr>
          <p:nvPr/>
        </p:nvSpPr>
        <p:spPr>
          <a:xfrm>
            <a:off x="6762750" y="3400425"/>
            <a:ext cx="4600575" cy="47625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Guided labels and a guarded prediction screen</a:t>
            </a:r>
          </a:p>
        </p:txBody>
      </p:sp>
      <p:sp>
        <p:nvSpPr>
          <p:cNvPr id="24" name="Rectangle 23">
            <a:extLst>
              <a:ext uri="{FF2B5EF4-FFF2-40B4-BE49-F238E27FC236}">
                <a16:creationId xmlns:a16="http://schemas.microsoft.com/office/drawing/2014/main" id="{C8A24F7B-7E6E-4CCD-AFB0-0199AD111899}"/>
              </a:ext>
            </a:extLst>
          </p:cNvPr>
          <p:cNvSpPr>
            <a:spLocks noGrp="1"/>
          </p:cNvSpPr>
          <p:nvPr/>
        </p:nvSpPr>
        <p:spPr>
          <a:xfrm>
            <a:off x="514350" y="3914775"/>
            <a:ext cx="11163300" cy="9525"/>
          </a:xfrm>
          <a:prstGeom prst="rect">
            <a:avLst/>
          </a:prstGeom>
          <a:solidFill>
            <a:srgbClr val="E6E0D8"/>
          </a:solidFill>
          <a:ln w="0">
            <a:noFill/>
            <a:prstDash val="solid"/>
          </a:ln>
        </p:spPr>
        <p:txBody>
          <a:bodyPr/>
          <a:p/>
        </p:txBody>
      </p:sp>
      <p:sp>
        <p:nvSpPr>
          <p:cNvPr id="25" name="Rectangle 24">
            <a:extLst>
              <a:ext uri="{FF2B5EF4-FFF2-40B4-BE49-F238E27FC236}">
                <a16:creationId xmlns:a16="http://schemas.microsoft.com/office/drawing/2014/main" id="{A3B9C008-F45F-4EE1-B8E1-FC0EEFE307A8}"/>
              </a:ext>
            </a:extLst>
          </p:cNvPr>
          <p:cNvSpPr>
            <a:spLocks noGrp="1"/>
          </p:cNvSpPr>
          <p:nvPr/>
        </p:nvSpPr>
        <p:spPr>
          <a:xfrm>
            <a:off x="666750" y="4086225"/>
            <a:ext cx="2286000" cy="4476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Model artifact</a:t>
            </a:r>
          </a:p>
        </p:txBody>
      </p:sp>
      <p:sp>
        <p:nvSpPr>
          <p:cNvPr id="26" name="Rectangle 25">
            <a:extLst>
              <a:ext uri="{FF2B5EF4-FFF2-40B4-BE49-F238E27FC236}">
                <a16:creationId xmlns:a16="http://schemas.microsoft.com/office/drawing/2014/main" id="{6FBC67F8-3AE5-4D95-8975-6212E228FAF0}"/>
              </a:ext>
            </a:extLst>
          </p:cNvPr>
          <p:cNvSpPr>
            <a:spLocks noGrp="1"/>
          </p:cNvSpPr>
          <p:nvPr/>
        </p:nvSpPr>
        <p:spPr>
          <a:xfrm>
            <a:off x="3314700" y="4086225"/>
            <a:ext cx="2876550" cy="457200"/>
          </a:xfrm>
          <a:prstGeom prst="rect">
            <a:avLst/>
          </a:prstGeom>
          <a:noFill/>
          <a:ln w="0">
            <a:noFill/>
            <a:prstDash val="solid"/>
          </a:ln>
        </p:spPr>
        <p:txBody>
          <a:bodyPr wrap="square" lIns="0" tIns="0" rIns="0" bIns="0" anchor="t">
            <a:normAutofit/>
          </a:bodyPr>
          <a:lstStyle>
            <a:defPPr algn="l">
              <a:defRPr sz="1425" b="0">
                <a:solidFill>
                  <a:srgbClr val="20252B"/>
                </a:solidFill>
                <a:latin typeface="Segoe UI"/>
                <a:ea typeface="Segoe UI"/>
                <a:cs typeface="Segoe UI"/>
              </a:defRPr>
            </a:defPPr>
          </a:lstStyle>
          <a:p>
            <a:pPr algn="l">
              <a:defRPr sz="1425" b="0">
                <a:solidFill>
                  <a:srgbClr val="20252B"/>
                </a:solidFill>
                <a:latin typeface="Segoe UI"/>
                <a:ea typeface="Segoe UI"/>
                <a:cs typeface="Segoe UI"/>
              </a:defRPr>
            </a:pPr>
            <a:r>
              <a:rPr sz="1425" b="0">
                <a:solidFill>
                  <a:srgbClr val="20252B"/>
                </a:solidFill>
                <a:latin typeface="Segoe UI"/>
                <a:ea typeface="Segoe UI"/>
                <a:cs typeface="Segoe UI"/>
              </a:rPr>
              <a:t>joblib</a:t>
            </a:r>
          </a:p>
        </p:txBody>
      </p:sp>
      <p:sp>
        <p:nvSpPr>
          <p:cNvPr id="27" name="Rectangle 26">
            <a:extLst>
              <a:ext uri="{FF2B5EF4-FFF2-40B4-BE49-F238E27FC236}">
                <a16:creationId xmlns:a16="http://schemas.microsoft.com/office/drawing/2014/main" id="{172AE7A8-3B48-451C-B4A9-E7D9DE05BC66}"/>
              </a:ext>
            </a:extLst>
          </p:cNvPr>
          <p:cNvSpPr>
            <a:spLocks noGrp="1"/>
          </p:cNvSpPr>
          <p:nvPr/>
        </p:nvSpPr>
        <p:spPr>
          <a:xfrm>
            <a:off x="6762750" y="4086225"/>
            <a:ext cx="4600575" cy="47625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Local trained pipeline loaded for the demo</a:t>
            </a:r>
          </a:p>
        </p:txBody>
      </p:sp>
      <p:sp>
        <p:nvSpPr>
          <p:cNvPr id="28" name="Rectangle 27">
            <a:extLst>
              <a:ext uri="{FF2B5EF4-FFF2-40B4-BE49-F238E27FC236}">
                <a16:creationId xmlns:a16="http://schemas.microsoft.com/office/drawing/2014/main" id="{07B7874D-48F8-44BF-BFBE-44C9286893CD}"/>
              </a:ext>
            </a:extLst>
          </p:cNvPr>
          <p:cNvSpPr>
            <a:spLocks noGrp="1"/>
          </p:cNvSpPr>
          <p:nvPr/>
        </p:nvSpPr>
        <p:spPr>
          <a:xfrm>
            <a:off x="514350" y="4600575"/>
            <a:ext cx="11163300" cy="9525"/>
          </a:xfrm>
          <a:prstGeom prst="rect">
            <a:avLst/>
          </a:prstGeom>
          <a:solidFill>
            <a:srgbClr val="E6E0D8"/>
          </a:solidFill>
          <a:ln w="0">
            <a:noFill/>
            <a:prstDash val="solid"/>
          </a:ln>
        </p:spPr>
        <p:txBody>
          <a:bodyPr/>
          <a:p/>
        </p:txBody>
      </p:sp>
      <p:sp>
        <p:nvSpPr>
          <p:cNvPr id="29" name="Rectangle 28">
            <a:extLst>
              <a:ext uri="{FF2B5EF4-FFF2-40B4-BE49-F238E27FC236}">
                <a16:creationId xmlns:a16="http://schemas.microsoft.com/office/drawing/2014/main" id="{E0F3EDAC-84B6-47E3-A332-C14A1976BCE0}"/>
              </a:ext>
            </a:extLst>
          </p:cNvPr>
          <p:cNvSpPr>
            <a:spLocks noGrp="1"/>
          </p:cNvSpPr>
          <p:nvPr/>
        </p:nvSpPr>
        <p:spPr>
          <a:xfrm>
            <a:off x="514350" y="4610100"/>
            <a:ext cx="11163300" cy="685800"/>
          </a:xfrm>
          <a:prstGeom prst="rect">
            <a:avLst/>
          </a:prstGeom>
          <a:solidFill>
            <a:srgbClr val="FFFFFF"/>
          </a:solidFill>
          <a:ln w="0">
            <a:noFill/>
            <a:prstDash val="solid"/>
          </a:ln>
        </p:spPr>
        <p:txBody>
          <a:bodyPr/>
          <a:p/>
        </p:txBody>
      </p:sp>
      <p:sp>
        <p:nvSpPr>
          <p:cNvPr id="30" name="Rectangle 29">
            <a:extLst>
              <a:ext uri="{FF2B5EF4-FFF2-40B4-BE49-F238E27FC236}">
                <a16:creationId xmlns:a16="http://schemas.microsoft.com/office/drawing/2014/main" id="{E327ACE4-9C4C-401D-837A-E9EDA1C87D9D}"/>
              </a:ext>
            </a:extLst>
          </p:cNvPr>
          <p:cNvSpPr>
            <a:spLocks noGrp="1"/>
          </p:cNvSpPr>
          <p:nvPr/>
        </p:nvSpPr>
        <p:spPr>
          <a:xfrm>
            <a:off x="666750" y="4772025"/>
            <a:ext cx="2286000" cy="447675"/>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Quality gate</a:t>
            </a:r>
          </a:p>
        </p:txBody>
      </p:sp>
      <p:sp>
        <p:nvSpPr>
          <p:cNvPr id="31" name="Rectangle 30">
            <a:extLst>
              <a:ext uri="{FF2B5EF4-FFF2-40B4-BE49-F238E27FC236}">
                <a16:creationId xmlns:a16="http://schemas.microsoft.com/office/drawing/2014/main" id="{E1951B48-35D3-4EBD-B5A6-B07461DBB1AA}"/>
              </a:ext>
            </a:extLst>
          </p:cNvPr>
          <p:cNvSpPr>
            <a:spLocks noGrp="1"/>
          </p:cNvSpPr>
          <p:nvPr/>
        </p:nvSpPr>
        <p:spPr>
          <a:xfrm>
            <a:off x="3314700" y="4772025"/>
            <a:ext cx="2876550" cy="457200"/>
          </a:xfrm>
          <a:prstGeom prst="rect">
            <a:avLst/>
          </a:prstGeom>
          <a:noFill/>
          <a:ln w="0">
            <a:noFill/>
            <a:prstDash val="solid"/>
          </a:ln>
        </p:spPr>
        <p:txBody>
          <a:bodyPr wrap="square" lIns="0" tIns="0" rIns="0" bIns="0" anchor="t">
            <a:normAutofit/>
          </a:bodyPr>
          <a:lstStyle>
            <a:defPPr algn="l">
              <a:defRPr sz="1425" b="0">
                <a:solidFill>
                  <a:srgbClr val="20252B"/>
                </a:solidFill>
                <a:latin typeface="Segoe UI"/>
                <a:ea typeface="Segoe UI"/>
                <a:cs typeface="Segoe UI"/>
              </a:defRPr>
            </a:defPPr>
          </a:lstStyle>
          <a:p>
            <a:pPr algn="l">
              <a:defRPr sz="1425" b="0">
                <a:solidFill>
                  <a:srgbClr val="20252B"/>
                </a:solidFill>
                <a:latin typeface="Segoe UI"/>
                <a:ea typeface="Segoe UI"/>
                <a:cs typeface="Segoe UI"/>
              </a:defRPr>
            </a:pPr>
            <a:r>
              <a:rPr sz="1425" b="0">
                <a:solidFill>
                  <a:srgbClr val="20252B"/>
                </a:solidFill>
                <a:latin typeface="Segoe UI"/>
                <a:ea typeface="Segoe UI"/>
                <a:cs typeface="Segoe UI"/>
              </a:rPr>
              <a:t>pytest + Git</a:t>
            </a:r>
          </a:p>
        </p:txBody>
      </p:sp>
      <p:sp>
        <p:nvSpPr>
          <p:cNvPr id="32" name="Rectangle 31">
            <a:extLst>
              <a:ext uri="{FF2B5EF4-FFF2-40B4-BE49-F238E27FC236}">
                <a16:creationId xmlns:a16="http://schemas.microsoft.com/office/drawing/2014/main" id="{874CAA27-1040-4962-B311-247DF31FA5C4}"/>
              </a:ext>
            </a:extLst>
          </p:cNvPr>
          <p:cNvSpPr>
            <a:spLocks noGrp="1"/>
          </p:cNvSpPr>
          <p:nvPr/>
        </p:nvSpPr>
        <p:spPr>
          <a:xfrm>
            <a:off x="6762750" y="4772025"/>
            <a:ext cx="4600575" cy="476250"/>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23 passing tests, reproducible commits</a:t>
            </a:r>
          </a:p>
        </p:txBody>
      </p:sp>
      <p:sp>
        <p:nvSpPr>
          <p:cNvPr id="33" name="Rectangle 32">
            <a:extLst>
              <a:ext uri="{FF2B5EF4-FFF2-40B4-BE49-F238E27FC236}">
                <a16:creationId xmlns:a16="http://schemas.microsoft.com/office/drawing/2014/main" id="{6FE7C72C-032A-43B1-BDC8-133566739F40}"/>
              </a:ext>
            </a:extLst>
          </p:cNvPr>
          <p:cNvSpPr>
            <a:spLocks noGrp="1"/>
          </p:cNvSpPr>
          <p:nvPr/>
        </p:nvSpPr>
        <p:spPr>
          <a:xfrm>
            <a:off x="514350" y="5286375"/>
            <a:ext cx="11163300" cy="9525"/>
          </a:xfrm>
          <a:prstGeom prst="rect">
            <a:avLst/>
          </a:prstGeom>
          <a:solidFill>
            <a:srgbClr val="E6E0D8"/>
          </a:solidFill>
          <a:ln w="0">
            <a:noFill/>
            <a:prstDash val="solid"/>
          </a:ln>
        </p:spPr>
        <p:txBody>
          <a:bodyPr/>
          <a:p/>
        </p:txBody>
      </p:sp>
      <p:sp>
        <p:nvSpPr>
          <p:cNvPr id="34" name="Rectangle 33">
            <a:extLst>
              <a:ext uri="{FF2B5EF4-FFF2-40B4-BE49-F238E27FC236}">
                <a16:creationId xmlns:a16="http://schemas.microsoft.com/office/drawing/2014/main" id="{CF31A34C-E564-49F0-A504-985FBF2D043D}"/>
              </a:ext>
            </a:extLst>
          </p:cNvPr>
          <p:cNvSpPr>
            <a:spLocks noGrp="1"/>
          </p:cNvSpPr>
          <p:nvPr/>
        </p:nvSpPr>
        <p:spPr>
          <a:xfrm>
            <a:off x="514350" y="5514975"/>
            <a:ext cx="11163300" cy="561975"/>
          </a:xfrm>
          <a:prstGeom prst="rect">
            <a:avLst/>
          </a:prstGeom>
          <a:solidFill>
            <a:srgbClr val="EEE9E3"/>
          </a:solidFill>
          <a:ln w="0">
            <a:noFill/>
            <a:prstDash val="solid"/>
          </a:ln>
        </p:spPr>
        <p:txBody>
          <a:bodyPr/>
          <a:p/>
        </p:txBody>
      </p:sp>
      <p:sp>
        <p:nvSpPr>
          <p:cNvPr id="35" name="Rectangle 34">
            <a:extLst>
              <a:ext uri="{FF2B5EF4-FFF2-40B4-BE49-F238E27FC236}">
                <a16:creationId xmlns:a16="http://schemas.microsoft.com/office/drawing/2014/main" id="{E3076700-1922-4F14-A62E-0FA16768A29E}"/>
              </a:ext>
            </a:extLst>
          </p:cNvPr>
          <p:cNvSpPr>
            <a:spLocks noGrp="1"/>
          </p:cNvSpPr>
          <p:nvPr/>
        </p:nvSpPr>
        <p:spPr>
          <a:xfrm>
            <a:off x="685800" y="5648325"/>
            <a:ext cx="10715625" cy="314325"/>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Execution profile: local, CPU-only, no credentials required for the committed offline demo.</a:t>
            </a:r>
          </a:p>
        </p:txBody>
      </p:sp>
    </p:spTree>
    <p:extLst>
      <p:ext uri="{BB962C8B-B14F-4D97-AF65-F5344CB8AC3E}">
        <p14:creationId xmlns:p14="http://schemas.microsoft.com/office/powerpoint/2010/main" val="12805867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1125AF41-0DB5-4CAA-94CF-EB08E62A66BA}"/>
              </a:ext>
            </a:extLst>
          </p:cNvPr>
          <p:cNvSpPr>
            <a:spLocks noGrp="1"/>
          </p:cNvSpPr>
          <p:nvPr/>
        </p:nvSpPr>
        <p:spPr>
          <a:xfrm>
            <a:off x="0" y="0"/>
            <a:ext cx="12192000" cy="95250"/>
          </a:xfrm>
          <a:prstGeom prst="rect">
            <a:avLst/>
          </a:prstGeom>
          <a:solidFill>
            <a:srgbClr val="BC171D"/>
          </a:solidFill>
          <a:ln w="0">
            <a:noFill/>
            <a:prstDash val="solid"/>
          </a:ln>
        </p:spPr>
      </p:sp>
      <p:sp>
        <p:nvSpPr>
          <p:cNvPr id="2" name="title-7">
            <a:extLst>
              <a:ext uri="{FF2B5EF4-FFF2-40B4-BE49-F238E27FC236}">
                <a16:creationId xmlns:a16="http://schemas.microsoft.com/office/drawing/2014/main" id="{66841732-5AAC-4665-9E4B-3990297C187D}"/>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VS Code walkthrough: repository map</a:t>
            </a:r>
          </a:p>
        </p:txBody>
      </p:sp>
      <p:sp>
        <p:nvSpPr>
          <p:cNvPr id="3" name="Rectangle 2">
            <a:extLst>
              <a:ext uri="{FF2B5EF4-FFF2-40B4-BE49-F238E27FC236}">
                <a16:creationId xmlns:a16="http://schemas.microsoft.com/office/drawing/2014/main" id="{7CA7B273-4A85-4E5A-AB7D-25D80302B7DF}"/>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006458B7-604B-4A90-BC83-FD6E3CABFD09}"/>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FCE152D0-7060-4DAA-8E6B-D1388B1159E5}"/>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9CB4B581-75EA-48C9-87D9-AE5A0708AAD6}"/>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sz="975" b="0">
                <a:solidFill>
                  <a:srgbClr val="5F6973"/>
                </a:solidFill>
                <a:latin typeface="Segoe UI"/>
                <a:ea typeface="Segoe UI"/>
                <a:cs typeface="Segoe UI"/>
              </a:rPr>
              <a:t>Tilaksinh   •   07 / 13</a:t>
            </a:r>
          </a:p>
        </p:txBody>
      </p:sp>
      <p:sp>
        <p:nvSpPr>
          <p:cNvPr id="7" name="Rectangle 6">
            <a:extLst>
              <a:ext uri="{FF2B5EF4-FFF2-40B4-BE49-F238E27FC236}">
                <a16:creationId xmlns:a16="http://schemas.microsoft.com/office/drawing/2014/main" id="{93385D82-2566-4B6E-8102-CC0A16303206}"/>
              </a:ext>
            </a:extLst>
          </p:cNvPr>
          <p:cNvSpPr>
            <a:spLocks noGrp="1"/>
          </p:cNvSpPr>
          <p:nvPr/>
        </p:nvSpPr>
        <p:spPr>
          <a:xfrm>
            <a:off x="514350" y="1428750"/>
            <a:ext cx="5048250" cy="4171950"/>
          </a:xfrm>
          <a:prstGeom prst="rect">
            <a:avLst/>
          </a:prstGeom>
          <a:solidFill>
            <a:srgbClr val="EEE9E3"/>
          </a:solidFill>
          <a:ln w="0">
            <a:noFill/>
            <a:prstDash val="solid"/>
          </a:ln>
        </p:spPr>
      </p:sp>
      <p:sp>
        <p:nvSpPr>
          <p:cNvPr id="8" name="Rectangle 7">
            <a:extLst>
              <a:ext uri="{FF2B5EF4-FFF2-40B4-BE49-F238E27FC236}">
                <a16:creationId xmlns:a16="http://schemas.microsoft.com/office/drawing/2014/main" id="{4EAF6F01-5934-479D-BC2B-D8EEE6EA85B2}"/>
              </a:ext>
            </a:extLst>
          </p:cNvPr>
          <p:cNvSpPr>
            <a:spLocks noGrp="1"/>
          </p:cNvSpPr>
          <p:nvPr/>
        </p:nvSpPr>
        <p:spPr>
          <a:xfrm>
            <a:off x="514350" y="1428750"/>
            <a:ext cx="47625" cy="4171950"/>
          </a:xfrm>
          <a:prstGeom prst="rect">
            <a:avLst/>
          </a:prstGeom>
          <a:solidFill>
            <a:srgbClr val="BC171D"/>
          </a:solidFill>
          <a:ln w="0">
            <a:noFill/>
            <a:prstDash val="solid"/>
          </a:ln>
        </p:spPr>
      </p:sp>
      <p:sp>
        <p:nvSpPr>
          <p:cNvPr id="9" name="Rectangle 8">
            <a:extLst>
              <a:ext uri="{FF2B5EF4-FFF2-40B4-BE49-F238E27FC236}">
                <a16:creationId xmlns:a16="http://schemas.microsoft.com/office/drawing/2014/main" id="{8AEAE05E-D3A1-4146-A99A-E83C13B6C81E}"/>
              </a:ext>
            </a:extLst>
          </p:cNvPr>
          <p:cNvSpPr>
            <a:spLocks noGrp="1"/>
          </p:cNvSpPr>
          <p:nvPr/>
        </p:nvSpPr>
        <p:spPr>
          <a:xfrm>
            <a:off x="704850" y="1552575"/>
            <a:ext cx="4714875" cy="238125"/>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FILES TO OPEN</a:t>
            </a:r>
          </a:p>
        </p:txBody>
      </p:sp>
      <p:sp>
        <p:nvSpPr>
          <p:cNvPr id="10" name="Rectangle 9">
            <a:extLst>
              <a:ext uri="{FF2B5EF4-FFF2-40B4-BE49-F238E27FC236}">
                <a16:creationId xmlns:a16="http://schemas.microsoft.com/office/drawing/2014/main" id="{B78E71A5-8170-438B-8C70-184BEDCB2B33}"/>
              </a:ext>
            </a:extLst>
          </p:cNvPr>
          <p:cNvSpPr>
            <a:spLocks noGrp="1"/>
          </p:cNvSpPr>
          <p:nvPr/>
        </p:nvSpPr>
        <p:spPr>
          <a:xfrm>
            <a:off x="704850" y="1876425"/>
            <a:ext cx="4695825" cy="3600450"/>
          </a:xfrm>
          <a:prstGeom prst="rect">
            <a:avLst/>
          </a:prstGeom>
          <a:noFill/>
          <a:ln w="0">
            <a:noFill/>
            <a:prstDash val="solid"/>
          </a:ln>
        </p:spPr>
        <p:txBody>
          <a:bodyPr wrap="square" lIns="0" tIns="0" rIns="0" bIns="0" anchor="t">
            <a:normAutofit/>
          </a:bodyPr>
          <a:lstStyle>
            <a:defPPr algn="l">
              <a:defRPr sz="1275" b="0">
                <a:solidFill>
                  <a:srgbClr val="20252B"/>
                </a:solidFill>
                <a:latin typeface="Consolas"/>
                <a:ea typeface="Consolas"/>
                <a:cs typeface="Consolas"/>
              </a:defRPr>
            </a:defPPr>
          </a:lstStyle>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PatchProbe/</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app.py</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src/patchprobe/</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 ingest.py</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 annotation.py</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 model.py</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 inference.py</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scripts/</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 build_dataset.py</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 train_model.py</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 audit_near_duplicates.py</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data/processed/</a:t>
            </a:r>
          </a:p>
        </p:txBody>
      </p:sp>
      <p:sp>
        <p:nvSpPr>
          <p:cNvPr id="11" name="Rectangle 10">
            <a:extLst>
              <a:ext uri="{FF2B5EF4-FFF2-40B4-BE49-F238E27FC236}">
                <a16:creationId xmlns:a16="http://schemas.microsoft.com/office/drawing/2014/main" id="{9CE9E89F-B881-4E40-89CF-500EB6B9600E}"/>
              </a:ext>
            </a:extLst>
          </p:cNvPr>
          <p:cNvSpPr>
            <a:spLocks noGrp="1"/>
          </p:cNvSpPr>
          <p:nvPr/>
        </p:nvSpPr>
        <p:spPr>
          <a:xfrm>
            <a:off x="5972175" y="1476375"/>
            <a:ext cx="504825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FOLLOW ONE ENTRY THROUGH THE CODE</a:t>
            </a:r>
          </a:p>
        </p:txBody>
      </p:sp>
      <p:sp>
        <p:nvSpPr>
          <p:cNvPr id="12" name="Rectangle 11">
            <a:extLst>
              <a:ext uri="{FF2B5EF4-FFF2-40B4-BE49-F238E27FC236}">
                <a16:creationId xmlns:a16="http://schemas.microsoft.com/office/drawing/2014/main" id="{1B09D0AB-C52C-4A4F-A828-26F4234FCC44}"/>
              </a:ext>
            </a:extLst>
          </p:cNvPr>
          <p:cNvSpPr>
            <a:spLocks noGrp="1"/>
          </p:cNvSpPr>
          <p:nvPr/>
        </p:nvSpPr>
        <p:spPr>
          <a:xfrm>
            <a:off x="5972175" y="1895475"/>
            <a:ext cx="5572125"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1  build_dataset.py</a:t>
            </a:r>
          </a:p>
        </p:txBody>
      </p:sp>
      <p:sp>
        <p:nvSpPr>
          <p:cNvPr id="13" name="Rectangle 12">
            <a:extLst>
              <a:ext uri="{FF2B5EF4-FFF2-40B4-BE49-F238E27FC236}">
                <a16:creationId xmlns:a16="http://schemas.microsoft.com/office/drawing/2014/main" id="{D5FAE30F-2639-4BF5-AE93-48AF7FE32016}"/>
              </a:ext>
            </a:extLst>
          </p:cNvPr>
          <p:cNvSpPr>
            <a:spLocks noGrp="1"/>
          </p:cNvSpPr>
          <p:nvPr/>
        </p:nvSpPr>
        <p:spPr>
          <a:xfrm>
            <a:off x="5972175" y="2228850"/>
            <a:ext cx="5448300" cy="523875"/>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Fetch pinned RST and write source-linked entries.</a:t>
            </a:r>
          </a:p>
        </p:txBody>
      </p:sp>
      <p:sp>
        <p:nvSpPr>
          <p:cNvPr id="14" name="Rectangle 13">
            <a:extLst>
              <a:ext uri="{FF2B5EF4-FFF2-40B4-BE49-F238E27FC236}">
                <a16:creationId xmlns:a16="http://schemas.microsoft.com/office/drawing/2014/main" id="{5BC9E80C-0360-4A77-A734-EDC9D922B630}"/>
              </a:ext>
            </a:extLst>
          </p:cNvPr>
          <p:cNvSpPr>
            <a:spLocks noGrp="1"/>
          </p:cNvSpPr>
          <p:nvPr/>
        </p:nvSpPr>
        <p:spPr>
          <a:xfrm>
            <a:off x="5972175" y="2743200"/>
            <a:ext cx="5476875" cy="9525"/>
          </a:xfrm>
          <a:prstGeom prst="rect">
            <a:avLst/>
          </a:prstGeom>
          <a:solidFill>
            <a:srgbClr val="E6E0D8"/>
          </a:solidFill>
          <a:ln w="0">
            <a:noFill/>
            <a:prstDash val="solid"/>
          </a:ln>
        </p:spPr>
      </p:sp>
      <p:sp>
        <p:nvSpPr>
          <p:cNvPr id="15" name="Rectangle 14">
            <a:extLst>
              <a:ext uri="{FF2B5EF4-FFF2-40B4-BE49-F238E27FC236}">
                <a16:creationId xmlns:a16="http://schemas.microsoft.com/office/drawing/2014/main" id="{F174B960-0DDB-4B48-A258-4DAA8099460D}"/>
              </a:ext>
            </a:extLst>
          </p:cNvPr>
          <p:cNvSpPr>
            <a:spLocks noGrp="1"/>
          </p:cNvSpPr>
          <p:nvPr/>
        </p:nvSpPr>
        <p:spPr>
          <a:xfrm>
            <a:off x="5972175" y="2857500"/>
            <a:ext cx="5572125"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2  annotation.py + app.py</a:t>
            </a:r>
          </a:p>
        </p:txBody>
      </p:sp>
      <p:sp>
        <p:nvSpPr>
          <p:cNvPr id="16" name="Rectangle 15">
            <a:extLst>
              <a:ext uri="{FF2B5EF4-FFF2-40B4-BE49-F238E27FC236}">
                <a16:creationId xmlns:a16="http://schemas.microsoft.com/office/drawing/2014/main" id="{0A82D182-FB5F-4338-978D-18B5275E1CD6}"/>
              </a:ext>
            </a:extLst>
          </p:cNvPr>
          <p:cNvSpPr>
            <a:spLocks noGrp="1"/>
          </p:cNvSpPr>
          <p:nvPr/>
        </p:nvSpPr>
        <p:spPr>
          <a:xfrm>
            <a:off x="5972175" y="3190875"/>
            <a:ext cx="5448300" cy="523875"/>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Validate and save a reviewer decision.</a:t>
            </a:r>
          </a:p>
        </p:txBody>
      </p:sp>
      <p:sp>
        <p:nvSpPr>
          <p:cNvPr id="17" name="Rectangle 16">
            <a:extLst>
              <a:ext uri="{FF2B5EF4-FFF2-40B4-BE49-F238E27FC236}">
                <a16:creationId xmlns:a16="http://schemas.microsoft.com/office/drawing/2014/main" id="{A0BDB846-3FB3-4A18-ACA7-AF3FC2AB1E39}"/>
              </a:ext>
            </a:extLst>
          </p:cNvPr>
          <p:cNvSpPr>
            <a:spLocks noGrp="1"/>
          </p:cNvSpPr>
          <p:nvPr/>
        </p:nvSpPr>
        <p:spPr>
          <a:xfrm>
            <a:off x="5972175" y="3705225"/>
            <a:ext cx="5476875" cy="9525"/>
          </a:xfrm>
          <a:prstGeom prst="rect">
            <a:avLst/>
          </a:prstGeom>
          <a:solidFill>
            <a:srgbClr val="E6E0D8"/>
          </a:solidFill>
          <a:ln w="0">
            <a:noFill/>
            <a:prstDash val="solid"/>
          </a:ln>
        </p:spPr>
      </p:sp>
      <p:sp>
        <p:nvSpPr>
          <p:cNvPr id="18" name="Rectangle 17">
            <a:extLst>
              <a:ext uri="{FF2B5EF4-FFF2-40B4-BE49-F238E27FC236}">
                <a16:creationId xmlns:a16="http://schemas.microsoft.com/office/drawing/2014/main" id="{02F625F5-3AF8-46FD-B1AF-55A6503878A3}"/>
              </a:ext>
            </a:extLst>
          </p:cNvPr>
          <p:cNvSpPr>
            <a:spLocks noGrp="1"/>
          </p:cNvSpPr>
          <p:nvPr/>
        </p:nvSpPr>
        <p:spPr>
          <a:xfrm>
            <a:off x="5972175" y="3819525"/>
            <a:ext cx="5572125"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3  train_model.py + model.py</a:t>
            </a:r>
          </a:p>
        </p:txBody>
      </p:sp>
      <p:sp>
        <p:nvSpPr>
          <p:cNvPr id="19" name="Rectangle 18">
            <a:extLst>
              <a:ext uri="{FF2B5EF4-FFF2-40B4-BE49-F238E27FC236}">
                <a16:creationId xmlns:a16="http://schemas.microsoft.com/office/drawing/2014/main" id="{1B6D083D-1553-446B-8E20-F44275C978D2}"/>
              </a:ext>
            </a:extLst>
          </p:cNvPr>
          <p:cNvSpPr>
            <a:spLocks noGrp="1"/>
          </p:cNvSpPr>
          <p:nvPr/>
        </p:nvSpPr>
        <p:spPr>
          <a:xfrm>
            <a:off x="5972175" y="4152900"/>
            <a:ext cx="5448300" cy="523875"/>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Join labels, split by release, fit, evaluate.</a:t>
            </a:r>
          </a:p>
        </p:txBody>
      </p:sp>
      <p:sp>
        <p:nvSpPr>
          <p:cNvPr id="20" name="Rectangle 19">
            <a:extLst>
              <a:ext uri="{FF2B5EF4-FFF2-40B4-BE49-F238E27FC236}">
                <a16:creationId xmlns:a16="http://schemas.microsoft.com/office/drawing/2014/main" id="{477215F4-5E7A-48B5-8183-BA1BC3C94611}"/>
              </a:ext>
            </a:extLst>
          </p:cNvPr>
          <p:cNvSpPr>
            <a:spLocks noGrp="1"/>
          </p:cNvSpPr>
          <p:nvPr/>
        </p:nvSpPr>
        <p:spPr>
          <a:xfrm>
            <a:off x="5972175" y="4667250"/>
            <a:ext cx="5476875" cy="9525"/>
          </a:xfrm>
          <a:prstGeom prst="rect">
            <a:avLst/>
          </a:prstGeom>
          <a:solidFill>
            <a:srgbClr val="E6E0D8"/>
          </a:solidFill>
          <a:ln w="0">
            <a:noFill/>
            <a:prstDash val="solid"/>
          </a:ln>
        </p:spPr>
      </p:sp>
      <p:sp>
        <p:nvSpPr>
          <p:cNvPr id="21" name="Rectangle 20">
            <a:extLst>
              <a:ext uri="{FF2B5EF4-FFF2-40B4-BE49-F238E27FC236}">
                <a16:creationId xmlns:a16="http://schemas.microsoft.com/office/drawing/2014/main" id="{4E3A62EF-2777-4AB0-B321-20B3E218A996}"/>
              </a:ext>
            </a:extLst>
          </p:cNvPr>
          <p:cNvSpPr>
            <a:spLocks noGrp="1"/>
          </p:cNvSpPr>
          <p:nvPr/>
        </p:nvSpPr>
        <p:spPr>
          <a:xfrm>
            <a:off x="5972175" y="4781550"/>
            <a:ext cx="5572125"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4  inference.py + app.py</a:t>
            </a:r>
          </a:p>
        </p:txBody>
      </p:sp>
      <p:sp>
        <p:nvSpPr>
          <p:cNvPr id="22" name="Rectangle 21">
            <a:extLst>
              <a:ext uri="{FF2B5EF4-FFF2-40B4-BE49-F238E27FC236}">
                <a16:creationId xmlns:a16="http://schemas.microsoft.com/office/drawing/2014/main" id="{4843479B-E28E-4341-B942-D814C4F2E5C3}"/>
              </a:ext>
            </a:extLst>
          </p:cNvPr>
          <p:cNvSpPr>
            <a:spLocks noGrp="1"/>
          </p:cNvSpPr>
          <p:nvPr/>
        </p:nvSpPr>
        <p:spPr>
          <a:xfrm>
            <a:off x="5972175" y="5114925"/>
            <a:ext cx="5448300" cy="523875"/>
          </a:xfrm>
          <a:prstGeom prst="rect">
            <a:avLst/>
          </a:prstGeom>
          <a:noFill/>
          <a:ln w="0">
            <a:noFill/>
            <a:prstDash val="solid"/>
          </a:ln>
        </p:spPr>
        <p:txBody>
          <a:bodyPr wrap="square" lIns="0" tIns="0" rIns="0" bIns="0" anchor="t">
            <a:normAutofit/>
          </a:bodyPr>
          <a:lstStyle>
            <a:defPPr algn="l">
              <a:defRPr sz="1350" b="0">
                <a:solidFill>
                  <a:srgbClr val="5F6973"/>
                </a:solidFill>
                <a:latin typeface="Segoe UI"/>
                <a:ea typeface="Segoe UI"/>
                <a:cs typeface="Segoe UI"/>
              </a:defRPr>
            </a:defPPr>
          </a:lstStyle>
          <a:p>
            <a:pPr algn="l">
              <a:defRPr sz="1350" b="0">
                <a:solidFill>
                  <a:srgbClr val="5F6973"/>
                </a:solidFill>
                <a:latin typeface="Segoe UI"/>
                <a:ea typeface="Segoe UI"/>
                <a:cs typeface="Segoe UI"/>
              </a:defRPr>
            </a:pPr>
            <a:r>
              <a:rPr sz="1350" b="0">
                <a:solidFill>
                  <a:srgbClr val="5F6973"/>
                </a:solidFill>
                <a:latin typeface="Segoe UI"/>
                <a:ea typeface="Segoe UI"/>
                <a:cs typeface="Segoe UI"/>
              </a:rPr>
              <a:t>Load the local artifact and show a suggestion.</a:t>
            </a:r>
          </a:p>
        </p:txBody>
      </p:sp>
    </p:spTree>
    <p:extLst>
      <p:ext uri="{BB962C8B-B14F-4D97-AF65-F5344CB8AC3E}">
        <p14:creationId xmlns:p14="http://schemas.microsoft.com/office/powerpoint/2010/main" val="20853241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F860E9BE-877F-4E50-906B-990F9D619DFA}"/>
              </a:ext>
            </a:extLst>
          </p:cNvPr>
          <p:cNvSpPr>
            <a:spLocks noGrp="1"/>
          </p:cNvSpPr>
          <p:nvPr/>
        </p:nvSpPr>
        <p:spPr>
          <a:xfrm>
            <a:off x="0" y="0"/>
            <a:ext cx="12192000" cy="95250"/>
          </a:xfrm>
          <a:prstGeom prst="rect">
            <a:avLst/>
          </a:prstGeom>
          <a:solidFill>
            <a:srgbClr val="BC171D"/>
          </a:solidFill>
          <a:ln w="0">
            <a:noFill/>
            <a:prstDash val="solid"/>
          </a:ln>
        </p:spPr>
      </p:sp>
      <p:sp>
        <p:nvSpPr>
          <p:cNvPr id="2" name="title-8">
            <a:extLst>
              <a:ext uri="{FF2B5EF4-FFF2-40B4-BE49-F238E27FC236}">
                <a16:creationId xmlns:a16="http://schemas.microsoft.com/office/drawing/2014/main" id="{EEC544E5-1037-49F3-87F5-33D940D77134}"/>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VS Code walkthrough: extraction and review</a:t>
            </a:r>
          </a:p>
        </p:txBody>
      </p:sp>
      <p:sp>
        <p:nvSpPr>
          <p:cNvPr id="3" name="Rectangle 2">
            <a:extLst>
              <a:ext uri="{FF2B5EF4-FFF2-40B4-BE49-F238E27FC236}">
                <a16:creationId xmlns:a16="http://schemas.microsoft.com/office/drawing/2014/main" id="{6C8FB207-9D73-4AFB-8763-03BF4173B51A}"/>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A41106E9-3FCE-4682-8BBD-F9069EF1B206}"/>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2A2EFD95-2953-4F5E-84AE-D41744A2222F}"/>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AA53CE7F-7C4F-492D-8997-CF0A9C9A1878}"/>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sz="975" b="0">
                <a:solidFill>
                  <a:srgbClr val="5F6973"/>
                </a:solidFill>
                <a:latin typeface="Segoe UI"/>
                <a:ea typeface="Segoe UI"/>
                <a:cs typeface="Segoe UI"/>
              </a:rPr>
              <a:t>Tilaksinh   •   08 / 13</a:t>
            </a:r>
          </a:p>
        </p:txBody>
      </p:sp>
      <p:sp>
        <p:nvSpPr>
          <p:cNvPr id="7" name="Rectangle 6">
            <a:extLst>
              <a:ext uri="{FF2B5EF4-FFF2-40B4-BE49-F238E27FC236}">
                <a16:creationId xmlns:a16="http://schemas.microsoft.com/office/drawing/2014/main" id="{8EA9358D-DA19-45D5-BB60-C6E4EA701DBD}"/>
              </a:ext>
            </a:extLst>
          </p:cNvPr>
          <p:cNvSpPr>
            <a:spLocks noGrp="1"/>
          </p:cNvSpPr>
          <p:nvPr/>
        </p:nvSpPr>
        <p:spPr>
          <a:xfrm>
            <a:off x="514350" y="1438275"/>
            <a:ext cx="11163300" cy="2295525"/>
          </a:xfrm>
          <a:prstGeom prst="rect">
            <a:avLst/>
          </a:prstGeom>
          <a:solidFill>
            <a:srgbClr val="EEE9E3"/>
          </a:solidFill>
          <a:ln w="0">
            <a:noFill/>
            <a:prstDash val="solid"/>
          </a:ln>
        </p:spPr>
      </p:sp>
      <p:sp>
        <p:nvSpPr>
          <p:cNvPr id="8" name="Rectangle 7">
            <a:extLst>
              <a:ext uri="{FF2B5EF4-FFF2-40B4-BE49-F238E27FC236}">
                <a16:creationId xmlns:a16="http://schemas.microsoft.com/office/drawing/2014/main" id="{FB404FEC-9C3B-4313-98DB-F21372E875A1}"/>
              </a:ext>
            </a:extLst>
          </p:cNvPr>
          <p:cNvSpPr>
            <a:spLocks noGrp="1"/>
          </p:cNvSpPr>
          <p:nvPr/>
        </p:nvSpPr>
        <p:spPr>
          <a:xfrm>
            <a:off x="514350" y="1438275"/>
            <a:ext cx="47625" cy="2295525"/>
          </a:xfrm>
          <a:prstGeom prst="rect">
            <a:avLst/>
          </a:prstGeom>
          <a:solidFill>
            <a:srgbClr val="BC171D"/>
          </a:solidFill>
          <a:ln w="0">
            <a:noFill/>
            <a:prstDash val="solid"/>
          </a:ln>
        </p:spPr>
      </p:sp>
      <p:sp>
        <p:nvSpPr>
          <p:cNvPr id="9" name="Rectangle 8">
            <a:extLst>
              <a:ext uri="{FF2B5EF4-FFF2-40B4-BE49-F238E27FC236}">
                <a16:creationId xmlns:a16="http://schemas.microsoft.com/office/drawing/2014/main" id="{26AA1A22-A84F-44C7-8B3B-3332D392C143}"/>
              </a:ext>
            </a:extLst>
          </p:cNvPr>
          <p:cNvSpPr>
            <a:spLocks noGrp="1"/>
          </p:cNvSpPr>
          <p:nvPr/>
        </p:nvSpPr>
        <p:spPr>
          <a:xfrm>
            <a:off x="704850" y="1562100"/>
            <a:ext cx="10829925" cy="238125"/>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scripts/build_dataset.py + src/patchprobe/ingest.py  |  abridged</a:t>
            </a:r>
          </a:p>
        </p:txBody>
      </p:sp>
      <p:sp>
        <p:nvSpPr>
          <p:cNvPr id="10" name="Rectangle 9">
            <a:extLst>
              <a:ext uri="{FF2B5EF4-FFF2-40B4-BE49-F238E27FC236}">
                <a16:creationId xmlns:a16="http://schemas.microsoft.com/office/drawing/2014/main" id="{E2FA896B-95E1-4FC3-B095-7328AC46E10B}"/>
              </a:ext>
            </a:extLst>
          </p:cNvPr>
          <p:cNvSpPr>
            <a:spLocks noGrp="1"/>
          </p:cNvSpPr>
          <p:nvPr/>
        </p:nvSpPr>
        <p:spPr>
          <a:xfrm>
            <a:off x="704850" y="1885950"/>
            <a:ext cx="10810875" cy="1724025"/>
          </a:xfrm>
          <a:prstGeom prst="rect">
            <a:avLst/>
          </a:prstGeom>
          <a:noFill/>
          <a:ln w="0">
            <a:noFill/>
            <a:prstDash val="solid"/>
          </a:ln>
        </p:spPr>
        <p:txBody>
          <a:bodyPr wrap="square" lIns="0" tIns="0" rIns="0" bIns="0" anchor="t">
            <a:normAutofit/>
          </a:bodyPr>
          <a:lstStyle>
            <a:defPPr algn="l">
              <a:defRPr sz="1275" b="0">
                <a:solidFill>
                  <a:srgbClr val="20252B"/>
                </a:solidFill>
                <a:latin typeface="Consolas"/>
                <a:ea typeface="Consolas"/>
                <a:cs typeface="Consolas"/>
              </a:defRPr>
            </a:defPPr>
          </a:lstStyle>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for tag, revision, releases in SOURCE_GROUPS:</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for release in releases:</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source = fetch_release(revision, release, cache_root)</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entries = parse_release_notes(source, release, revision)</a:t>
            </a:r>
          </a:p>
          <a:p>
            <a:endParaRPr sz="1275" b="0">
              <a:solidFill>
                <a:srgbClr val="20252B"/>
              </a:solidFill>
              <a:latin typeface="Consolas"/>
              <a:ea typeface="Consolas"/>
              <a:cs typeface="Consolas"/>
            </a:endParaRP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entries, exact_duplicates = deduplicate_exact(all_entries)</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pilot = select_pilot(entries, size=50)</a:t>
            </a:r>
          </a:p>
        </p:txBody>
      </p:sp>
      <p:sp>
        <p:nvSpPr>
          <p:cNvPr id="11" name="Rectangle 10">
            <a:extLst>
              <a:ext uri="{FF2B5EF4-FFF2-40B4-BE49-F238E27FC236}">
                <a16:creationId xmlns:a16="http://schemas.microsoft.com/office/drawing/2014/main" id="{140A0946-57C9-4ED8-8DAE-AD1B14C69580}"/>
              </a:ext>
            </a:extLst>
          </p:cNvPr>
          <p:cNvSpPr>
            <a:spLocks noGrp="1"/>
          </p:cNvSpPr>
          <p:nvPr/>
        </p:nvSpPr>
        <p:spPr>
          <a:xfrm>
            <a:off x="514350" y="3905250"/>
            <a:ext cx="11163300" cy="1847850"/>
          </a:xfrm>
          <a:prstGeom prst="rect">
            <a:avLst/>
          </a:prstGeom>
          <a:solidFill>
            <a:srgbClr val="EEE9E3"/>
          </a:solidFill>
          <a:ln w="0">
            <a:noFill/>
            <a:prstDash val="solid"/>
          </a:ln>
        </p:spPr>
      </p:sp>
      <p:sp>
        <p:nvSpPr>
          <p:cNvPr id="12" name="Rectangle 11">
            <a:extLst>
              <a:ext uri="{FF2B5EF4-FFF2-40B4-BE49-F238E27FC236}">
                <a16:creationId xmlns:a16="http://schemas.microsoft.com/office/drawing/2014/main" id="{80CC6765-5BF8-460D-BA18-4EAA69923437}"/>
              </a:ext>
            </a:extLst>
          </p:cNvPr>
          <p:cNvSpPr>
            <a:spLocks noGrp="1"/>
          </p:cNvSpPr>
          <p:nvPr/>
        </p:nvSpPr>
        <p:spPr>
          <a:xfrm>
            <a:off x="514350" y="3905250"/>
            <a:ext cx="47625" cy="1847850"/>
          </a:xfrm>
          <a:prstGeom prst="rect">
            <a:avLst/>
          </a:prstGeom>
          <a:solidFill>
            <a:srgbClr val="BC171D"/>
          </a:solidFill>
          <a:ln w="0">
            <a:noFill/>
            <a:prstDash val="solid"/>
          </a:ln>
        </p:spPr>
      </p:sp>
      <p:sp>
        <p:nvSpPr>
          <p:cNvPr id="13" name="Rectangle 12">
            <a:extLst>
              <a:ext uri="{FF2B5EF4-FFF2-40B4-BE49-F238E27FC236}">
                <a16:creationId xmlns:a16="http://schemas.microsoft.com/office/drawing/2014/main" id="{38ED527D-177E-457A-AACF-A25F780F5FB1}"/>
              </a:ext>
            </a:extLst>
          </p:cNvPr>
          <p:cNvSpPr>
            <a:spLocks noGrp="1"/>
          </p:cNvSpPr>
          <p:nvPr/>
        </p:nvSpPr>
        <p:spPr>
          <a:xfrm>
            <a:off x="704850" y="4029075"/>
            <a:ext cx="10829925" cy="238125"/>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src/patchprobe/annotation.py  |  validation + atomic save</a:t>
            </a:r>
          </a:p>
        </p:txBody>
      </p:sp>
      <p:sp>
        <p:nvSpPr>
          <p:cNvPr id="14" name="Rectangle 13">
            <a:extLst>
              <a:ext uri="{FF2B5EF4-FFF2-40B4-BE49-F238E27FC236}">
                <a16:creationId xmlns:a16="http://schemas.microsoft.com/office/drawing/2014/main" id="{36B77015-DEA3-44C9-96B9-F54342D0A5C1}"/>
              </a:ext>
            </a:extLst>
          </p:cNvPr>
          <p:cNvSpPr>
            <a:spLocks noGrp="1"/>
          </p:cNvSpPr>
          <p:nvPr/>
        </p:nvSpPr>
        <p:spPr>
          <a:xfrm>
            <a:off x="704850" y="4352925"/>
            <a:ext cx="10810875" cy="1276350"/>
          </a:xfrm>
          <a:prstGeom prst="rect">
            <a:avLst/>
          </a:prstGeom>
          <a:noFill/>
          <a:ln w="0">
            <a:noFill/>
            <a:prstDash val="solid"/>
          </a:ln>
        </p:spPr>
        <p:txBody>
          <a:bodyPr wrap="square" lIns="0" tIns="0" rIns="0" bIns="0" anchor="t">
            <a:normAutofit/>
          </a:bodyPr>
          <a:lstStyle>
            <a:defPPr algn="l">
              <a:defRPr sz="1275" b="0">
                <a:solidFill>
                  <a:srgbClr val="20252B"/>
                </a:solidFill>
                <a:latin typeface="Consolas"/>
                <a:ea typeface="Consolas"/>
                <a:cs typeface="Consolas"/>
              </a:defRPr>
            </a:defPPr>
          </a:lstStyle>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if entry_id not in valid_entry_ids: raise AnnotationError(...)</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if label == UNCLEAR and not review_note.strip():</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raise AnnotationError(...)</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labels[entry_id] = {"label": label, "annotator": annotator, ...}</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os.replace(temporary_path, path)</a:t>
            </a:r>
          </a:p>
        </p:txBody>
      </p:sp>
      <p:sp>
        <p:nvSpPr>
          <p:cNvPr id="15" name="Rectangle 14">
            <a:extLst>
              <a:ext uri="{FF2B5EF4-FFF2-40B4-BE49-F238E27FC236}">
                <a16:creationId xmlns:a16="http://schemas.microsoft.com/office/drawing/2014/main" id="{77B11B5B-F843-4C62-8B59-BCC8F34B2883}"/>
              </a:ext>
            </a:extLst>
          </p:cNvPr>
          <p:cNvSpPr>
            <a:spLocks noGrp="1"/>
          </p:cNvSpPr>
          <p:nvPr/>
        </p:nvSpPr>
        <p:spPr>
          <a:xfrm>
            <a:off x="514350" y="5857875"/>
            <a:ext cx="10953750" cy="352425"/>
          </a:xfrm>
          <a:prstGeom prst="rect">
            <a:avLst/>
          </a:prstGeom>
          <a:noFill/>
          <a:ln w="0">
            <a:noFill/>
            <a:prstDash val="solid"/>
          </a:ln>
        </p:spPr>
        <p:txBody>
          <a:bodyPr wrap="square" lIns="0" tIns="0" rIns="0" bIns="0" anchor="t">
            <a:normAutofit/>
          </a:bodyPr>
          <a:lstStyle>
            <a:defPPr algn="l">
              <a:defRPr sz="1350" b="1">
                <a:solidFill>
                  <a:srgbClr val="BC171D"/>
                </a:solidFill>
                <a:latin typeface="Segoe UI"/>
                <a:ea typeface="Segoe UI"/>
                <a:cs typeface="Segoe UI"/>
              </a:defRPr>
            </a:defPPr>
          </a:lstStyle>
          <a:p>
            <a:pPr algn="l">
              <a:defRPr sz="1350" b="1">
                <a:solidFill>
                  <a:srgbClr val="BC171D"/>
                </a:solidFill>
                <a:latin typeface="Segoe UI"/>
                <a:ea typeface="Segoe UI"/>
                <a:cs typeface="Segoe UI"/>
              </a:defRPr>
            </a:pPr>
            <a:r>
              <a:rPr sz="1350" b="1">
                <a:solidFill>
                  <a:srgbClr val="BC171D"/>
                </a:solidFill>
                <a:latin typeface="Segoe UI"/>
                <a:ea typeface="Segoe UI"/>
                <a:cs typeface="Segoe UI"/>
              </a:rPr>
              <a:t>Provenance retained per row: release, exact source URL, source revision, raw RST and cleaned model text.</a:t>
            </a:r>
          </a:p>
        </p:txBody>
      </p:sp>
    </p:spTree>
    <p:extLst>
      <p:ext uri="{BB962C8B-B14F-4D97-AF65-F5344CB8AC3E}">
        <p14:creationId xmlns:p14="http://schemas.microsoft.com/office/powerpoint/2010/main" val="1487944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2DF2CEA-A548-4491-A157-B6C9009D1F4B}"/>
              </a:ext>
            </a:extLst>
          </p:cNvPr>
          <p:cNvSpPr>
            <a:spLocks noGrp="1"/>
          </p:cNvSpPr>
          <p:nvPr/>
        </p:nvSpPr>
        <p:spPr>
          <a:xfrm>
            <a:off x="0" y="0"/>
            <a:ext cx="12192000" cy="95250"/>
          </a:xfrm>
          <a:prstGeom prst="rect">
            <a:avLst/>
          </a:prstGeom>
          <a:solidFill>
            <a:srgbClr val="BC171D"/>
          </a:solidFill>
          <a:ln w="0">
            <a:noFill/>
            <a:prstDash val="solid"/>
          </a:ln>
        </p:spPr>
      </p:sp>
      <p:sp>
        <p:nvSpPr>
          <p:cNvPr id="2" name="title-9">
            <a:extLst>
              <a:ext uri="{FF2B5EF4-FFF2-40B4-BE49-F238E27FC236}">
                <a16:creationId xmlns:a16="http://schemas.microsoft.com/office/drawing/2014/main" id="{B3E461F8-113E-4E88-A59F-B7B5F007713A}"/>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VS Code walkthrough: training and inference</a:t>
            </a:r>
          </a:p>
        </p:txBody>
      </p:sp>
      <p:sp>
        <p:nvSpPr>
          <p:cNvPr id="3" name="Rectangle 2">
            <a:extLst>
              <a:ext uri="{FF2B5EF4-FFF2-40B4-BE49-F238E27FC236}">
                <a16:creationId xmlns:a16="http://schemas.microsoft.com/office/drawing/2014/main" id="{172BD341-E2D2-4395-B47C-1D4B1A44CC36}"/>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B7EDF944-4887-4340-B8C5-3ABEFDC23990}"/>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1500AA9D-B776-4662-AC1A-815EADC38DFB}"/>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3674ECD0-0AE7-43AE-B6F0-008D42C4D037}"/>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sz="975" b="0">
                <a:solidFill>
                  <a:srgbClr val="5F6973"/>
                </a:solidFill>
                <a:latin typeface="Segoe UI"/>
                <a:ea typeface="Segoe UI"/>
                <a:cs typeface="Segoe UI"/>
              </a:rPr>
              <a:t>Tilaksinh   •   09 / 13</a:t>
            </a:r>
          </a:p>
        </p:txBody>
      </p:sp>
      <p:sp>
        <p:nvSpPr>
          <p:cNvPr id="7" name="Rectangle 6">
            <a:extLst>
              <a:ext uri="{FF2B5EF4-FFF2-40B4-BE49-F238E27FC236}">
                <a16:creationId xmlns:a16="http://schemas.microsoft.com/office/drawing/2014/main" id="{59A4525E-BB2A-4064-80AC-BBAF6F7F895E}"/>
              </a:ext>
            </a:extLst>
          </p:cNvPr>
          <p:cNvSpPr>
            <a:spLocks noGrp="1"/>
          </p:cNvSpPr>
          <p:nvPr/>
        </p:nvSpPr>
        <p:spPr>
          <a:xfrm>
            <a:off x="514350" y="1428750"/>
            <a:ext cx="6953250" cy="2809875"/>
          </a:xfrm>
          <a:prstGeom prst="rect">
            <a:avLst/>
          </a:prstGeom>
          <a:solidFill>
            <a:srgbClr val="EEE9E3"/>
          </a:solidFill>
          <a:ln w="0">
            <a:noFill/>
            <a:prstDash val="solid"/>
          </a:ln>
        </p:spPr>
      </p:sp>
      <p:sp>
        <p:nvSpPr>
          <p:cNvPr id="8" name="Rectangle 7">
            <a:extLst>
              <a:ext uri="{FF2B5EF4-FFF2-40B4-BE49-F238E27FC236}">
                <a16:creationId xmlns:a16="http://schemas.microsoft.com/office/drawing/2014/main" id="{7E845094-B4AE-43B6-8C85-1A83B9A184F9}"/>
              </a:ext>
            </a:extLst>
          </p:cNvPr>
          <p:cNvSpPr>
            <a:spLocks noGrp="1"/>
          </p:cNvSpPr>
          <p:nvPr/>
        </p:nvSpPr>
        <p:spPr>
          <a:xfrm>
            <a:off x="514350" y="1428750"/>
            <a:ext cx="47625" cy="2809875"/>
          </a:xfrm>
          <a:prstGeom prst="rect">
            <a:avLst/>
          </a:prstGeom>
          <a:solidFill>
            <a:srgbClr val="BC171D"/>
          </a:solidFill>
          <a:ln w="0">
            <a:noFill/>
            <a:prstDash val="solid"/>
          </a:ln>
        </p:spPr>
      </p:sp>
      <p:sp>
        <p:nvSpPr>
          <p:cNvPr id="9" name="Rectangle 8">
            <a:extLst>
              <a:ext uri="{FF2B5EF4-FFF2-40B4-BE49-F238E27FC236}">
                <a16:creationId xmlns:a16="http://schemas.microsoft.com/office/drawing/2014/main" id="{7083EB94-3B97-4394-9275-196B52CA13FE}"/>
              </a:ext>
            </a:extLst>
          </p:cNvPr>
          <p:cNvSpPr>
            <a:spLocks noGrp="1"/>
          </p:cNvSpPr>
          <p:nvPr/>
        </p:nvSpPr>
        <p:spPr>
          <a:xfrm>
            <a:off x="704850" y="1552575"/>
            <a:ext cx="6619875" cy="238125"/>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src/patchprobe/model.py  |  abridged</a:t>
            </a:r>
          </a:p>
        </p:txBody>
      </p:sp>
      <p:sp>
        <p:nvSpPr>
          <p:cNvPr id="10" name="Rectangle 9">
            <a:extLst>
              <a:ext uri="{FF2B5EF4-FFF2-40B4-BE49-F238E27FC236}">
                <a16:creationId xmlns:a16="http://schemas.microsoft.com/office/drawing/2014/main" id="{AA95191F-B48B-4099-91BB-7E4B801420FE}"/>
              </a:ext>
            </a:extLst>
          </p:cNvPr>
          <p:cNvSpPr>
            <a:spLocks noGrp="1"/>
          </p:cNvSpPr>
          <p:nvPr/>
        </p:nvSpPr>
        <p:spPr>
          <a:xfrm>
            <a:off x="704850" y="1876425"/>
            <a:ext cx="6600825" cy="2238375"/>
          </a:xfrm>
          <a:prstGeom prst="rect">
            <a:avLst/>
          </a:prstGeom>
          <a:noFill/>
          <a:ln w="0">
            <a:noFill/>
            <a:prstDash val="solid"/>
          </a:ln>
        </p:spPr>
        <p:txBody>
          <a:bodyPr wrap="square" lIns="0" tIns="0" rIns="0" bIns="0" anchor="t">
            <a:normAutofit/>
          </a:bodyPr>
          <a:lstStyle>
            <a:defPPr algn="l">
              <a:defRPr sz="1275" b="0">
                <a:solidFill>
                  <a:srgbClr val="20252B"/>
                </a:solidFill>
                <a:latin typeface="Consolas"/>
                <a:ea typeface="Consolas"/>
                <a:cs typeface="Consolas"/>
              </a:defRPr>
            </a:defPPr>
          </a:lstStyle>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features = FeatureUnion([</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("word", TfidfVectorizer(ngram_range=(1, 2))),</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("char", TfidfVectorizer(analyzer="char_wb",</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ngram_range=(3, 5))),</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model = Pipeline([("tfidf", features),</a:t>
            </a:r>
          </a:p>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  ("classifier", LogisticRegression(class_weight="balanced"))])</a:t>
            </a:r>
          </a:p>
        </p:txBody>
      </p:sp>
      <p:sp>
        <p:nvSpPr>
          <p:cNvPr id="11" name="Rectangle 10">
            <a:extLst>
              <a:ext uri="{FF2B5EF4-FFF2-40B4-BE49-F238E27FC236}">
                <a16:creationId xmlns:a16="http://schemas.microsoft.com/office/drawing/2014/main" id="{8A99F598-0AB7-412D-96BA-3393050DC976}"/>
              </a:ext>
            </a:extLst>
          </p:cNvPr>
          <p:cNvSpPr>
            <a:spLocks noGrp="1"/>
          </p:cNvSpPr>
          <p:nvPr/>
        </p:nvSpPr>
        <p:spPr>
          <a:xfrm>
            <a:off x="7772400" y="1485900"/>
            <a:ext cx="3667125"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GUARDS WORTH EXPLAINING</a:t>
            </a:r>
          </a:p>
        </p:txBody>
      </p:sp>
      <p:sp>
        <p:nvSpPr>
          <p:cNvPr id="12" name="Rectangle 11">
            <a:extLst>
              <a:ext uri="{FF2B5EF4-FFF2-40B4-BE49-F238E27FC236}">
                <a16:creationId xmlns:a16="http://schemas.microsoft.com/office/drawing/2014/main" id="{ABD1A2E1-A619-4ED1-B62D-40FB1D24CED5}"/>
              </a:ext>
            </a:extLst>
          </p:cNvPr>
          <p:cNvSpPr>
            <a:spLocks noGrp="1"/>
          </p:cNvSpPr>
          <p:nvPr/>
        </p:nvSpPr>
        <p:spPr>
          <a:xfrm>
            <a:off x="7772400" y="1847850"/>
            <a:ext cx="3638550" cy="304800"/>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Release-group split</a:t>
            </a:r>
          </a:p>
        </p:txBody>
      </p:sp>
      <p:sp>
        <p:nvSpPr>
          <p:cNvPr id="13" name="Rectangle 12">
            <a:extLst>
              <a:ext uri="{FF2B5EF4-FFF2-40B4-BE49-F238E27FC236}">
                <a16:creationId xmlns:a16="http://schemas.microsoft.com/office/drawing/2014/main" id="{A4F5506C-2DF1-45E3-B5EC-52F46BADD2BA}"/>
              </a:ext>
            </a:extLst>
          </p:cNvPr>
          <p:cNvSpPr>
            <a:spLocks noGrp="1"/>
          </p:cNvSpPr>
          <p:nvPr/>
        </p:nvSpPr>
        <p:spPr>
          <a:xfrm>
            <a:off x="7772400" y="2181225"/>
            <a:ext cx="363855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One release appears in only one split.</a:t>
            </a:r>
          </a:p>
        </p:txBody>
      </p:sp>
      <p:sp>
        <p:nvSpPr>
          <p:cNvPr id="14" name="Rectangle 13">
            <a:extLst>
              <a:ext uri="{FF2B5EF4-FFF2-40B4-BE49-F238E27FC236}">
                <a16:creationId xmlns:a16="http://schemas.microsoft.com/office/drawing/2014/main" id="{6361884E-6070-4FBE-809C-6FAF2ACD5C00}"/>
              </a:ext>
            </a:extLst>
          </p:cNvPr>
          <p:cNvSpPr>
            <a:spLocks noGrp="1"/>
          </p:cNvSpPr>
          <p:nvPr/>
        </p:nvSpPr>
        <p:spPr>
          <a:xfrm>
            <a:off x="7772400" y="2886075"/>
            <a:ext cx="3638550" cy="304800"/>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Train-only fitting</a:t>
            </a:r>
          </a:p>
        </p:txBody>
      </p:sp>
      <p:sp>
        <p:nvSpPr>
          <p:cNvPr id="15" name="Rectangle 14">
            <a:extLst>
              <a:ext uri="{FF2B5EF4-FFF2-40B4-BE49-F238E27FC236}">
                <a16:creationId xmlns:a16="http://schemas.microsoft.com/office/drawing/2014/main" id="{4DB63CBD-06EA-4E4F-AA73-AFC790EEE996}"/>
              </a:ext>
            </a:extLst>
          </p:cNvPr>
          <p:cNvSpPr>
            <a:spLocks noGrp="1"/>
          </p:cNvSpPr>
          <p:nvPr/>
        </p:nvSpPr>
        <p:spPr>
          <a:xfrm>
            <a:off x="7772400" y="3219450"/>
            <a:ext cx="363855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The TF-IDF vocabulary is learned on training rows.</a:t>
            </a:r>
          </a:p>
        </p:txBody>
      </p:sp>
      <p:sp>
        <p:nvSpPr>
          <p:cNvPr id="16" name="Rectangle 15">
            <a:extLst>
              <a:ext uri="{FF2B5EF4-FFF2-40B4-BE49-F238E27FC236}">
                <a16:creationId xmlns:a16="http://schemas.microsoft.com/office/drawing/2014/main" id="{C661CC42-8A37-4957-8E5D-3E02BFDF9E5B}"/>
              </a:ext>
            </a:extLst>
          </p:cNvPr>
          <p:cNvSpPr>
            <a:spLocks noGrp="1"/>
          </p:cNvSpPr>
          <p:nvPr/>
        </p:nvSpPr>
        <p:spPr>
          <a:xfrm>
            <a:off x="7772400" y="3924300"/>
            <a:ext cx="3638550" cy="304800"/>
          </a:xfrm>
          <a:prstGeom prst="rect">
            <a:avLst/>
          </a:prstGeom>
          <a:noFill/>
          <a:ln w="0">
            <a:noFill/>
            <a:prstDash val="solid"/>
          </a:ln>
        </p:spPr>
        <p:txBody>
          <a:bodyPr wrap="square" lIns="0" tIns="0" rIns="0" bIns="0" anchor="t">
            <a:normAutofit/>
          </a:bodyPr>
          <a:lstStyle>
            <a:defPPr algn="l">
              <a:defRPr sz="1425" b="1">
                <a:solidFill>
                  <a:srgbClr val="20252B"/>
                </a:solidFill>
                <a:latin typeface="Segoe UI"/>
                <a:ea typeface="Segoe UI"/>
                <a:cs typeface="Segoe UI"/>
              </a:defRPr>
            </a:defPPr>
          </a:lstStyle>
          <a:p>
            <a:pPr algn="l">
              <a:defRPr sz="1425" b="1">
                <a:solidFill>
                  <a:srgbClr val="20252B"/>
                </a:solidFill>
                <a:latin typeface="Segoe UI"/>
                <a:ea typeface="Segoe UI"/>
                <a:cs typeface="Segoe UI"/>
              </a:defRPr>
            </a:pPr>
            <a:r>
              <a:rPr sz="1425" b="1">
                <a:solidFill>
                  <a:srgbClr val="20252B"/>
                </a:solidFill>
                <a:latin typeface="Segoe UI"/>
                <a:ea typeface="Segoe UI"/>
                <a:cs typeface="Segoe UI"/>
              </a:rPr>
              <a:t>Inference gate</a:t>
            </a:r>
          </a:p>
        </p:txBody>
      </p:sp>
      <p:sp>
        <p:nvSpPr>
          <p:cNvPr id="17" name="Rectangle 16">
            <a:extLst>
              <a:ext uri="{FF2B5EF4-FFF2-40B4-BE49-F238E27FC236}">
                <a16:creationId xmlns:a16="http://schemas.microsoft.com/office/drawing/2014/main" id="{DD48354A-0C5B-415D-9C85-F1FB680C61E9}"/>
              </a:ext>
            </a:extLst>
          </p:cNvPr>
          <p:cNvSpPr>
            <a:spLocks noGrp="1"/>
          </p:cNvSpPr>
          <p:nvPr/>
        </p:nvSpPr>
        <p:spPr>
          <a:xfrm>
            <a:off x="7772400" y="4257675"/>
            <a:ext cx="363855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Needs model.joblib plus matching metrics.json.</a:t>
            </a:r>
          </a:p>
        </p:txBody>
      </p:sp>
      <p:sp>
        <p:nvSpPr>
          <p:cNvPr id="18" name="Rectangle 17">
            <a:extLst>
              <a:ext uri="{FF2B5EF4-FFF2-40B4-BE49-F238E27FC236}">
                <a16:creationId xmlns:a16="http://schemas.microsoft.com/office/drawing/2014/main" id="{33DDA43E-C4D6-4AB1-AC69-E13C6F04BAF1}"/>
              </a:ext>
            </a:extLst>
          </p:cNvPr>
          <p:cNvSpPr>
            <a:spLocks noGrp="1"/>
          </p:cNvSpPr>
          <p:nvPr/>
        </p:nvSpPr>
        <p:spPr>
          <a:xfrm>
            <a:off x="514350" y="4791075"/>
            <a:ext cx="11163300" cy="1114425"/>
          </a:xfrm>
          <a:prstGeom prst="rect">
            <a:avLst/>
          </a:prstGeom>
          <a:solidFill>
            <a:srgbClr val="FFFFFF"/>
          </a:solidFill>
          <a:ln w="0">
            <a:noFill/>
            <a:prstDash val="solid"/>
          </a:ln>
        </p:spPr>
      </p:sp>
      <p:sp>
        <p:nvSpPr>
          <p:cNvPr id="19" name="Rectangle 18">
            <a:extLst>
              <a:ext uri="{FF2B5EF4-FFF2-40B4-BE49-F238E27FC236}">
                <a16:creationId xmlns:a16="http://schemas.microsoft.com/office/drawing/2014/main" id="{4C71B390-12FD-4466-9337-5E087E73C203}"/>
              </a:ext>
            </a:extLst>
          </p:cNvPr>
          <p:cNvSpPr>
            <a:spLocks noGrp="1"/>
          </p:cNvSpPr>
          <p:nvPr/>
        </p:nvSpPr>
        <p:spPr>
          <a:xfrm>
            <a:off x="514350" y="4791075"/>
            <a:ext cx="57150" cy="1114425"/>
          </a:xfrm>
          <a:prstGeom prst="rect">
            <a:avLst/>
          </a:prstGeom>
          <a:solidFill>
            <a:srgbClr val="BC171D"/>
          </a:solidFill>
          <a:ln w="0">
            <a:noFill/>
            <a:prstDash val="solid"/>
          </a:ln>
        </p:spPr>
      </p:sp>
      <p:sp>
        <p:nvSpPr>
          <p:cNvPr id="20" name="Rectangle 19">
            <a:extLst>
              <a:ext uri="{FF2B5EF4-FFF2-40B4-BE49-F238E27FC236}">
                <a16:creationId xmlns:a16="http://schemas.microsoft.com/office/drawing/2014/main" id="{2A3D97D3-FCFA-4C93-A4A5-18CAB238AF17}"/>
              </a:ext>
            </a:extLst>
          </p:cNvPr>
          <p:cNvSpPr>
            <a:spLocks noGrp="1"/>
          </p:cNvSpPr>
          <p:nvPr/>
        </p:nvSpPr>
        <p:spPr>
          <a:xfrm>
            <a:off x="723900" y="4933950"/>
            <a:ext cx="10477500" cy="285750"/>
          </a:xfrm>
          <a:prstGeom prst="rect">
            <a:avLst/>
          </a:prstGeom>
          <a:noFill/>
          <a:ln w="0">
            <a:noFill/>
            <a:prstDash val="solid"/>
          </a:ln>
        </p:spPr>
        <p:txBody>
          <a:bodyPr wrap="square" lIns="0" tIns="0" rIns="0" bIns="0" anchor="t">
            <a:normAutofit/>
          </a:bodyPr>
          <a:lstStyle>
            <a:defPPr algn="l">
              <a:defRPr sz="1575" b="1">
                <a:solidFill>
                  <a:srgbClr val="20252B"/>
                </a:solidFill>
                <a:latin typeface="Segoe UI"/>
                <a:ea typeface="Segoe UI"/>
                <a:cs typeface="Segoe UI"/>
              </a:defRPr>
            </a:defPPr>
          </a:lstStyle>
          <a:p>
            <a:pPr algn="l">
              <a:defRPr sz="1575" b="1">
                <a:solidFill>
                  <a:srgbClr val="20252B"/>
                </a:solidFill>
                <a:latin typeface="Segoe UI"/>
                <a:ea typeface="Segoe UI"/>
                <a:cs typeface="Segoe UI"/>
              </a:defRPr>
            </a:pPr>
            <a:r>
              <a:rPr sz="1575" b="1">
                <a:solidFill>
                  <a:srgbClr val="20252B"/>
                </a:solidFill>
                <a:latin typeface="Segoe UI"/>
                <a:ea typeface="Segoe UI"/>
                <a:cs typeface="Segoe UI"/>
              </a:rPr>
              <a:t>What the trained artifact contains</a:t>
            </a:r>
          </a:p>
        </p:txBody>
      </p:sp>
      <p:sp>
        <p:nvSpPr>
          <p:cNvPr id="21" name="Rectangle 20">
            <a:extLst>
              <a:ext uri="{FF2B5EF4-FFF2-40B4-BE49-F238E27FC236}">
                <a16:creationId xmlns:a16="http://schemas.microsoft.com/office/drawing/2014/main" id="{C3E30B96-6D7D-4005-9924-DB88CFD68CB3}"/>
              </a:ext>
            </a:extLst>
          </p:cNvPr>
          <p:cNvSpPr>
            <a:spLocks noGrp="1"/>
          </p:cNvSpPr>
          <p:nvPr/>
        </p:nvSpPr>
        <p:spPr>
          <a:xfrm>
            <a:off x="723900" y="5276850"/>
            <a:ext cx="10439400" cy="581025"/>
          </a:xfrm>
          <a:prstGeom prst="rect">
            <a:avLst/>
          </a:prstGeom>
          <a:noFill/>
          <a:ln w="0">
            <a:noFill/>
            <a:prstDash val="solid"/>
          </a:ln>
        </p:spPr>
        <p:txBody>
          <a:bodyPr wrap="square" lIns="0" tIns="0" rIns="0" bIns="0" anchor="t">
            <a:normAutofit/>
          </a:bodyPr>
          <a:lstStyle>
            <a:defPPr algn="l">
              <a:defRPr sz="1425" b="0">
                <a:solidFill>
                  <a:srgbClr val="5F6973"/>
                </a:solidFill>
                <a:latin typeface="Segoe UI"/>
                <a:ea typeface="Segoe UI"/>
                <a:cs typeface="Segoe UI"/>
              </a:defRPr>
            </a:defPPr>
          </a:lstStyle>
          <a:p>
            <a:pPr algn="l">
              <a:defRPr sz="1425" b="0">
                <a:solidFill>
                  <a:srgbClr val="5F6973"/>
                </a:solidFill>
                <a:latin typeface="Segoe UI"/>
                <a:ea typeface="Segoe UI"/>
                <a:cs typeface="Segoe UI"/>
              </a:defRPr>
            </a:pPr>
            <a:r>
              <a:rPr sz="1425" b="0">
                <a:solidFill>
                  <a:srgbClr val="5F6973"/>
                </a:solidFill>
                <a:latin typeface="Segoe UI"/>
                <a:ea typeface="Segoe UI"/>
                <a:cs typeface="Segoe UI"/>
              </a:rPr>
              <a:t>A word + character TF-IDF transformer and a balanced logistic-regression classifier. The pilot vocabulary has 5,838 sparse features. Missing training classes display “Not trained in this pilot.”</a:t>
            </a:r>
          </a:p>
        </p:txBody>
      </p:sp>
    </p:spTree>
    <p:extLst>
      <p:ext uri="{BB962C8B-B14F-4D97-AF65-F5344CB8AC3E}">
        <p14:creationId xmlns:p14="http://schemas.microsoft.com/office/powerpoint/2010/main" val="3030416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B601AF6-3C26-4B4F-82D1-118FE4EA3D53}"/>
              </a:ext>
            </a:extLst>
          </p:cNvPr>
          <p:cNvSpPr>
            <a:spLocks noGrp="1"/>
          </p:cNvSpPr>
          <p:nvPr/>
        </p:nvSpPr>
        <p:spPr>
          <a:xfrm>
            <a:off x="0" y="0"/>
            <a:ext cx="12192000" cy="95250"/>
          </a:xfrm>
          <a:prstGeom prst="rect">
            <a:avLst/>
          </a:prstGeom>
          <a:solidFill>
            <a:srgbClr val="BC171D"/>
          </a:solidFill>
          <a:ln w="0">
            <a:noFill/>
            <a:prstDash val="solid"/>
          </a:ln>
        </p:spPr>
      </p:sp>
      <p:sp>
        <p:nvSpPr>
          <p:cNvPr id="2" name="title-10">
            <a:extLst>
              <a:ext uri="{FF2B5EF4-FFF2-40B4-BE49-F238E27FC236}">
                <a16:creationId xmlns:a16="http://schemas.microsoft.com/office/drawing/2014/main" id="{C5919873-6BA8-44BD-BF61-82E73D0BA968}"/>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Pilot evaluation and baseline comparison</a:t>
            </a:r>
          </a:p>
        </p:txBody>
      </p:sp>
      <p:sp>
        <p:nvSpPr>
          <p:cNvPr id="3" name="Rectangle 2">
            <a:extLst>
              <a:ext uri="{FF2B5EF4-FFF2-40B4-BE49-F238E27FC236}">
                <a16:creationId xmlns:a16="http://schemas.microsoft.com/office/drawing/2014/main" id="{08A8F010-D678-4C44-B865-F86E40718623}"/>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D4230A0D-4C29-4273-A0A9-AFFB3D4DB79E}"/>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A7CE589A-BB2A-4452-B033-A1F078BE75AA}"/>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EF749EC2-5666-48FD-BF0A-01463964BF01}"/>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sz="975" b="0">
                <a:solidFill>
                  <a:srgbClr val="5F6973"/>
                </a:solidFill>
                <a:latin typeface="Segoe UI"/>
                <a:ea typeface="Segoe UI"/>
                <a:cs typeface="Segoe UI"/>
              </a:rPr>
              <a:t>Om   •   10 / 13</a:t>
            </a:r>
          </a:p>
        </p:txBody>
      </p:sp>
      <p:sp>
        <p:nvSpPr>
          <p:cNvPr id="7" name="Rectangle 6">
            <a:extLst>
              <a:ext uri="{FF2B5EF4-FFF2-40B4-BE49-F238E27FC236}">
                <a16:creationId xmlns:a16="http://schemas.microsoft.com/office/drawing/2014/main" id="{CC6EE8EA-D490-4567-8D45-98CC40484ADC}"/>
              </a:ext>
            </a:extLst>
          </p:cNvPr>
          <p:cNvSpPr>
            <a:spLocks noGrp="1"/>
          </p:cNvSpPr>
          <p:nvPr/>
        </p:nvSpPr>
        <p:spPr>
          <a:xfrm>
            <a:off x="514350" y="1381125"/>
            <a:ext cx="704850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HELD-OUT DJANGO 6.0  |  10 TEST ENTRIES</a:t>
            </a:r>
          </a:p>
        </p:txBody>
      </p:sp>
      <p:graphicFrame>
        <p:nvGraphicFramePr>
          <p:cNvPr id="8" name="Chart">
            <a:extLst>
              <a:ext uri="{FF2B5EF4-FFF2-40B4-BE49-F238E27FC236}">
                <a16:creationId xmlns:a16="http://schemas.microsoft.com/office/drawing/2014/main" id="{0E3426D3-C139-4711-9E3F-17A1727812B8}"/>
              </a:ext>
            </a:extLst>
          </p:cNvPr>
          <p:cNvGraphicFramePr/>
          <p:nvPr/>
        </p:nvGraphicFramePr>
        <p:xfrm>
          <a:off x="514350" y="1752600"/>
          <a:ext cx="7372350" cy="3238500"/>
        </p:xfrm>
        <a:graphic>
          <a:graphicData uri="http://schemas.openxmlformats.org/drawingml/2006/chart">
            <c:chart xmlns:c="http://schemas.openxmlformats.org/drawingml/2006/chart" xmlns:r="http://schemas.openxmlformats.org/officeDocument/2006/relationships" r:id="rId3"/>
          </a:graphicData>
        </a:graphic>
      </p:graphicFrame>
      <p:sp>
        <p:nvSpPr>
          <p:cNvPr id="9" name="Rectangle 8">
            <a:extLst>
              <a:ext uri="{FF2B5EF4-FFF2-40B4-BE49-F238E27FC236}">
                <a16:creationId xmlns:a16="http://schemas.microsoft.com/office/drawing/2014/main" id="{67BDE971-7F3C-4BCA-B9F1-E7BC320D7DB6}"/>
              </a:ext>
            </a:extLst>
          </p:cNvPr>
          <p:cNvSpPr>
            <a:spLocks noGrp="1"/>
          </p:cNvSpPr>
          <p:nvPr/>
        </p:nvSpPr>
        <p:spPr>
          <a:xfrm>
            <a:off x="8201025" y="1752600"/>
            <a:ext cx="3476625" cy="3248025"/>
          </a:xfrm>
          <a:prstGeom prst="rect">
            <a:avLst/>
          </a:prstGeom>
          <a:solidFill>
            <a:srgbClr val="FFFFFF"/>
          </a:solidFill>
          <a:ln w="0">
            <a:noFill/>
            <a:prstDash val="solid"/>
          </a:ln>
        </p:spPr>
      </p:sp>
      <p:sp>
        <p:nvSpPr>
          <p:cNvPr id="10" name="Rectangle 9">
            <a:extLst>
              <a:ext uri="{FF2B5EF4-FFF2-40B4-BE49-F238E27FC236}">
                <a16:creationId xmlns:a16="http://schemas.microsoft.com/office/drawing/2014/main" id="{0C4EB9A8-B8A3-48B6-BB27-2417113B097D}"/>
              </a:ext>
            </a:extLst>
          </p:cNvPr>
          <p:cNvSpPr>
            <a:spLocks noGrp="1"/>
          </p:cNvSpPr>
          <p:nvPr/>
        </p:nvSpPr>
        <p:spPr>
          <a:xfrm>
            <a:off x="8201025" y="1752600"/>
            <a:ext cx="47625" cy="3248025"/>
          </a:xfrm>
          <a:prstGeom prst="rect">
            <a:avLst/>
          </a:prstGeom>
          <a:solidFill>
            <a:srgbClr val="BC171D"/>
          </a:solidFill>
          <a:ln w="0">
            <a:noFill/>
            <a:prstDash val="solid"/>
          </a:ln>
        </p:spPr>
      </p:sp>
      <p:sp>
        <p:nvSpPr>
          <p:cNvPr id="11" name="Rectangle 10">
            <a:extLst>
              <a:ext uri="{FF2B5EF4-FFF2-40B4-BE49-F238E27FC236}">
                <a16:creationId xmlns:a16="http://schemas.microsoft.com/office/drawing/2014/main" id="{D83D299D-772E-4E37-8BCF-9DA779B196DF}"/>
              </a:ext>
            </a:extLst>
          </p:cNvPr>
          <p:cNvSpPr>
            <a:spLocks noGrp="1"/>
          </p:cNvSpPr>
          <p:nvPr/>
        </p:nvSpPr>
        <p:spPr>
          <a:xfrm>
            <a:off x="8420100" y="1971675"/>
            <a:ext cx="2952750" cy="3143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Split and support</a:t>
            </a:r>
          </a:p>
        </p:txBody>
      </p:sp>
      <p:sp>
        <p:nvSpPr>
          <p:cNvPr id="12" name="Rectangle 11">
            <a:extLst>
              <a:ext uri="{FF2B5EF4-FFF2-40B4-BE49-F238E27FC236}">
                <a16:creationId xmlns:a16="http://schemas.microsoft.com/office/drawing/2014/main" id="{D4A5C4CD-589E-4150-8D86-1BAC47E9147B}"/>
              </a:ext>
            </a:extLst>
          </p:cNvPr>
          <p:cNvSpPr>
            <a:spLocks noGrp="1"/>
          </p:cNvSpPr>
          <p:nvPr/>
        </p:nvSpPr>
        <p:spPr>
          <a:xfrm>
            <a:off x="8420100" y="2447925"/>
            <a:ext cx="2952750" cy="514350"/>
          </a:xfrm>
          <a:prstGeom prst="rect">
            <a:avLst/>
          </a:prstGeom>
          <a:noFill/>
          <a:ln w="0">
            <a:noFill/>
            <a:prstDash val="solid"/>
          </a:ln>
        </p:spPr>
        <p:txBody>
          <a:bodyPr wrap="square" lIns="0" tIns="0" rIns="0" bIns="0" anchor="t">
            <a:normAutofit/>
          </a:bodyPr>
          <a:lstStyle>
            <a:defPPr algn="l">
              <a:defRPr sz="1650" b="1">
                <a:solidFill>
                  <a:srgbClr val="BC171D"/>
                </a:solidFill>
                <a:latin typeface="Segoe UI"/>
                <a:ea typeface="Segoe UI"/>
                <a:cs typeface="Segoe UI"/>
              </a:defRPr>
            </a:defPPr>
          </a:lstStyle>
          <a:p>
            <a:pPr algn="l">
              <a:defRPr sz="1650" b="1">
                <a:solidFill>
                  <a:srgbClr val="BC171D"/>
                </a:solidFill>
                <a:latin typeface="Segoe UI"/>
                <a:ea typeface="Segoe UI"/>
                <a:cs typeface="Segoe UI"/>
              </a:defRPr>
            </a:pPr>
            <a:r>
              <a:rPr sz="1650" b="1">
                <a:solidFill>
                  <a:srgbClr val="BC171D"/>
                </a:solidFill>
                <a:latin typeface="Segoe UI"/>
                <a:ea typeface="Segoe UI"/>
                <a:cs typeface="Segoe UI"/>
              </a:rPr>
              <a:t>Train  30  |  Dev  9  |  Test  10</a:t>
            </a:r>
          </a:p>
        </p:txBody>
      </p:sp>
      <p:sp>
        <p:nvSpPr>
          <p:cNvPr id="13" name="Rectangle 12">
            <a:extLst>
              <a:ext uri="{FF2B5EF4-FFF2-40B4-BE49-F238E27FC236}">
                <a16:creationId xmlns:a16="http://schemas.microsoft.com/office/drawing/2014/main" id="{38D2CA51-8F6B-4077-AC3E-9CFE3A38B0BC}"/>
              </a:ext>
            </a:extLst>
          </p:cNvPr>
          <p:cNvSpPr>
            <a:spLocks noGrp="1"/>
          </p:cNvSpPr>
          <p:nvPr/>
        </p:nvSpPr>
        <p:spPr>
          <a:xfrm>
            <a:off x="8420100" y="3105150"/>
            <a:ext cx="2952750" cy="1009650"/>
          </a:xfrm>
          <a:prstGeom prst="rect">
            <a:avLst/>
          </a:prstGeom>
          <a:noFill/>
          <a:ln w="0">
            <a:noFill/>
            <a:prstDash val="solid"/>
          </a:ln>
        </p:spPr>
        <p:txBody>
          <a:bodyPr wrap="square" lIns="0" tIns="0" rIns="0" bIns="0" anchor="t">
            <a:normAutofit/>
          </a:bodyPr>
          <a:lstStyle>
            <a:defPPr algn="l">
              <a:defRPr sz="1425" b="0">
                <a:solidFill>
                  <a:srgbClr val="20252B"/>
                </a:solidFill>
                <a:latin typeface="Segoe UI"/>
                <a:ea typeface="Segoe UI"/>
                <a:cs typeface="Segoe UI"/>
              </a:defRPr>
            </a:defPPr>
          </a:lstStyle>
          <a:p>
            <a:pPr algn="l">
              <a:defRPr sz="1425" b="0">
                <a:solidFill>
                  <a:srgbClr val="20252B"/>
                </a:solidFill>
                <a:latin typeface="Segoe UI"/>
                <a:ea typeface="Segoe UI"/>
                <a:cs typeface="Segoe UI"/>
              </a:defRPr>
            </a:pPr>
            <a:r>
              <a:rPr sz="1425" b="0">
                <a:solidFill>
                  <a:srgbClr val="20252B"/>
                </a:solidFill>
                <a:latin typeface="Segoe UI"/>
                <a:ea typeface="Segoe UI"/>
                <a:cs typeface="Segoe UI"/>
              </a:rPr>
              <a:t>49 usable labels across four observed classes. “No targeted check stated” has zero examples.</a:t>
            </a:r>
          </a:p>
        </p:txBody>
      </p:sp>
      <p:sp>
        <p:nvSpPr>
          <p:cNvPr id="14" name="Rectangle 13">
            <a:extLst>
              <a:ext uri="{FF2B5EF4-FFF2-40B4-BE49-F238E27FC236}">
                <a16:creationId xmlns:a16="http://schemas.microsoft.com/office/drawing/2014/main" id="{989F34AA-A93B-4A4B-A057-A8006F6EF06D}"/>
              </a:ext>
            </a:extLst>
          </p:cNvPr>
          <p:cNvSpPr>
            <a:spLocks noGrp="1"/>
          </p:cNvSpPr>
          <p:nvPr/>
        </p:nvSpPr>
        <p:spPr>
          <a:xfrm>
            <a:off x="8420100" y="4381500"/>
            <a:ext cx="2952750" cy="342900"/>
          </a:xfrm>
          <a:prstGeom prst="rect">
            <a:avLst/>
          </a:prstGeom>
          <a:noFill/>
          <a:ln w="0">
            <a:noFill/>
            <a:prstDash val="solid"/>
          </a:ln>
        </p:spPr>
        <p:txBody>
          <a:bodyPr wrap="square" lIns="0" tIns="0" rIns="0" bIns="0" anchor="t">
            <a:normAutofit/>
          </a:bodyPr>
          <a:lstStyle>
            <a:defPPr algn="l">
              <a:defRPr sz="1500" b="1">
                <a:solidFill>
                  <a:srgbClr val="BC171D"/>
                </a:solidFill>
                <a:latin typeface="Segoe UI"/>
                <a:ea typeface="Segoe UI"/>
                <a:cs typeface="Segoe UI"/>
              </a:defRPr>
            </a:defPPr>
          </a:lstStyle>
          <a:p>
            <a:pPr algn="l">
              <a:defRPr sz="1500" b="1">
                <a:solidFill>
                  <a:srgbClr val="BC171D"/>
                </a:solidFill>
                <a:latin typeface="Segoe UI"/>
                <a:ea typeface="Segoe UI"/>
                <a:cs typeface="Segoe UI"/>
              </a:defRPr>
            </a:pPr>
            <a:r>
              <a:rPr sz="1500" b="1">
                <a:solidFill>
                  <a:srgbClr val="BC171D"/>
                </a:solidFill>
                <a:latin typeface="Segoe UI"/>
                <a:ea typeface="Segoe UI"/>
                <a:cs typeface="Segoe UI"/>
              </a:rPr>
              <a:t>Result status: pilot</a:t>
            </a:r>
          </a:p>
        </p:txBody>
      </p:sp>
      <p:sp>
        <p:nvSpPr>
          <p:cNvPr id="15" name="Rectangle 14">
            <a:extLst>
              <a:ext uri="{FF2B5EF4-FFF2-40B4-BE49-F238E27FC236}">
                <a16:creationId xmlns:a16="http://schemas.microsoft.com/office/drawing/2014/main" id="{2789ACA4-0B9C-4D4F-86D2-FBAAE52532D9}"/>
              </a:ext>
            </a:extLst>
          </p:cNvPr>
          <p:cNvSpPr>
            <a:spLocks noGrp="1"/>
          </p:cNvSpPr>
          <p:nvPr/>
        </p:nvSpPr>
        <p:spPr>
          <a:xfrm>
            <a:off x="514350" y="5314950"/>
            <a:ext cx="11096625" cy="419100"/>
          </a:xfrm>
          <a:prstGeom prst="rect">
            <a:avLst/>
          </a:prstGeom>
          <a:noFill/>
          <a:ln w="0">
            <a:noFill/>
            <a:prstDash val="solid"/>
          </a:ln>
        </p:spPr>
        <p:txBody>
          <a:bodyPr wrap="square" lIns="0" tIns="0" rIns="0" bIns="0" anchor="t">
            <a:normAutofit/>
          </a:bodyPr>
          <a:lstStyle>
            <a:defPPr algn="l">
              <a:defRPr sz="1725" b="1">
                <a:solidFill>
                  <a:srgbClr val="20252B"/>
                </a:solidFill>
                <a:latin typeface="Segoe UI"/>
                <a:ea typeface="Segoe UI"/>
                <a:cs typeface="Segoe UI"/>
              </a:defRPr>
            </a:defPPr>
          </a:lstStyle>
          <a:p>
            <a:pPr algn="l">
              <a:defRPr sz="1725" b="1">
                <a:solidFill>
                  <a:srgbClr val="20252B"/>
                </a:solidFill>
                <a:latin typeface="Segoe UI"/>
                <a:ea typeface="Segoe UI"/>
                <a:cs typeface="Segoe UI"/>
              </a:defRPr>
            </a:pPr>
            <a:r>
              <a:rPr sz="1725" b="1">
                <a:solidFill>
                  <a:srgbClr val="20252B"/>
                </a:solidFill>
                <a:latin typeface="Segoe UI"/>
                <a:ea typeface="Segoe UI"/>
                <a:cs typeface="Segoe UI"/>
              </a:rPr>
              <a:t>The trained model does not beat the keyword baseline on macro-F1.</a:t>
            </a:r>
          </a:p>
        </p:txBody>
      </p:sp>
      <p:sp>
        <p:nvSpPr>
          <p:cNvPr id="16" name="Rectangle 15">
            <a:extLst>
              <a:ext uri="{FF2B5EF4-FFF2-40B4-BE49-F238E27FC236}">
                <a16:creationId xmlns:a16="http://schemas.microsoft.com/office/drawing/2014/main" id="{C086AC27-9071-4428-9DF2-29D7009A88F2}"/>
              </a:ext>
            </a:extLst>
          </p:cNvPr>
          <p:cNvSpPr>
            <a:spLocks noGrp="1"/>
          </p:cNvSpPr>
          <p:nvPr/>
        </p:nvSpPr>
        <p:spPr>
          <a:xfrm>
            <a:off x="514350" y="5791200"/>
            <a:ext cx="11096625" cy="3238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Scores measure agreement with reviewed labels. They do not prove upgrade safety or generalization.</a:t>
            </a:r>
          </a:p>
        </p:txBody>
      </p:sp>
    </p:spTree>
    <p:extLst>
      <p:ext uri="{BB962C8B-B14F-4D97-AF65-F5344CB8AC3E}">
        <p14:creationId xmlns:p14="http://schemas.microsoft.com/office/powerpoint/2010/main" val="125574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D4A9C76C-89DC-405F-A2DB-9AA5668A92D6}"/>
              </a:ext>
            </a:extLst>
          </p:cNvPr>
          <p:cNvSpPr>
            <a:spLocks noGrp="1"/>
          </p:cNvSpPr>
          <p:nvPr/>
        </p:nvSpPr>
        <p:spPr>
          <a:xfrm>
            <a:off x="0" y="0"/>
            <a:ext cx="12192000" cy="95250"/>
          </a:xfrm>
          <a:prstGeom prst="rect">
            <a:avLst/>
          </a:prstGeom>
          <a:solidFill>
            <a:srgbClr val="BC171D"/>
          </a:solidFill>
          <a:ln w="0">
            <a:noFill/>
            <a:prstDash val="solid"/>
          </a:ln>
        </p:spPr>
      </p:sp>
      <p:sp>
        <p:nvSpPr>
          <p:cNvPr id="2" name="title-11">
            <a:extLst>
              <a:ext uri="{FF2B5EF4-FFF2-40B4-BE49-F238E27FC236}">
                <a16:creationId xmlns:a16="http://schemas.microsoft.com/office/drawing/2014/main" id="{BAD47519-D69D-4C8C-8E10-2E359B561718}"/>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Live MVP demonstration</a:t>
            </a:r>
          </a:p>
        </p:txBody>
      </p:sp>
      <p:sp>
        <p:nvSpPr>
          <p:cNvPr id="3" name="Rectangle 2">
            <a:extLst>
              <a:ext uri="{FF2B5EF4-FFF2-40B4-BE49-F238E27FC236}">
                <a16:creationId xmlns:a16="http://schemas.microsoft.com/office/drawing/2014/main" id="{CFD46250-7723-4C00-BE39-A34055F574E0}"/>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CC8289A5-A586-44B7-B101-2A102F0FC60E}"/>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AFA1C17E-6BC9-439B-96EE-A7C7303ECC94}"/>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39D0BB1E-E81F-49B8-BF52-A001DB568C82}"/>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sz="975" b="0">
                <a:solidFill>
                  <a:srgbClr val="5F6973"/>
                </a:solidFill>
                <a:latin typeface="Segoe UI"/>
                <a:ea typeface="Segoe UI"/>
                <a:cs typeface="Segoe UI"/>
              </a:rPr>
              <a:t>Tilaksinh   •   11 / 13</a:t>
            </a:r>
          </a:p>
        </p:txBody>
      </p:sp>
      <p:sp>
        <p:nvSpPr>
          <p:cNvPr id="7" name="Rectangle 6">
            <a:extLst>
              <a:ext uri="{FF2B5EF4-FFF2-40B4-BE49-F238E27FC236}">
                <a16:creationId xmlns:a16="http://schemas.microsoft.com/office/drawing/2014/main" id="{91E653DF-B534-42D1-B22E-2829A680AF81}"/>
              </a:ext>
            </a:extLst>
          </p:cNvPr>
          <p:cNvSpPr>
            <a:spLocks noGrp="1"/>
          </p:cNvSpPr>
          <p:nvPr/>
        </p:nvSpPr>
        <p:spPr>
          <a:xfrm>
            <a:off x="514350" y="1428750"/>
            <a:ext cx="11163300" cy="1057275"/>
          </a:xfrm>
          <a:prstGeom prst="rect">
            <a:avLst/>
          </a:prstGeom>
          <a:solidFill>
            <a:srgbClr val="EEE9E3"/>
          </a:solidFill>
          <a:ln w="0">
            <a:noFill/>
            <a:prstDash val="solid"/>
          </a:ln>
        </p:spPr>
      </p:sp>
      <p:sp>
        <p:nvSpPr>
          <p:cNvPr id="8" name="Rectangle 7">
            <a:extLst>
              <a:ext uri="{FF2B5EF4-FFF2-40B4-BE49-F238E27FC236}">
                <a16:creationId xmlns:a16="http://schemas.microsoft.com/office/drawing/2014/main" id="{1085AA5F-354C-45B9-BD46-7F59A706B329}"/>
              </a:ext>
            </a:extLst>
          </p:cNvPr>
          <p:cNvSpPr>
            <a:spLocks noGrp="1"/>
          </p:cNvSpPr>
          <p:nvPr/>
        </p:nvSpPr>
        <p:spPr>
          <a:xfrm>
            <a:off x="514350" y="1428750"/>
            <a:ext cx="47625" cy="1057275"/>
          </a:xfrm>
          <a:prstGeom prst="rect">
            <a:avLst/>
          </a:prstGeom>
          <a:solidFill>
            <a:srgbClr val="BC171D"/>
          </a:solidFill>
          <a:ln w="0">
            <a:noFill/>
            <a:prstDash val="solid"/>
          </a:ln>
        </p:spPr>
      </p:sp>
      <p:sp>
        <p:nvSpPr>
          <p:cNvPr id="9" name="Rectangle 8">
            <a:extLst>
              <a:ext uri="{FF2B5EF4-FFF2-40B4-BE49-F238E27FC236}">
                <a16:creationId xmlns:a16="http://schemas.microsoft.com/office/drawing/2014/main" id="{C7498536-B0D4-4FCB-960D-A6D44213EAE8}"/>
              </a:ext>
            </a:extLst>
          </p:cNvPr>
          <p:cNvSpPr>
            <a:spLocks noGrp="1"/>
          </p:cNvSpPr>
          <p:nvPr/>
        </p:nvSpPr>
        <p:spPr>
          <a:xfrm>
            <a:off x="704850" y="1552575"/>
            <a:ext cx="10829925" cy="238125"/>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START FROM THE PROJECT ROOT</a:t>
            </a:r>
          </a:p>
        </p:txBody>
      </p:sp>
      <p:sp>
        <p:nvSpPr>
          <p:cNvPr id="10" name="Rectangle 9">
            <a:extLst>
              <a:ext uri="{FF2B5EF4-FFF2-40B4-BE49-F238E27FC236}">
                <a16:creationId xmlns:a16="http://schemas.microsoft.com/office/drawing/2014/main" id="{C9DFD69B-64A6-4F78-BCB3-B5131779283F}"/>
              </a:ext>
            </a:extLst>
          </p:cNvPr>
          <p:cNvSpPr>
            <a:spLocks noGrp="1"/>
          </p:cNvSpPr>
          <p:nvPr/>
        </p:nvSpPr>
        <p:spPr>
          <a:xfrm>
            <a:off x="704850" y="1876425"/>
            <a:ext cx="10810875" cy="485775"/>
          </a:xfrm>
          <a:prstGeom prst="rect">
            <a:avLst/>
          </a:prstGeom>
          <a:noFill/>
          <a:ln w="0">
            <a:noFill/>
            <a:prstDash val="solid"/>
          </a:ln>
        </p:spPr>
        <p:txBody>
          <a:bodyPr wrap="square" lIns="0" tIns="0" rIns="0" bIns="0" anchor="t">
            <a:normAutofit/>
          </a:bodyPr>
          <a:lstStyle>
            <a:defPPr algn="l">
              <a:defRPr sz="1275" b="0">
                <a:solidFill>
                  <a:srgbClr val="20252B"/>
                </a:solidFill>
                <a:latin typeface="Consolas"/>
                <a:ea typeface="Consolas"/>
                <a:cs typeface="Consolas"/>
              </a:defRPr>
            </a:defPPr>
          </a:lstStyle>
          <a:p>
            <a:pPr algn="l">
              <a:defRPr sz="1275" b="0">
                <a:solidFill>
                  <a:srgbClr val="20252B"/>
                </a:solidFill>
                <a:latin typeface="Consolas"/>
                <a:ea typeface="Consolas"/>
                <a:cs typeface="Consolas"/>
              </a:defRPr>
            </a:pPr>
            <a:r>
              <a:rPr sz="1275" b="0">
                <a:solidFill>
                  <a:srgbClr val="20252B"/>
                </a:solidFill>
                <a:latin typeface="Consolas"/>
                <a:ea typeface="Consolas"/>
                <a:cs typeface="Consolas"/>
              </a:rPr>
              <a:t>.\.venv\Scripts\python.exe -m streamlit run app.py</a:t>
            </a:r>
          </a:p>
        </p:txBody>
      </p:sp>
      <p:sp>
        <p:nvSpPr>
          <p:cNvPr id="11" name="Rectangle 10">
            <a:extLst>
              <a:ext uri="{FF2B5EF4-FFF2-40B4-BE49-F238E27FC236}">
                <a16:creationId xmlns:a16="http://schemas.microsoft.com/office/drawing/2014/main" id="{4E0B35AD-74DE-4057-BD85-2DE19D226101}"/>
              </a:ext>
            </a:extLst>
          </p:cNvPr>
          <p:cNvSpPr>
            <a:spLocks noGrp="1"/>
          </p:cNvSpPr>
          <p:nvPr/>
        </p:nvSpPr>
        <p:spPr>
          <a:xfrm>
            <a:off x="514350" y="2771775"/>
            <a:ext cx="514350" cy="533400"/>
          </a:xfrm>
          <a:prstGeom prst="rect">
            <a:avLst/>
          </a:prstGeom>
          <a:noFill/>
          <a:ln w="0">
            <a:noFill/>
            <a:prstDash val="solid"/>
          </a:ln>
        </p:spPr>
        <p:txBody>
          <a:bodyPr wrap="square" lIns="0" tIns="0" rIns="0" bIns="0" anchor="t">
            <a:normAutofit/>
          </a:bodyPr>
          <a:lstStyle>
            <a:defPPr algn="l">
              <a:defRPr sz="2550" b="1">
                <a:solidFill>
                  <a:srgbClr val="BC171D"/>
                </a:solidFill>
                <a:latin typeface="Bahnschrift"/>
                <a:ea typeface="Bahnschrift"/>
                <a:cs typeface="Bahnschrift"/>
              </a:defRPr>
            </a:defPPr>
          </a:lstStyle>
          <a:p>
            <a:pPr algn="l">
              <a:defRPr sz="2550" b="1">
                <a:solidFill>
                  <a:srgbClr val="BC171D"/>
                </a:solidFill>
                <a:latin typeface="Bahnschrift"/>
                <a:ea typeface="Bahnschrift"/>
                <a:cs typeface="Bahnschrift"/>
              </a:defRPr>
            </a:pPr>
            <a:r>
              <a:rPr sz="2550" b="1">
                <a:solidFill>
                  <a:srgbClr val="BC171D"/>
                </a:solidFill>
                <a:latin typeface="Bahnschrift"/>
                <a:ea typeface="Bahnschrift"/>
                <a:cs typeface="Bahnschrift"/>
              </a:rPr>
              <a:t>1</a:t>
            </a:r>
          </a:p>
        </p:txBody>
      </p:sp>
      <p:sp>
        <p:nvSpPr>
          <p:cNvPr id="12" name="Rectangle 11">
            <a:extLst>
              <a:ext uri="{FF2B5EF4-FFF2-40B4-BE49-F238E27FC236}">
                <a16:creationId xmlns:a16="http://schemas.microsoft.com/office/drawing/2014/main" id="{B42631C3-DD8E-4C74-9493-3A85E3543BDA}"/>
              </a:ext>
            </a:extLst>
          </p:cNvPr>
          <p:cNvSpPr>
            <a:spLocks noGrp="1"/>
          </p:cNvSpPr>
          <p:nvPr/>
        </p:nvSpPr>
        <p:spPr>
          <a:xfrm>
            <a:off x="1143000" y="2790825"/>
            <a:ext cx="2762250" cy="3524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Guided annotation</a:t>
            </a:r>
          </a:p>
        </p:txBody>
      </p:sp>
      <p:sp>
        <p:nvSpPr>
          <p:cNvPr id="13" name="Rectangle 12">
            <a:extLst>
              <a:ext uri="{FF2B5EF4-FFF2-40B4-BE49-F238E27FC236}">
                <a16:creationId xmlns:a16="http://schemas.microsoft.com/office/drawing/2014/main" id="{21DD4273-6011-428C-8175-1D857C3F87EE}"/>
              </a:ext>
            </a:extLst>
          </p:cNvPr>
          <p:cNvSpPr>
            <a:spLocks noGrp="1"/>
          </p:cNvSpPr>
          <p:nvPr/>
        </p:nvSpPr>
        <p:spPr>
          <a:xfrm>
            <a:off x="3952875" y="2781300"/>
            <a:ext cx="7334250" cy="590550"/>
          </a:xfrm>
          <a:prstGeom prst="rect">
            <a:avLst/>
          </a:prstGeom>
          <a:noFill/>
          <a:ln w="0">
            <a:noFill/>
            <a:prstDash val="solid"/>
          </a:ln>
        </p:spPr>
        <p:txBody>
          <a:bodyPr wrap="square" lIns="0" tIns="0" rIns="0" bIns="0" anchor="t">
            <a:normAutofit/>
          </a:bodyPr>
          <a:lstStyle>
            <a:defPPr algn="l">
              <a:defRPr sz="1425" b="0">
                <a:solidFill>
                  <a:srgbClr val="5F6973"/>
                </a:solidFill>
                <a:latin typeface="Segoe UI"/>
                <a:ea typeface="Segoe UI"/>
                <a:cs typeface="Segoe UI"/>
              </a:defRPr>
            </a:defPPr>
          </a:lstStyle>
          <a:p>
            <a:pPr algn="l">
              <a:defRPr sz="1425" b="0">
                <a:solidFill>
                  <a:srgbClr val="5F6973"/>
                </a:solidFill>
                <a:latin typeface="Segoe UI"/>
                <a:ea typeface="Segoe UI"/>
                <a:cs typeface="Segoe UI"/>
              </a:defRPr>
            </a:pPr>
            <a:r>
              <a:rPr sz="1425" b="0">
                <a:solidFill>
                  <a:srgbClr val="5F6973"/>
                </a:solidFill>
                <a:latin typeface="Segoe UI"/>
                <a:ea typeface="Segoe UI"/>
                <a:cs typeface="Segoe UI"/>
              </a:rPr>
              <a:t>Show 50 / 50 reviewed and revisit one saved note.</a:t>
            </a:r>
          </a:p>
        </p:txBody>
      </p:sp>
      <p:sp>
        <p:nvSpPr>
          <p:cNvPr id="14" name="Rectangle 13">
            <a:extLst>
              <a:ext uri="{FF2B5EF4-FFF2-40B4-BE49-F238E27FC236}">
                <a16:creationId xmlns:a16="http://schemas.microsoft.com/office/drawing/2014/main" id="{F0CD4AC7-1FE8-492B-9052-F876986363CA}"/>
              </a:ext>
            </a:extLst>
          </p:cNvPr>
          <p:cNvSpPr>
            <a:spLocks noGrp="1"/>
          </p:cNvSpPr>
          <p:nvPr/>
        </p:nvSpPr>
        <p:spPr>
          <a:xfrm>
            <a:off x="514350" y="3533775"/>
            <a:ext cx="11163300" cy="9525"/>
          </a:xfrm>
          <a:prstGeom prst="rect">
            <a:avLst/>
          </a:prstGeom>
          <a:solidFill>
            <a:srgbClr val="E6E0D8"/>
          </a:solidFill>
          <a:ln w="0">
            <a:noFill/>
            <a:prstDash val="solid"/>
          </a:ln>
        </p:spPr>
      </p:sp>
      <p:sp>
        <p:nvSpPr>
          <p:cNvPr id="15" name="Rectangle 14">
            <a:extLst>
              <a:ext uri="{FF2B5EF4-FFF2-40B4-BE49-F238E27FC236}">
                <a16:creationId xmlns:a16="http://schemas.microsoft.com/office/drawing/2014/main" id="{844D8BE2-89D7-4183-B94B-3B559CF9D041}"/>
              </a:ext>
            </a:extLst>
          </p:cNvPr>
          <p:cNvSpPr>
            <a:spLocks noGrp="1"/>
          </p:cNvSpPr>
          <p:nvPr/>
        </p:nvSpPr>
        <p:spPr>
          <a:xfrm>
            <a:off x="514350" y="3667125"/>
            <a:ext cx="514350" cy="533400"/>
          </a:xfrm>
          <a:prstGeom prst="rect">
            <a:avLst/>
          </a:prstGeom>
          <a:noFill/>
          <a:ln w="0">
            <a:noFill/>
            <a:prstDash val="solid"/>
          </a:ln>
        </p:spPr>
        <p:txBody>
          <a:bodyPr wrap="square" lIns="0" tIns="0" rIns="0" bIns="0" anchor="t">
            <a:normAutofit/>
          </a:bodyPr>
          <a:lstStyle>
            <a:defPPr algn="l">
              <a:defRPr sz="2550" b="1">
                <a:solidFill>
                  <a:srgbClr val="BC171D"/>
                </a:solidFill>
                <a:latin typeface="Bahnschrift"/>
                <a:ea typeface="Bahnschrift"/>
                <a:cs typeface="Bahnschrift"/>
              </a:defRPr>
            </a:defPPr>
          </a:lstStyle>
          <a:p>
            <a:pPr algn="l">
              <a:defRPr sz="2550" b="1">
                <a:solidFill>
                  <a:srgbClr val="BC171D"/>
                </a:solidFill>
                <a:latin typeface="Bahnschrift"/>
                <a:ea typeface="Bahnschrift"/>
                <a:cs typeface="Bahnschrift"/>
              </a:defRPr>
            </a:pPr>
            <a:r>
              <a:rPr sz="2550" b="1">
                <a:solidFill>
                  <a:srgbClr val="BC171D"/>
                </a:solidFill>
                <a:latin typeface="Bahnschrift"/>
                <a:ea typeface="Bahnschrift"/>
                <a:cs typeface="Bahnschrift"/>
              </a:rPr>
              <a:t>2</a:t>
            </a:r>
          </a:p>
        </p:txBody>
      </p:sp>
      <p:sp>
        <p:nvSpPr>
          <p:cNvPr id="16" name="Rectangle 15">
            <a:extLst>
              <a:ext uri="{FF2B5EF4-FFF2-40B4-BE49-F238E27FC236}">
                <a16:creationId xmlns:a16="http://schemas.microsoft.com/office/drawing/2014/main" id="{71480E74-F62A-4EF3-B1B9-372CF4887C98}"/>
              </a:ext>
            </a:extLst>
          </p:cNvPr>
          <p:cNvSpPr>
            <a:spLocks noGrp="1"/>
          </p:cNvSpPr>
          <p:nvPr/>
        </p:nvSpPr>
        <p:spPr>
          <a:xfrm>
            <a:off x="1143000" y="3686175"/>
            <a:ext cx="2762250" cy="3524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Prediction review</a:t>
            </a:r>
          </a:p>
        </p:txBody>
      </p:sp>
      <p:sp>
        <p:nvSpPr>
          <p:cNvPr id="17" name="Rectangle 16">
            <a:extLst>
              <a:ext uri="{FF2B5EF4-FFF2-40B4-BE49-F238E27FC236}">
                <a16:creationId xmlns:a16="http://schemas.microsoft.com/office/drawing/2014/main" id="{AC19B82A-990F-4A44-9B30-E7F9BD725F3B}"/>
              </a:ext>
            </a:extLst>
          </p:cNvPr>
          <p:cNvSpPr>
            <a:spLocks noGrp="1"/>
          </p:cNvSpPr>
          <p:nvPr/>
        </p:nvSpPr>
        <p:spPr>
          <a:xfrm>
            <a:off x="3952875" y="3676650"/>
            <a:ext cx="7334250" cy="590550"/>
          </a:xfrm>
          <a:prstGeom prst="rect">
            <a:avLst/>
          </a:prstGeom>
          <a:noFill/>
          <a:ln w="0">
            <a:noFill/>
            <a:prstDash val="solid"/>
          </a:ln>
        </p:spPr>
        <p:txBody>
          <a:bodyPr wrap="square" lIns="0" tIns="0" rIns="0" bIns="0" anchor="t">
            <a:normAutofit/>
          </a:bodyPr>
          <a:lstStyle>
            <a:defPPr algn="l">
              <a:defRPr sz="1425" b="0">
                <a:solidFill>
                  <a:srgbClr val="5F6973"/>
                </a:solidFill>
                <a:latin typeface="Segoe UI"/>
                <a:ea typeface="Segoe UI"/>
                <a:cs typeface="Segoe UI"/>
              </a:defRPr>
            </a:defPPr>
          </a:lstStyle>
          <a:p>
            <a:pPr algn="l">
              <a:defRPr sz="1425" b="0">
                <a:solidFill>
                  <a:srgbClr val="5F6973"/>
                </a:solidFill>
                <a:latin typeface="Segoe UI"/>
                <a:ea typeface="Segoe UI"/>
                <a:cs typeface="Segoe UI"/>
              </a:defRPr>
            </a:pPr>
            <a:r>
              <a:rPr sz="1425" b="0">
                <a:solidFill>
                  <a:srgbClr val="5F6973"/>
                </a:solidFill>
                <a:latin typeface="Segoe UI"/>
                <a:ea typeface="Segoe UI"/>
                <a:cs typeface="Segoe UI"/>
              </a:rPr>
              <a:t>Paste the SQLite minimum-version sentence.</a:t>
            </a:r>
          </a:p>
        </p:txBody>
      </p:sp>
      <p:sp>
        <p:nvSpPr>
          <p:cNvPr id="18" name="Rectangle 17">
            <a:extLst>
              <a:ext uri="{FF2B5EF4-FFF2-40B4-BE49-F238E27FC236}">
                <a16:creationId xmlns:a16="http://schemas.microsoft.com/office/drawing/2014/main" id="{3E5469AA-AF06-4783-B723-BF5663854C7D}"/>
              </a:ext>
            </a:extLst>
          </p:cNvPr>
          <p:cNvSpPr>
            <a:spLocks noGrp="1"/>
          </p:cNvSpPr>
          <p:nvPr/>
        </p:nvSpPr>
        <p:spPr>
          <a:xfrm>
            <a:off x="514350" y="4429125"/>
            <a:ext cx="11163300" cy="9525"/>
          </a:xfrm>
          <a:prstGeom prst="rect">
            <a:avLst/>
          </a:prstGeom>
          <a:solidFill>
            <a:srgbClr val="E6E0D8"/>
          </a:solidFill>
          <a:ln w="0">
            <a:noFill/>
            <a:prstDash val="solid"/>
          </a:ln>
        </p:spPr>
      </p:sp>
      <p:sp>
        <p:nvSpPr>
          <p:cNvPr id="19" name="Rectangle 18">
            <a:extLst>
              <a:ext uri="{FF2B5EF4-FFF2-40B4-BE49-F238E27FC236}">
                <a16:creationId xmlns:a16="http://schemas.microsoft.com/office/drawing/2014/main" id="{99D6A5CE-8B02-42F0-9B40-B1E244CE82FF}"/>
              </a:ext>
            </a:extLst>
          </p:cNvPr>
          <p:cNvSpPr>
            <a:spLocks noGrp="1"/>
          </p:cNvSpPr>
          <p:nvPr/>
        </p:nvSpPr>
        <p:spPr>
          <a:xfrm>
            <a:off x="514350" y="4562475"/>
            <a:ext cx="514350" cy="533400"/>
          </a:xfrm>
          <a:prstGeom prst="rect">
            <a:avLst/>
          </a:prstGeom>
          <a:noFill/>
          <a:ln w="0">
            <a:noFill/>
            <a:prstDash val="solid"/>
          </a:ln>
        </p:spPr>
        <p:txBody>
          <a:bodyPr wrap="square" lIns="0" tIns="0" rIns="0" bIns="0" anchor="t">
            <a:normAutofit/>
          </a:bodyPr>
          <a:lstStyle>
            <a:defPPr algn="l">
              <a:defRPr sz="2550" b="1">
                <a:solidFill>
                  <a:srgbClr val="BC171D"/>
                </a:solidFill>
                <a:latin typeface="Bahnschrift"/>
                <a:ea typeface="Bahnschrift"/>
                <a:cs typeface="Bahnschrift"/>
              </a:defRPr>
            </a:defPPr>
          </a:lstStyle>
          <a:p>
            <a:pPr algn="l">
              <a:defRPr sz="2550" b="1">
                <a:solidFill>
                  <a:srgbClr val="BC171D"/>
                </a:solidFill>
                <a:latin typeface="Bahnschrift"/>
                <a:ea typeface="Bahnschrift"/>
                <a:cs typeface="Bahnschrift"/>
              </a:defRPr>
            </a:pPr>
            <a:r>
              <a:rPr sz="2550" b="1">
                <a:solidFill>
                  <a:srgbClr val="BC171D"/>
                </a:solidFill>
                <a:latin typeface="Bahnschrift"/>
                <a:ea typeface="Bahnschrift"/>
                <a:cs typeface="Bahnschrift"/>
              </a:rPr>
              <a:t>3</a:t>
            </a:r>
          </a:p>
        </p:txBody>
      </p:sp>
      <p:sp>
        <p:nvSpPr>
          <p:cNvPr id="20" name="Rectangle 19">
            <a:extLst>
              <a:ext uri="{FF2B5EF4-FFF2-40B4-BE49-F238E27FC236}">
                <a16:creationId xmlns:a16="http://schemas.microsoft.com/office/drawing/2014/main" id="{C1767521-3D63-496C-9A1F-4FEDAA71E111}"/>
              </a:ext>
            </a:extLst>
          </p:cNvPr>
          <p:cNvSpPr>
            <a:spLocks noGrp="1"/>
          </p:cNvSpPr>
          <p:nvPr/>
        </p:nvSpPr>
        <p:spPr>
          <a:xfrm>
            <a:off x="1143000" y="4581525"/>
            <a:ext cx="2762250" cy="352425"/>
          </a:xfrm>
          <a:prstGeom prst="rect">
            <a:avLst/>
          </a:prstGeom>
          <a:noFill/>
          <a:ln w="0">
            <a:noFill/>
            <a:prstDash val="solid"/>
          </a:ln>
        </p:spPr>
        <p:txBody>
          <a:bodyPr wrap="square" lIns="0" tIns="0" rIns="0" bIns="0" anchor="t">
            <a:normAutofit/>
          </a:bodyPr>
          <a:lstStyle>
            <a:defPPr algn="l">
              <a:defRPr sz="1650" b="1">
                <a:solidFill>
                  <a:srgbClr val="20252B"/>
                </a:solidFill>
                <a:latin typeface="Segoe UI"/>
                <a:ea typeface="Segoe UI"/>
                <a:cs typeface="Segoe UI"/>
              </a:defRPr>
            </a:defPPr>
          </a:lstStyle>
          <a:p>
            <a:pPr algn="l">
              <a:defRPr sz="1650" b="1">
                <a:solidFill>
                  <a:srgbClr val="20252B"/>
                </a:solidFill>
                <a:latin typeface="Segoe UI"/>
                <a:ea typeface="Segoe UI"/>
                <a:cs typeface="Segoe UI"/>
              </a:defRPr>
            </a:pPr>
            <a:r>
              <a:rPr sz="1650" b="1">
                <a:solidFill>
                  <a:srgbClr val="20252B"/>
                </a:solidFill>
                <a:latin typeface="Segoe UI"/>
                <a:ea typeface="Segoe UI"/>
                <a:cs typeface="Segoe UI"/>
              </a:rPr>
              <a:t>Read the result</a:t>
            </a:r>
          </a:p>
        </p:txBody>
      </p:sp>
      <p:sp>
        <p:nvSpPr>
          <p:cNvPr id="21" name="Rectangle 20">
            <a:extLst>
              <a:ext uri="{FF2B5EF4-FFF2-40B4-BE49-F238E27FC236}">
                <a16:creationId xmlns:a16="http://schemas.microsoft.com/office/drawing/2014/main" id="{1187477A-7B96-4B8A-83AD-1070C0794C1D}"/>
              </a:ext>
            </a:extLst>
          </p:cNvPr>
          <p:cNvSpPr>
            <a:spLocks noGrp="1"/>
          </p:cNvSpPr>
          <p:nvPr/>
        </p:nvSpPr>
        <p:spPr>
          <a:xfrm>
            <a:off x="3952875" y="4572000"/>
            <a:ext cx="7334250" cy="590550"/>
          </a:xfrm>
          <a:prstGeom prst="rect">
            <a:avLst/>
          </a:prstGeom>
          <a:noFill/>
          <a:ln w="0">
            <a:noFill/>
            <a:prstDash val="solid"/>
          </a:ln>
        </p:spPr>
        <p:txBody>
          <a:bodyPr wrap="square" lIns="0" tIns="0" rIns="0" bIns="0" anchor="t">
            <a:normAutofit/>
          </a:bodyPr>
          <a:lstStyle>
            <a:defPPr algn="l">
              <a:defRPr sz="1425" b="0">
                <a:solidFill>
                  <a:srgbClr val="5F6973"/>
                </a:solidFill>
                <a:latin typeface="Segoe UI"/>
                <a:ea typeface="Segoe UI"/>
                <a:cs typeface="Segoe UI"/>
              </a:defRPr>
            </a:defPPr>
          </a:lstStyle>
          <a:p>
            <a:pPr algn="l">
              <a:defRPr sz="1425" b="0">
                <a:solidFill>
                  <a:srgbClr val="5F6973"/>
                </a:solidFill>
                <a:latin typeface="Segoe UI"/>
                <a:ea typeface="Segoe UI"/>
                <a:cs typeface="Segoe UI"/>
              </a:defRPr>
            </a:pPr>
            <a:r>
              <a:rPr sz="1425" b="0">
                <a:solidFill>
                  <a:srgbClr val="5F6973"/>
                </a:solidFill>
                <a:latin typeface="Segoe UI"/>
                <a:ea typeface="Segoe UI"/>
                <a:cs typeface="Segoe UI"/>
              </a:rPr>
              <a:t>Suggested area: Configuration/deployment. Show the pilot warning and untrained fifth class.</a:t>
            </a:r>
          </a:p>
        </p:txBody>
      </p:sp>
      <p:sp>
        <p:nvSpPr>
          <p:cNvPr id="22" name="Rectangle 21">
            <a:extLst>
              <a:ext uri="{FF2B5EF4-FFF2-40B4-BE49-F238E27FC236}">
                <a16:creationId xmlns:a16="http://schemas.microsoft.com/office/drawing/2014/main" id="{8837E011-46DD-4F25-A1DB-F2646D60989C}"/>
              </a:ext>
            </a:extLst>
          </p:cNvPr>
          <p:cNvSpPr>
            <a:spLocks noGrp="1"/>
          </p:cNvSpPr>
          <p:nvPr/>
        </p:nvSpPr>
        <p:spPr>
          <a:xfrm>
            <a:off x="514350" y="5562600"/>
            <a:ext cx="11163300" cy="552450"/>
          </a:xfrm>
          <a:prstGeom prst="rect">
            <a:avLst/>
          </a:prstGeom>
          <a:solidFill>
            <a:srgbClr val="EEE9E3"/>
          </a:solidFill>
          <a:ln w="0">
            <a:noFill/>
            <a:prstDash val="solid"/>
          </a:ln>
        </p:spPr>
      </p:sp>
      <p:sp>
        <p:nvSpPr>
          <p:cNvPr id="23" name="Rectangle 22">
            <a:extLst>
              <a:ext uri="{FF2B5EF4-FFF2-40B4-BE49-F238E27FC236}">
                <a16:creationId xmlns:a16="http://schemas.microsoft.com/office/drawing/2014/main" id="{E08B242A-F3DA-4827-8262-884C51567DFF}"/>
              </a:ext>
            </a:extLst>
          </p:cNvPr>
          <p:cNvSpPr>
            <a:spLocks noGrp="1"/>
          </p:cNvSpPr>
          <p:nvPr/>
        </p:nvSpPr>
        <p:spPr>
          <a:xfrm>
            <a:off x="685800" y="5695950"/>
            <a:ext cx="10763250" cy="323850"/>
          </a:xfrm>
          <a:prstGeom prst="rect">
            <a:avLst/>
          </a:prstGeom>
          <a:noFill/>
          <a:ln w="0">
            <a:noFill/>
            <a:prstDash val="solid"/>
          </a:ln>
        </p:spPr>
        <p:txBody>
          <a:bodyPr wrap="square" lIns="0" tIns="0" rIns="0" bIns="0" anchor="t">
            <a:normAutofit/>
          </a:bodyPr>
          <a:lstStyle>
            <a:defPPr algn="l">
              <a:defRPr sz="1350" b="1">
                <a:solidFill>
                  <a:srgbClr val="20252B"/>
                </a:solidFill>
                <a:latin typeface="Segoe UI"/>
                <a:ea typeface="Segoe UI"/>
                <a:cs typeface="Segoe UI"/>
              </a:defRPr>
            </a:defPPr>
          </a:lstStyle>
          <a:p>
            <a:pPr algn="l">
              <a:defRPr sz="1350" b="1">
                <a:solidFill>
                  <a:srgbClr val="20252B"/>
                </a:solidFill>
                <a:latin typeface="Segoe UI"/>
                <a:ea typeface="Segoe UI"/>
                <a:cs typeface="Segoe UI"/>
              </a:defRPr>
            </a:pPr>
            <a:r>
              <a:rPr sz="1350" b="1">
                <a:solidFill>
                  <a:srgbClr val="20252B"/>
                </a:solidFill>
                <a:latin typeface="Segoe UI"/>
                <a:ea typeface="Segoe UI"/>
                <a:cs typeface="Segoe UI"/>
              </a:rPr>
              <a:t>If Prediction review is absent: run scripts/train_model.py with data/processed/pilot_reviewed_labels.csv.</a:t>
            </a:r>
          </a:p>
        </p:txBody>
      </p:sp>
    </p:spTree>
    <p:extLst>
      <p:ext uri="{BB962C8B-B14F-4D97-AF65-F5344CB8AC3E}">
        <p14:creationId xmlns:p14="http://schemas.microsoft.com/office/powerpoint/2010/main" val="15902022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6635FD50-B44A-4C1E-9177-5CE8C5F55207}"/>
              </a:ext>
            </a:extLst>
          </p:cNvPr>
          <p:cNvSpPr>
            <a:spLocks noGrp="1"/>
          </p:cNvSpPr>
          <p:nvPr/>
        </p:nvSpPr>
        <p:spPr>
          <a:xfrm>
            <a:off x="0" y="0"/>
            <a:ext cx="12192000" cy="95250"/>
          </a:xfrm>
          <a:prstGeom prst="rect">
            <a:avLst/>
          </a:prstGeom>
          <a:solidFill>
            <a:srgbClr val="BC171D"/>
          </a:solidFill>
          <a:ln w="0">
            <a:noFill/>
            <a:prstDash val="solid"/>
          </a:ln>
        </p:spPr>
      </p:sp>
      <p:sp>
        <p:nvSpPr>
          <p:cNvPr id="2" name="title-12">
            <a:extLst>
              <a:ext uri="{FF2B5EF4-FFF2-40B4-BE49-F238E27FC236}">
                <a16:creationId xmlns:a16="http://schemas.microsoft.com/office/drawing/2014/main" id="{BCBB7D30-51BF-45DA-91AB-864758BD54A1}"/>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Current limits and roadmap</a:t>
            </a:r>
          </a:p>
        </p:txBody>
      </p:sp>
      <p:sp>
        <p:nvSpPr>
          <p:cNvPr id="3" name="Rectangle 2">
            <a:extLst>
              <a:ext uri="{FF2B5EF4-FFF2-40B4-BE49-F238E27FC236}">
                <a16:creationId xmlns:a16="http://schemas.microsoft.com/office/drawing/2014/main" id="{3C2E24BC-B9A1-43CE-96F2-693FB43D81B5}"/>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1EAB5D16-010A-4AAD-A4B6-36D3D6E4D1A6}"/>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E7A35D5A-FA4E-47B3-A018-E89A3C9AF377}"/>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A0C72D50-6EE3-4631-9D77-2B9BEC455A8D}"/>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sz="975" b="0">
                <a:solidFill>
                  <a:srgbClr val="5F6973"/>
                </a:solidFill>
                <a:latin typeface="Segoe UI"/>
                <a:ea typeface="Segoe UI"/>
                <a:cs typeface="Segoe UI"/>
              </a:rPr>
              <a:t>Om   •   12 / 13</a:t>
            </a:r>
          </a:p>
        </p:txBody>
      </p:sp>
      <p:sp>
        <p:nvSpPr>
          <p:cNvPr id="7" name="Rectangle 6">
            <a:extLst>
              <a:ext uri="{FF2B5EF4-FFF2-40B4-BE49-F238E27FC236}">
                <a16:creationId xmlns:a16="http://schemas.microsoft.com/office/drawing/2014/main" id="{7E7E2913-BDB0-461E-A009-7D2357294B6A}"/>
              </a:ext>
            </a:extLst>
          </p:cNvPr>
          <p:cNvSpPr>
            <a:spLocks noGrp="1"/>
          </p:cNvSpPr>
          <p:nvPr/>
        </p:nvSpPr>
        <p:spPr>
          <a:xfrm>
            <a:off x="514350" y="1419225"/>
            <a:ext cx="495300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OBSERVED IN THE PILOT</a:t>
            </a:r>
          </a:p>
        </p:txBody>
      </p:sp>
      <p:sp>
        <p:nvSpPr>
          <p:cNvPr id="8" name="Rectangle 7">
            <a:extLst>
              <a:ext uri="{FF2B5EF4-FFF2-40B4-BE49-F238E27FC236}">
                <a16:creationId xmlns:a16="http://schemas.microsoft.com/office/drawing/2014/main" id="{62BB5561-F99A-47A7-BECE-FB436C09A358}"/>
              </a:ext>
            </a:extLst>
          </p:cNvPr>
          <p:cNvSpPr>
            <a:spLocks noGrp="1"/>
          </p:cNvSpPr>
          <p:nvPr/>
        </p:nvSpPr>
        <p:spPr>
          <a:xfrm>
            <a:off x="6219825" y="1419225"/>
            <a:ext cx="495300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NEXT EVALUATION STEPS</a:t>
            </a:r>
          </a:p>
        </p:txBody>
      </p:sp>
      <p:sp>
        <p:nvSpPr>
          <p:cNvPr id="9" name="Rectangle 8">
            <a:extLst>
              <a:ext uri="{FF2B5EF4-FFF2-40B4-BE49-F238E27FC236}">
                <a16:creationId xmlns:a16="http://schemas.microsoft.com/office/drawing/2014/main" id="{AE948137-4830-4E5A-972D-635C36D184CB}"/>
              </a:ext>
            </a:extLst>
          </p:cNvPr>
          <p:cNvSpPr>
            <a:spLocks noGrp="1"/>
          </p:cNvSpPr>
          <p:nvPr/>
        </p:nvSpPr>
        <p:spPr>
          <a:xfrm>
            <a:off x="5934075" y="1428750"/>
            <a:ext cx="19050" cy="4476750"/>
          </a:xfrm>
          <a:prstGeom prst="rect">
            <a:avLst/>
          </a:prstGeom>
          <a:solidFill>
            <a:srgbClr val="E6E0D8"/>
          </a:solidFill>
          <a:ln w="0">
            <a:noFill/>
            <a:prstDash val="solid"/>
          </a:ln>
        </p:spPr>
      </p:sp>
      <p:sp>
        <p:nvSpPr>
          <p:cNvPr id="10" name="Rectangle 9">
            <a:extLst>
              <a:ext uri="{FF2B5EF4-FFF2-40B4-BE49-F238E27FC236}">
                <a16:creationId xmlns:a16="http://schemas.microsoft.com/office/drawing/2014/main" id="{585821FF-9AD3-4CD2-8373-643BE898BBD9}"/>
              </a:ext>
            </a:extLst>
          </p:cNvPr>
          <p:cNvSpPr>
            <a:spLocks noGrp="1"/>
          </p:cNvSpPr>
          <p:nvPr/>
        </p:nvSpPr>
        <p:spPr>
          <a:xfrm>
            <a:off x="514350" y="1876425"/>
            <a:ext cx="5048250"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Class support</a:t>
            </a:r>
          </a:p>
        </p:txBody>
      </p:sp>
      <p:sp>
        <p:nvSpPr>
          <p:cNvPr id="11" name="Rectangle 10">
            <a:extLst>
              <a:ext uri="{FF2B5EF4-FFF2-40B4-BE49-F238E27FC236}">
                <a16:creationId xmlns:a16="http://schemas.microsoft.com/office/drawing/2014/main" id="{7BE3A777-CA87-4C9C-9DF7-CC23C986A1DA}"/>
              </a:ext>
            </a:extLst>
          </p:cNvPr>
          <p:cNvSpPr>
            <a:spLocks noGrp="1"/>
          </p:cNvSpPr>
          <p:nvPr/>
        </p:nvSpPr>
        <p:spPr>
          <a:xfrm>
            <a:off x="514350" y="2209800"/>
            <a:ext cx="504825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29 of 49 usable rows are API/code; one target class is absent.</a:t>
            </a:r>
          </a:p>
        </p:txBody>
      </p:sp>
      <p:sp>
        <p:nvSpPr>
          <p:cNvPr id="12" name="Rectangle 11">
            <a:extLst>
              <a:ext uri="{FF2B5EF4-FFF2-40B4-BE49-F238E27FC236}">
                <a16:creationId xmlns:a16="http://schemas.microsoft.com/office/drawing/2014/main" id="{C5652AED-5B23-465A-A85E-8D8FFEA5FE66}"/>
              </a:ext>
            </a:extLst>
          </p:cNvPr>
          <p:cNvSpPr>
            <a:spLocks noGrp="1"/>
          </p:cNvSpPr>
          <p:nvPr/>
        </p:nvSpPr>
        <p:spPr>
          <a:xfrm>
            <a:off x="514350" y="2876550"/>
            <a:ext cx="5048250"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Small test</a:t>
            </a:r>
          </a:p>
        </p:txBody>
      </p:sp>
      <p:sp>
        <p:nvSpPr>
          <p:cNvPr id="13" name="Rectangle 12">
            <a:extLst>
              <a:ext uri="{FF2B5EF4-FFF2-40B4-BE49-F238E27FC236}">
                <a16:creationId xmlns:a16="http://schemas.microsoft.com/office/drawing/2014/main" id="{11DCF7A6-F7D4-48F9-8C15-34BEBFA62433}"/>
              </a:ext>
            </a:extLst>
          </p:cNvPr>
          <p:cNvSpPr>
            <a:spLocks noGrp="1"/>
          </p:cNvSpPr>
          <p:nvPr/>
        </p:nvSpPr>
        <p:spPr>
          <a:xfrm>
            <a:off x="514350" y="3209925"/>
            <a:ext cx="504825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Only 10 held-out entries from one Django release.</a:t>
            </a:r>
          </a:p>
        </p:txBody>
      </p:sp>
      <p:sp>
        <p:nvSpPr>
          <p:cNvPr id="14" name="Rectangle 13">
            <a:extLst>
              <a:ext uri="{FF2B5EF4-FFF2-40B4-BE49-F238E27FC236}">
                <a16:creationId xmlns:a16="http://schemas.microsoft.com/office/drawing/2014/main" id="{681E4E56-3FC8-4780-A74E-F64C088BE90C}"/>
              </a:ext>
            </a:extLst>
          </p:cNvPr>
          <p:cNvSpPr>
            <a:spLocks noGrp="1"/>
          </p:cNvSpPr>
          <p:nvPr/>
        </p:nvSpPr>
        <p:spPr>
          <a:xfrm>
            <a:off x="514350" y="3876675"/>
            <a:ext cx="5048250"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Near duplicates</a:t>
            </a:r>
          </a:p>
        </p:txBody>
      </p:sp>
      <p:sp>
        <p:nvSpPr>
          <p:cNvPr id="15" name="Rectangle 14">
            <a:extLst>
              <a:ext uri="{FF2B5EF4-FFF2-40B4-BE49-F238E27FC236}">
                <a16:creationId xmlns:a16="http://schemas.microsoft.com/office/drawing/2014/main" id="{E3B81F56-E13F-432A-8995-CE7552902652}"/>
              </a:ext>
            </a:extLst>
          </p:cNvPr>
          <p:cNvSpPr>
            <a:spLocks noGrp="1"/>
          </p:cNvSpPr>
          <p:nvPr/>
        </p:nvSpPr>
        <p:spPr>
          <a:xfrm>
            <a:off x="514350" y="4210050"/>
            <a:ext cx="504825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One similar deprecation/removal pair crosses dev and test.</a:t>
            </a:r>
          </a:p>
        </p:txBody>
      </p:sp>
      <p:sp>
        <p:nvSpPr>
          <p:cNvPr id="16" name="Rectangle 15">
            <a:extLst>
              <a:ext uri="{FF2B5EF4-FFF2-40B4-BE49-F238E27FC236}">
                <a16:creationId xmlns:a16="http://schemas.microsoft.com/office/drawing/2014/main" id="{31A751FE-82BB-4B55-8C95-2BAD42652E75}"/>
              </a:ext>
            </a:extLst>
          </p:cNvPr>
          <p:cNvSpPr>
            <a:spLocks noGrp="1"/>
          </p:cNvSpPr>
          <p:nvPr/>
        </p:nvSpPr>
        <p:spPr>
          <a:xfrm>
            <a:off x="514350" y="4876800"/>
            <a:ext cx="5048250"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Decision quality</a:t>
            </a:r>
          </a:p>
        </p:txBody>
      </p:sp>
      <p:sp>
        <p:nvSpPr>
          <p:cNvPr id="17" name="Rectangle 16">
            <a:extLst>
              <a:ext uri="{FF2B5EF4-FFF2-40B4-BE49-F238E27FC236}">
                <a16:creationId xmlns:a16="http://schemas.microsoft.com/office/drawing/2014/main" id="{2CB64719-7916-4AC6-9EEB-688BDCFAF377}"/>
              </a:ext>
            </a:extLst>
          </p:cNvPr>
          <p:cNvSpPr>
            <a:spLocks noGrp="1"/>
          </p:cNvSpPr>
          <p:nvPr/>
        </p:nvSpPr>
        <p:spPr>
          <a:xfrm>
            <a:off x="514350" y="5210175"/>
            <a:ext cx="5048250"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Independent second review and score calibration remain open.</a:t>
            </a:r>
          </a:p>
        </p:txBody>
      </p:sp>
      <p:sp>
        <p:nvSpPr>
          <p:cNvPr id="18" name="Rectangle 17">
            <a:extLst>
              <a:ext uri="{FF2B5EF4-FFF2-40B4-BE49-F238E27FC236}">
                <a16:creationId xmlns:a16="http://schemas.microsoft.com/office/drawing/2014/main" id="{C1E3D53E-DEFC-45D7-840E-DB4FCB46F383}"/>
              </a:ext>
            </a:extLst>
          </p:cNvPr>
          <p:cNvSpPr>
            <a:spLocks noGrp="1"/>
          </p:cNvSpPr>
          <p:nvPr/>
        </p:nvSpPr>
        <p:spPr>
          <a:xfrm>
            <a:off x="6219825" y="1876425"/>
            <a:ext cx="5248275"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1  Independent review</a:t>
            </a:r>
          </a:p>
        </p:txBody>
      </p:sp>
      <p:sp>
        <p:nvSpPr>
          <p:cNvPr id="19" name="Rectangle 18">
            <a:extLst>
              <a:ext uri="{FF2B5EF4-FFF2-40B4-BE49-F238E27FC236}">
                <a16:creationId xmlns:a16="http://schemas.microsoft.com/office/drawing/2014/main" id="{1EE4820F-CB82-44EE-A885-3D9D550D9157}"/>
              </a:ext>
            </a:extLst>
          </p:cNvPr>
          <p:cNvSpPr>
            <a:spLocks noGrp="1"/>
          </p:cNvSpPr>
          <p:nvPr/>
        </p:nvSpPr>
        <p:spPr>
          <a:xfrm>
            <a:off x="6219825" y="2209800"/>
            <a:ext cx="5248275"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Assign 12–13 pilot entries to each teammate for a second pass.</a:t>
            </a:r>
          </a:p>
        </p:txBody>
      </p:sp>
      <p:sp>
        <p:nvSpPr>
          <p:cNvPr id="20" name="Rectangle 19">
            <a:extLst>
              <a:ext uri="{FF2B5EF4-FFF2-40B4-BE49-F238E27FC236}">
                <a16:creationId xmlns:a16="http://schemas.microsoft.com/office/drawing/2014/main" id="{BAD8E9E4-269E-4B54-842D-7C16E69F608F}"/>
              </a:ext>
            </a:extLst>
          </p:cNvPr>
          <p:cNvSpPr>
            <a:spLocks noGrp="1"/>
          </p:cNvSpPr>
          <p:nvPr/>
        </p:nvSpPr>
        <p:spPr>
          <a:xfrm>
            <a:off x="6219825" y="2876550"/>
            <a:ext cx="5248275"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2  Class coverage</a:t>
            </a:r>
          </a:p>
        </p:txBody>
      </p:sp>
      <p:sp>
        <p:nvSpPr>
          <p:cNvPr id="21" name="Rectangle 20">
            <a:extLst>
              <a:ext uri="{FF2B5EF4-FFF2-40B4-BE49-F238E27FC236}">
                <a16:creationId xmlns:a16="http://schemas.microsoft.com/office/drawing/2014/main" id="{EBAA37B7-5A98-4224-A47F-C6F7944C14A9}"/>
              </a:ext>
            </a:extLst>
          </p:cNvPr>
          <p:cNvSpPr>
            <a:spLocks noGrp="1"/>
          </p:cNvSpPr>
          <p:nvPr/>
        </p:nvSpPr>
        <p:spPr>
          <a:xfrm>
            <a:off x="6219825" y="3209925"/>
            <a:ext cx="5248275"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Sample more likely minority and no-targeted-check notes.</a:t>
            </a:r>
          </a:p>
        </p:txBody>
      </p:sp>
      <p:sp>
        <p:nvSpPr>
          <p:cNvPr id="22" name="Rectangle 21">
            <a:extLst>
              <a:ext uri="{FF2B5EF4-FFF2-40B4-BE49-F238E27FC236}">
                <a16:creationId xmlns:a16="http://schemas.microsoft.com/office/drawing/2014/main" id="{3423C8A5-7B18-4260-B8CC-4068D80DB365}"/>
              </a:ext>
            </a:extLst>
          </p:cNvPr>
          <p:cNvSpPr>
            <a:spLocks noGrp="1"/>
          </p:cNvSpPr>
          <p:nvPr/>
        </p:nvSpPr>
        <p:spPr>
          <a:xfrm>
            <a:off x="6219825" y="3876675"/>
            <a:ext cx="5248275"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3  Stronger evaluation</a:t>
            </a:r>
          </a:p>
        </p:txBody>
      </p:sp>
      <p:sp>
        <p:nvSpPr>
          <p:cNvPr id="23" name="Rectangle 22">
            <a:extLst>
              <a:ext uri="{FF2B5EF4-FFF2-40B4-BE49-F238E27FC236}">
                <a16:creationId xmlns:a16="http://schemas.microsoft.com/office/drawing/2014/main" id="{158ED5D7-C1DC-4720-B5E6-647FEE770EB3}"/>
              </a:ext>
            </a:extLst>
          </p:cNvPr>
          <p:cNvSpPr>
            <a:spLocks noGrp="1"/>
          </p:cNvSpPr>
          <p:nvPr/>
        </p:nvSpPr>
        <p:spPr>
          <a:xfrm>
            <a:off x="6219825" y="4210050"/>
            <a:ext cx="5248275"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Set a duplicate-family policy, freeze a larger split, review per-class errors.</a:t>
            </a:r>
          </a:p>
        </p:txBody>
      </p:sp>
      <p:sp>
        <p:nvSpPr>
          <p:cNvPr id="24" name="Rectangle 23">
            <a:extLst>
              <a:ext uri="{FF2B5EF4-FFF2-40B4-BE49-F238E27FC236}">
                <a16:creationId xmlns:a16="http://schemas.microsoft.com/office/drawing/2014/main" id="{A74DAC22-8084-4207-A6FB-DFD3D9FE2908}"/>
              </a:ext>
            </a:extLst>
          </p:cNvPr>
          <p:cNvSpPr>
            <a:spLocks noGrp="1"/>
          </p:cNvSpPr>
          <p:nvPr/>
        </p:nvSpPr>
        <p:spPr>
          <a:xfrm>
            <a:off x="6219825" y="4876800"/>
            <a:ext cx="5248275" cy="304800"/>
          </a:xfrm>
          <a:prstGeom prst="rect">
            <a:avLst/>
          </a:prstGeom>
          <a:noFill/>
          <a:ln w="0">
            <a:noFill/>
            <a:prstDash val="solid"/>
          </a:ln>
        </p:spPr>
        <p:txBody>
          <a:bodyPr wrap="square" lIns="0" tIns="0" rIns="0" bIns="0" anchor="t">
            <a:normAutofit/>
          </a:bodyPr>
          <a:lstStyle>
            <a:defPPr algn="l">
              <a:defRPr sz="1500" b="1">
                <a:solidFill>
                  <a:srgbClr val="20252B"/>
                </a:solidFill>
                <a:latin typeface="Segoe UI"/>
                <a:ea typeface="Segoe UI"/>
                <a:cs typeface="Segoe UI"/>
              </a:defRPr>
            </a:defPPr>
          </a:lstStyle>
          <a:p>
            <a:pPr algn="l">
              <a:defRPr sz="1500" b="1">
                <a:solidFill>
                  <a:srgbClr val="20252B"/>
                </a:solidFill>
                <a:latin typeface="Segoe UI"/>
                <a:ea typeface="Segoe UI"/>
                <a:cs typeface="Segoe UI"/>
              </a:defRPr>
            </a:pPr>
            <a:r>
              <a:rPr sz="1500" b="1">
                <a:solidFill>
                  <a:srgbClr val="20252B"/>
                </a:solidFill>
                <a:latin typeface="Segoe UI"/>
                <a:ea typeface="Segoe UI"/>
                <a:cs typeface="Segoe UI"/>
              </a:rPr>
              <a:t>4  Product extension</a:t>
            </a:r>
          </a:p>
        </p:txBody>
      </p:sp>
      <p:sp>
        <p:nvSpPr>
          <p:cNvPr id="25" name="Rectangle 24">
            <a:extLst>
              <a:ext uri="{FF2B5EF4-FFF2-40B4-BE49-F238E27FC236}">
                <a16:creationId xmlns:a16="http://schemas.microsoft.com/office/drawing/2014/main" id="{34698465-4EC7-4750-AB6E-E0B9E592B346}"/>
              </a:ext>
            </a:extLst>
          </p:cNvPr>
          <p:cNvSpPr>
            <a:spLocks noGrp="1"/>
          </p:cNvSpPr>
          <p:nvPr/>
        </p:nvSpPr>
        <p:spPr>
          <a:xfrm>
            <a:off x="6219825" y="5210175"/>
            <a:ext cx="5248275" cy="552450"/>
          </a:xfrm>
          <a:prstGeom prst="rect">
            <a:avLst/>
          </a:prstGeom>
          <a:noFill/>
          <a:ln w="0">
            <a:noFill/>
            <a:prstDash val="solid"/>
          </a:ln>
        </p:spPr>
        <p:txBody>
          <a:bodyPr wrap="square" lIns="0" tIns="0" rIns="0" bIns="0" anchor="t">
            <a:normAutofit/>
          </a:bodyPr>
          <a:lstStyle>
            <a:defPPr algn="l">
              <a:defRPr sz="1275" b="0">
                <a:solidFill>
                  <a:srgbClr val="5F6973"/>
                </a:solidFill>
                <a:latin typeface="Segoe UI"/>
                <a:ea typeface="Segoe UI"/>
                <a:cs typeface="Segoe UI"/>
              </a:defRPr>
            </a:defPPr>
          </a:lstStyle>
          <a:p>
            <a:pPr algn="l">
              <a:defRPr sz="1275" b="0">
                <a:solidFill>
                  <a:srgbClr val="5F6973"/>
                </a:solidFill>
                <a:latin typeface="Segoe UI"/>
                <a:ea typeface="Segoe UI"/>
                <a:cs typeface="Segoe UI"/>
              </a:defRPr>
            </a:pPr>
            <a:r>
              <a:rPr sz="1275" b="0">
                <a:solidFill>
                  <a:srgbClr val="5F6973"/>
                </a:solidFill>
                <a:latin typeface="Segoe UI"/>
                <a:ea typeface="Segoe UI"/>
                <a:cs typeface="Segoe UI"/>
              </a:rPr>
              <a:t>Test other libraries, then consider repository or API integration.</a:t>
            </a:r>
          </a:p>
        </p:txBody>
      </p:sp>
    </p:spTree>
    <p:extLst>
      <p:ext uri="{BB962C8B-B14F-4D97-AF65-F5344CB8AC3E}">
        <p14:creationId xmlns:p14="http://schemas.microsoft.com/office/powerpoint/2010/main" val="1558849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2ED"/>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665EB80-1781-4995-B714-7B1A77496999}"/>
              </a:ext>
            </a:extLst>
          </p:cNvPr>
          <p:cNvSpPr>
            <a:spLocks noGrp="1"/>
          </p:cNvSpPr>
          <p:nvPr/>
        </p:nvSpPr>
        <p:spPr>
          <a:xfrm>
            <a:off x="0" y="0"/>
            <a:ext cx="12192000" cy="95250"/>
          </a:xfrm>
          <a:prstGeom prst="rect">
            <a:avLst/>
          </a:prstGeom>
          <a:solidFill>
            <a:srgbClr val="BC171D"/>
          </a:solidFill>
          <a:ln w="0">
            <a:noFill/>
            <a:prstDash val="solid"/>
          </a:ln>
        </p:spPr>
      </p:sp>
      <p:sp>
        <p:nvSpPr>
          <p:cNvPr id="2" name="title-13">
            <a:extLst>
              <a:ext uri="{FF2B5EF4-FFF2-40B4-BE49-F238E27FC236}">
                <a16:creationId xmlns:a16="http://schemas.microsoft.com/office/drawing/2014/main" id="{275AF5AB-D20C-40AD-8D7B-7D198588DB6F}"/>
              </a:ext>
            </a:extLst>
          </p:cNvPr>
          <p:cNvSpPr>
            <a:spLocks noGrp="1"/>
          </p:cNvSpPr>
          <p:nvPr/>
        </p:nvSpPr>
        <p:spPr>
          <a:xfrm>
            <a:off x="514350" y="323850"/>
            <a:ext cx="10953750" cy="552450"/>
          </a:xfrm>
          <a:prstGeom prst="rect">
            <a:avLst/>
          </a:prstGeom>
          <a:noFill/>
          <a:ln w="0">
            <a:noFill/>
            <a:prstDash val="solid"/>
          </a:ln>
        </p:spPr>
        <p:txBody>
          <a:bodyPr wrap="square" lIns="0" tIns="0" rIns="0" bIns="0" anchor="t">
            <a:normAutofit/>
          </a:bodyPr>
          <a:lstStyle>
            <a:defPPr algn="l">
              <a:defRPr sz="2700" b="1">
                <a:solidFill>
                  <a:srgbClr val="20252B"/>
                </a:solidFill>
                <a:latin typeface="Bahnschrift"/>
                <a:ea typeface="Bahnschrift"/>
                <a:cs typeface="Bahnschrift"/>
              </a:defRPr>
            </a:defPPr>
          </a:lstStyle>
          <a:p>
            <a:pPr algn="l">
              <a:defRPr sz="2700" b="1">
                <a:solidFill>
                  <a:srgbClr val="20252B"/>
                </a:solidFill>
                <a:latin typeface="Bahnschrift"/>
                <a:ea typeface="Bahnschrift"/>
                <a:cs typeface="Bahnschrift"/>
              </a:defRPr>
            </a:pPr>
            <a:r>
              <a:rPr sz="2700" b="1">
                <a:solidFill>
                  <a:srgbClr val="20252B"/>
                </a:solidFill>
                <a:latin typeface="Bahnschrift"/>
                <a:ea typeface="Bahnschrift"/>
                <a:cs typeface="Bahnschrift"/>
              </a:rPr>
              <a:t>Final deliverable and conclusion</a:t>
            </a:r>
          </a:p>
        </p:txBody>
      </p:sp>
      <p:sp>
        <p:nvSpPr>
          <p:cNvPr id="3" name="Rectangle 2">
            <a:extLst>
              <a:ext uri="{FF2B5EF4-FFF2-40B4-BE49-F238E27FC236}">
                <a16:creationId xmlns:a16="http://schemas.microsoft.com/office/drawing/2014/main" id="{57AE3580-2C36-43CB-B8D9-1E034E08B343}"/>
              </a:ext>
            </a:extLst>
          </p:cNvPr>
          <p:cNvSpPr>
            <a:spLocks noGrp="1"/>
          </p:cNvSpPr>
          <p:nvPr/>
        </p:nvSpPr>
        <p:spPr>
          <a:xfrm>
            <a:off x="514350" y="990600"/>
            <a:ext cx="11163300" cy="28575"/>
          </a:xfrm>
          <a:prstGeom prst="rect">
            <a:avLst/>
          </a:prstGeom>
          <a:solidFill>
            <a:srgbClr val="BC171D"/>
          </a:solidFill>
          <a:ln w="0">
            <a:noFill/>
            <a:prstDash val="solid"/>
          </a:ln>
        </p:spPr>
      </p:sp>
      <p:sp>
        <p:nvSpPr>
          <p:cNvPr id="4" name="Rectangle 3">
            <a:extLst>
              <a:ext uri="{FF2B5EF4-FFF2-40B4-BE49-F238E27FC236}">
                <a16:creationId xmlns:a16="http://schemas.microsoft.com/office/drawing/2014/main" id="{F4680B6C-E037-4A27-BDE7-EFE0695E22F6}"/>
              </a:ext>
            </a:extLst>
          </p:cNvPr>
          <p:cNvSpPr>
            <a:spLocks noGrp="1"/>
          </p:cNvSpPr>
          <p:nvPr/>
        </p:nvSpPr>
        <p:spPr>
          <a:xfrm>
            <a:off x="514350" y="6324600"/>
            <a:ext cx="11163300" cy="9525"/>
          </a:xfrm>
          <a:prstGeom prst="rect">
            <a:avLst/>
          </a:prstGeom>
          <a:solidFill>
            <a:srgbClr val="E6E0D8"/>
          </a:solidFill>
          <a:ln w="0">
            <a:noFill/>
            <a:prstDash val="solid"/>
          </a:ln>
        </p:spPr>
      </p:sp>
      <p:sp>
        <p:nvSpPr>
          <p:cNvPr id="5" name="Rectangle 4">
            <a:extLst>
              <a:ext uri="{FF2B5EF4-FFF2-40B4-BE49-F238E27FC236}">
                <a16:creationId xmlns:a16="http://schemas.microsoft.com/office/drawing/2014/main" id="{2B0E2932-AC25-4908-AC70-2239F08B3C54}"/>
              </a:ext>
            </a:extLst>
          </p:cNvPr>
          <p:cNvSpPr>
            <a:spLocks noGrp="1"/>
          </p:cNvSpPr>
          <p:nvPr/>
        </p:nvSpPr>
        <p:spPr>
          <a:xfrm>
            <a:off x="514350" y="6410325"/>
            <a:ext cx="5524500" cy="247650"/>
          </a:xfrm>
          <a:prstGeom prst="rect">
            <a:avLst/>
          </a:prstGeom>
          <a:noFill/>
          <a:ln w="0">
            <a:noFill/>
            <a:prstDash val="solid"/>
          </a:ln>
        </p:spPr>
        <p:txBody>
          <a:bodyPr wrap="square" lIns="0" tIns="0" rIns="0" bIns="0" anchor="t">
            <a:normAutofit/>
          </a:bodyPr>
          <a:lstStyle>
            <a:defPPr algn="l">
              <a:defRPr sz="975" b="1">
                <a:solidFill>
                  <a:srgbClr val="5F6973"/>
                </a:solidFill>
                <a:latin typeface="Segoe UI"/>
                <a:ea typeface="Segoe UI"/>
                <a:cs typeface="Segoe UI"/>
              </a:defRPr>
            </a:defPPr>
          </a:lstStyle>
          <a:p>
            <a:pPr algn="l">
              <a:defRPr sz="975" b="1">
                <a:solidFill>
                  <a:srgbClr val="5F6973"/>
                </a:solidFill>
                <a:latin typeface="Segoe UI"/>
                <a:ea typeface="Segoe UI"/>
                <a:cs typeface="Segoe UI"/>
              </a:defRPr>
            </a:pPr>
            <a:r>
              <a:rPr sz="975" b="1">
                <a:solidFill>
                  <a:srgbClr val="5F6973"/>
                </a:solidFill>
                <a:latin typeface="Segoe UI"/>
                <a:ea typeface="Segoe UI"/>
                <a:cs typeface="Segoe UI"/>
              </a:rPr>
              <a:t>PATCHPROBE  |  NATURAL LANGUAGE PROCESSING</a:t>
            </a:r>
          </a:p>
        </p:txBody>
      </p:sp>
      <p:sp>
        <p:nvSpPr>
          <p:cNvPr id="6" name="Rectangle 5">
            <a:extLst>
              <a:ext uri="{FF2B5EF4-FFF2-40B4-BE49-F238E27FC236}">
                <a16:creationId xmlns:a16="http://schemas.microsoft.com/office/drawing/2014/main" id="{2D3DFB1C-00E8-4FA8-883E-FE333CD773AD}"/>
              </a:ext>
            </a:extLst>
          </p:cNvPr>
          <p:cNvSpPr>
            <a:spLocks noGrp="1"/>
          </p:cNvSpPr>
          <p:nvPr/>
        </p:nvSpPr>
        <p:spPr>
          <a:xfrm>
            <a:off x="8858250" y="6410325"/>
            <a:ext cx="2819400" cy="247650"/>
          </a:xfrm>
          <a:prstGeom prst="rect">
            <a:avLst/>
          </a:prstGeom>
          <a:noFill/>
          <a:ln w="0">
            <a:noFill/>
            <a:prstDash val="solid"/>
          </a:ln>
        </p:spPr>
        <p:txBody>
          <a:bodyPr wrap="square" lIns="0" tIns="0" rIns="0" bIns="0" anchor="t">
            <a:normAutofit/>
          </a:bodyPr>
          <a:lstStyle>
            <a:defPPr algn="r">
              <a:defRPr sz="975" b="0">
                <a:solidFill>
                  <a:srgbClr val="5F6973"/>
                </a:solidFill>
                <a:latin typeface="Segoe UI"/>
                <a:ea typeface="Segoe UI"/>
                <a:cs typeface="Segoe UI"/>
              </a:defRPr>
            </a:defPPr>
          </a:lstStyle>
          <a:p>
            <a:pPr algn="r">
              <a:defRPr sz="975" b="0">
                <a:solidFill>
                  <a:srgbClr val="5F6973"/>
                </a:solidFill>
                <a:latin typeface="Segoe UI"/>
                <a:ea typeface="Segoe UI"/>
                <a:cs typeface="Segoe UI"/>
              </a:defRPr>
            </a:pPr>
            <a:r>
              <a:rPr lang="en-IN" sz="975" dirty="0">
                <a:solidFill>
                  <a:srgbClr val="5F6973"/>
                </a:solidFill>
                <a:latin typeface="Segoe UI"/>
                <a:ea typeface="Segoe UI"/>
                <a:cs typeface="Segoe UI"/>
              </a:rPr>
              <a:t>Om</a:t>
            </a:r>
            <a:r>
              <a:rPr sz="975" b="0" dirty="0">
                <a:solidFill>
                  <a:srgbClr val="5F6973"/>
                </a:solidFill>
                <a:latin typeface="Segoe UI"/>
                <a:ea typeface="Segoe UI"/>
                <a:cs typeface="Segoe UI"/>
              </a:rPr>
              <a:t>   •   13 / 13</a:t>
            </a:r>
          </a:p>
        </p:txBody>
      </p:sp>
      <p:sp>
        <p:nvSpPr>
          <p:cNvPr id="7" name="Rectangle 6">
            <a:extLst>
              <a:ext uri="{FF2B5EF4-FFF2-40B4-BE49-F238E27FC236}">
                <a16:creationId xmlns:a16="http://schemas.microsoft.com/office/drawing/2014/main" id="{D1D8885C-F57B-478A-AAEF-6BEBBC9127C2}"/>
              </a:ext>
            </a:extLst>
          </p:cNvPr>
          <p:cNvSpPr>
            <a:spLocks noGrp="1"/>
          </p:cNvSpPr>
          <p:nvPr/>
        </p:nvSpPr>
        <p:spPr>
          <a:xfrm>
            <a:off x="514350" y="1428750"/>
            <a:ext cx="5048250" cy="228600"/>
          </a:xfrm>
          <a:prstGeom prst="rect">
            <a:avLst/>
          </a:prstGeom>
          <a:noFill/>
          <a:ln w="0">
            <a:noFill/>
            <a:prstDash val="solid"/>
          </a:ln>
        </p:spPr>
        <p:txBody>
          <a:bodyPr wrap="square" lIns="0" tIns="0" rIns="0" bIns="0" anchor="t">
            <a:normAutofit/>
          </a:bodyPr>
          <a:lstStyle>
            <a:defPPr algn="l">
              <a:defRPr sz="1200" b="1">
                <a:solidFill>
                  <a:srgbClr val="BC171D"/>
                </a:solidFill>
                <a:latin typeface="Bahnschrift"/>
                <a:ea typeface="Bahnschrift"/>
                <a:cs typeface="Bahnschrift"/>
              </a:defRPr>
            </a:defPPr>
          </a:lstStyle>
          <a:p>
            <a:pPr algn="l">
              <a:defRPr sz="1200" b="1">
                <a:solidFill>
                  <a:srgbClr val="BC171D"/>
                </a:solidFill>
                <a:latin typeface="Bahnschrift"/>
                <a:ea typeface="Bahnschrift"/>
                <a:cs typeface="Bahnschrift"/>
              </a:defRPr>
            </a:pPr>
            <a:r>
              <a:rPr sz="1200" b="1">
                <a:solidFill>
                  <a:srgbClr val="BC171D"/>
                </a:solidFill>
                <a:latin typeface="Bahnschrift"/>
                <a:ea typeface="Bahnschrift"/>
                <a:cs typeface="Bahnschrift"/>
              </a:rPr>
              <a:t>WHAT IS READY TO SHOW</a:t>
            </a:r>
          </a:p>
        </p:txBody>
      </p:sp>
      <p:sp>
        <p:nvSpPr>
          <p:cNvPr id="8" name="Rectangle 7">
            <a:extLst>
              <a:ext uri="{FF2B5EF4-FFF2-40B4-BE49-F238E27FC236}">
                <a16:creationId xmlns:a16="http://schemas.microsoft.com/office/drawing/2014/main" id="{516CA4B9-2D5F-4839-AB0F-9C38F07A9CAA}"/>
              </a:ext>
            </a:extLst>
          </p:cNvPr>
          <p:cNvSpPr>
            <a:spLocks noGrp="1"/>
          </p:cNvSpPr>
          <p:nvPr/>
        </p:nvSpPr>
        <p:spPr>
          <a:xfrm>
            <a:off x="514350" y="1885950"/>
            <a:ext cx="447675" cy="323850"/>
          </a:xfrm>
          <a:prstGeom prst="rect">
            <a:avLst/>
          </a:prstGeom>
          <a:noFill/>
          <a:ln w="0">
            <a:noFill/>
            <a:prstDash val="solid"/>
          </a:ln>
        </p:spPr>
        <p:txBody>
          <a:bodyPr wrap="square" lIns="0" tIns="0" rIns="0" bIns="0" anchor="t">
            <a:normAutofit/>
          </a:bodyPr>
          <a:lstStyle>
            <a:defPPr algn="l">
              <a:defRPr sz="1500" b="1">
                <a:solidFill>
                  <a:srgbClr val="BC171D"/>
                </a:solidFill>
                <a:latin typeface="Bahnschrift"/>
                <a:ea typeface="Bahnschrift"/>
                <a:cs typeface="Bahnschrift"/>
              </a:defRPr>
            </a:defPPr>
          </a:lstStyle>
          <a:p>
            <a:pPr algn="l">
              <a:defRPr sz="1500" b="1">
                <a:solidFill>
                  <a:srgbClr val="BC171D"/>
                </a:solidFill>
                <a:latin typeface="Bahnschrift"/>
                <a:ea typeface="Bahnschrift"/>
                <a:cs typeface="Bahnschrift"/>
              </a:defRPr>
            </a:pPr>
            <a:r>
              <a:rPr sz="1500" b="1">
                <a:solidFill>
                  <a:srgbClr val="BC171D"/>
                </a:solidFill>
                <a:latin typeface="Bahnschrift"/>
                <a:ea typeface="Bahnschrift"/>
                <a:cs typeface="Bahnschrift"/>
              </a:rPr>
              <a:t>01</a:t>
            </a:r>
          </a:p>
        </p:txBody>
      </p:sp>
      <p:sp>
        <p:nvSpPr>
          <p:cNvPr id="9" name="Rectangle 8">
            <a:extLst>
              <a:ext uri="{FF2B5EF4-FFF2-40B4-BE49-F238E27FC236}">
                <a16:creationId xmlns:a16="http://schemas.microsoft.com/office/drawing/2014/main" id="{235DE2AD-2158-4B99-8324-4305EE78F15C}"/>
              </a:ext>
            </a:extLst>
          </p:cNvPr>
          <p:cNvSpPr>
            <a:spLocks noGrp="1"/>
          </p:cNvSpPr>
          <p:nvPr/>
        </p:nvSpPr>
        <p:spPr>
          <a:xfrm>
            <a:off x="1047750" y="1885950"/>
            <a:ext cx="9925050" cy="409575"/>
          </a:xfrm>
          <a:prstGeom prst="rect">
            <a:avLst/>
          </a:prstGeom>
          <a:noFill/>
          <a:ln w="0">
            <a:noFill/>
            <a:prstDash val="solid"/>
          </a:ln>
        </p:spPr>
        <p:txBody>
          <a:bodyPr wrap="square" lIns="0" tIns="0" rIns="0" bIns="0" anchor="t">
            <a:normAutofit/>
          </a:bodyPr>
          <a:lstStyle>
            <a:defPPr algn="l">
              <a:defRPr sz="1500" b="0">
                <a:solidFill>
                  <a:srgbClr val="20252B"/>
                </a:solidFill>
                <a:latin typeface="Segoe UI"/>
                <a:ea typeface="Segoe UI"/>
                <a:cs typeface="Segoe UI"/>
              </a:defRPr>
            </a:defPPr>
          </a:lstStyle>
          <a:p>
            <a:pPr algn="l">
              <a:defRPr sz="1500" b="0">
                <a:solidFill>
                  <a:srgbClr val="20252B"/>
                </a:solidFill>
                <a:latin typeface="Segoe UI"/>
                <a:ea typeface="Segoe UI"/>
                <a:cs typeface="Segoe UI"/>
              </a:defRPr>
            </a:pPr>
            <a:r>
              <a:rPr sz="1500" b="0">
                <a:solidFill>
                  <a:srgbClr val="20252B"/>
                </a:solidFill>
                <a:latin typeface="Segoe UI"/>
                <a:ea typeface="Segoe UI"/>
                <a:cs typeface="Segoe UI"/>
              </a:rPr>
              <a:t>Pinned Django corpus: 14 source files, 571 entries</a:t>
            </a:r>
          </a:p>
        </p:txBody>
      </p:sp>
      <p:sp>
        <p:nvSpPr>
          <p:cNvPr id="10" name="Rectangle 9">
            <a:extLst>
              <a:ext uri="{FF2B5EF4-FFF2-40B4-BE49-F238E27FC236}">
                <a16:creationId xmlns:a16="http://schemas.microsoft.com/office/drawing/2014/main" id="{DF1862B0-578F-4F2F-B3E7-F8E474866A37}"/>
              </a:ext>
            </a:extLst>
          </p:cNvPr>
          <p:cNvSpPr>
            <a:spLocks noGrp="1"/>
          </p:cNvSpPr>
          <p:nvPr/>
        </p:nvSpPr>
        <p:spPr>
          <a:xfrm>
            <a:off x="514350" y="2362200"/>
            <a:ext cx="11163300" cy="9525"/>
          </a:xfrm>
          <a:prstGeom prst="rect">
            <a:avLst/>
          </a:prstGeom>
          <a:solidFill>
            <a:srgbClr val="E6E0D8"/>
          </a:solidFill>
          <a:ln w="0">
            <a:noFill/>
            <a:prstDash val="solid"/>
          </a:ln>
        </p:spPr>
      </p:sp>
      <p:sp>
        <p:nvSpPr>
          <p:cNvPr id="11" name="Rectangle 10">
            <a:extLst>
              <a:ext uri="{FF2B5EF4-FFF2-40B4-BE49-F238E27FC236}">
                <a16:creationId xmlns:a16="http://schemas.microsoft.com/office/drawing/2014/main" id="{47A05E9B-A134-4069-9872-DEBB8B6D4BCD}"/>
              </a:ext>
            </a:extLst>
          </p:cNvPr>
          <p:cNvSpPr>
            <a:spLocks noGrp="1"/>
          </p:cNvSpPr>
          <p:nvPr/>
        </p:nvSpPr>
        <p:spPr>
          <a:xfrm>
            <a:off x="514350" y="2495550"/>
            <a:ext cx="447675" cy="323850"/>
          </a:xfrm>
          <a:prstGeom prst="rect">
            <a:avLst/>
          </a:prstGeom>
          <a:noFill/>
          <a:ln w="0">
            <a:noFill/>
            <a:prstDash val="solid"/>
          </a:ln>
        </p:spPr>
        <p:txBody>
          <a:bodyPr wrap="square" lIns="0" tIns="0" rIns="0" bIns="0" anchor="t">
            <a:normAutofit/>
          </a:bodyPr>
          <a:lstStyle>
            <a:defPPr algn="l">
              <a:defRPr sz="1500" b="1">
                <a:solidFill>
                  <a:srgbClr val="BC171D"/>
                </a:solidFill>
                <a:latin typeface="Bahnschrift"/>
                <a:ea typeface="Bahnschrift"/>
                <a:cs typeface="Bahnschrift"/>
              </a:defRPr>
            </a:defPPr>
          </a:lstStyle>
          <a:p>
            <a:pPr algn="l">
              <a:defRPr sz="1500" b="1">
                <a:solidFill>
                  <a:srgbClr val="BC171D"/>
                </a:solidFill>
                <a:latin typeface="Bahnschrift"/>
                <a:ea typeface="Bahnschrift"/>
                <a:cs typeface="Bahnschrift"/>
              </a:defRPr>
            </a:pPr>
            <a:r>
              <a:rPr sz="1500" b="1">
                <a:solidFill>
                  <a:srgbClr val="BC171D"/>
                </a:solidFill>
                <a:latin typeface="Bahnschrift"/>
                <a:ea typeface="Bahnschrift"/>
                <a:cs typeface="Bahnschrift"/>
              </a:rPr>
              <a:t>02</a:t>
            </a:r>
          </a:p>
        </p:txBody>
      </p:sp>
      <p:sp>
        <p:nvSpPr>
          <p:cNvPr id="12" name="Rectangle 11">
            <a:extLst>
              <a:ext uri="{FF2B5EF4-FFF2-40B4-BE49-F238E27FC236}">
                <a16:creationId xmlns:a16="http://schemas.microsoft.com/office/drawing/2014/main" id="{0325EC95-2EE1-4616-B4CB-72FEDBD50B0C}"/>
              </a:ext>
            </a:extLst>
          </p:cNvPr>
          <p:cNvSpPr>
            <a:spLocks noGrp="1"/>
          </p:cNvSpPr>
          <p:nvPr/>
        </p:nvSpPr>
        <p:spPr>
          <a:xfrm>
            <a:off x="1047750" y="2495550"/>
            <a:ext cx="9925050" cy="409575"/>
          </a:xfrm>
          <a:prstGeom prst="rect">
            <a:avLst/>
          </a:prstGeom>
          <a:noFill/>
          <a:ln w="0">
            <a:noFill/>
            <a:prstDash val="solid"/>
          </a:ln>
        </p:spPr>
        <p:txBody>
          <a:bodyPr wrap="square" lIns="0" tIns="0" rIns="0" bIns="0" anchor="t">
            <a:normAutofit/>
          </a:bodyPr>
          <a:lstStyle>
            <a:defPPr algn="l">
              <a:defRPr sz="1500" b="0">
                <a:solidFill>
                  <a:srgbClr val="20252B"/>
                </a:solidFill>
                <a:latin typeface="Segoe UI"/>
                <a:ea typeface="Segoe UI"/>
                <a:cs typeface="Segoe UI"/>
              </a:defRPr>
            </a:defPPr>
          </a:lstStyle>
          <a:p>
            <a:pPr algn="l">
              <a:defRPr sz="1500" b="0">
                <a:solidFill>
                  <a:srgbClr val="20252B"/>
                </a:solidFill>
                <a:latin typeface="Segoe UI"/>
                <a:ea typeface="Segoe UI"/>
                <a:cs typeface="Segoe UI"/>
              </a:defRPr>
            </a:pPr>
            <a:r>
              <a:rPr sz="1500" b="0">
                <a:solidFill>
                  <a:srgbClr val="20252B"/>
                </a:solidFill>
                <a:latin typeface="Segoe UI"/>
                <a:ea typeface="Segoe UI"/>
                <a:cs typeface="Segoe UI"/>
              </a:rPr>
              <a:t>50 human-confirmed pilot decisions, 49 usable for modeling</a:t>
            </a:r>
          </a:p>
        </p:txBody>
      </p:sp>
      <p:sp>
        <p:nvSpPr>
          <p:cNvPr id="13" name="Rectangle 12">
            <a:extLst>
              <a:ext uri="{FF2B5EF4-FFF2-40B4-BE49-F238E27FC236}">
                <a16:creationId xmlns:a16="http://schemas.microsoft.com/office/drawing/2014/main" id="{D47325D0-2D93-4F42-89DC-9F3613C9B35A}"/>
              </a:ext>
            </a:extLst>
          </p:cNvPr>
          <p:cNvSpPr>
            <a:spLocks noGrp="1"/>
          </p:cNvSpPr>
          <p:nvPr/>
        </p:nvSpPr>
        <p:spPr>
          <a:xfrm>
            <a:off x="514350" y="2971800"/>
            <a:ext cx="11163300" cy="9525"/>
          </a:xfrm>
          <a:prstGeom prst="rect">
            <a:avLst/>
          </a:prstGeom>
          <a:solidFill>
            <a:srgbClr val="E6E0D8"/>
          </a:solidFill>
          <a:ln w="0">
            <a:noFill/>
            <a:prstDash val="solid"/>
          </a:ln>
        </p:spPr>
      </p:sp>
      <p:sp>
        <p:nvSpPr>
          <p:cNvPr id="14" name="Rectangle 13">
            <a:extLst>
              <a:ext uri="{FF2B5EF4-FFF2-40B4-BE49-F238E27FC236}">
                <a16:creationId xmlns:a16="http://schemas.microsoft.com/office/drawing/2014/main" id="{1458113C-BD84-4379-903B-07A3EB4CE113}"/>
              </a:ext>
            </a:extLst>
          </p:cNvPr>
          <p:cNvSpPr>
            <a:spLocks noGrp="1"/>
          </p:cNvSpPr>
          <p:nvPr/>
        </p:nvSpPr>
        <p:spPr>
          <a:xfrm>
            <a:off x="514350" y="3105150"/>
            <a:ext cx="447675" cy="323850"/>
          </a:xfrm>
          <a:prstGeom prst="rect">
            <a:avLst/>
          </a:prstGeom>
          <a:noFill/>
          <a:ln w="0">
            <a:noFill/>
            <a:prstDash val="solid"/>
          </a:ln>
        </p:spPr>
        <p:txBody>
          <a:bodyPr wrap="square" lIns="0" tIns="0" rIns="0" bIns="0" anchor="t">
            <a:normAutofit/>
          </a:bodyPr>
          <a:lstStyle>
            <a:defPPr algn="l">
              <a:defRPr sz="1500" b="1">
                <a:solidFill>
                  <a:srgbClr val="BC171D"/>
                </a:solidFill>
                <a:latin typeface="Bahnschrift"/>
                <a:ea typeface="Bahnschrift"/>
                <a:cs typeface="Bahnschrift"/>
              </a:defRPr>
            </a:defPPr>
          </a:lstStyle>
          <a:p>
            <a:pPr algn="l">
              <a:defRPr sz="1500" b="1">
                <a:solidFill>
                  <a:srgbClr val="BC171D"/>
                </a:solidFill>
                <a:latin typeface="Bahnschrift"/>
                <a:ea typeface="Bahnschrift"/>
                <a:cs typeface="Bahnschrift"/>
              </a:defRPr>
            </a:pPr>
            <a:r>
              <a:rPr sz="1500" b="1">
                <a:solidFill>
                  <a:srgbClr val="BC171D"/>
                </a:solidFill>
                <a:latin typeface="Bahnschrift"/>
                <a:ea typeface="Bahnschrift"/>
                <a:cs typeface="Bahnschrift"/>
              </a:rPr>
              <a:t>03</a:t>
            </a:r>
          </a:p>
        </p:txBody>
      </p:sp>
      <p:sp>
        <p:nvSpPr>
          <p:cNvPr id="15" name="Rectangle 14">
            <a:extLst>
              <a:ext uri="{FF2B5EF4-FFF2-40B4-BE49-F238E27FC236}">
                <a16:creationId xmlns:a16="http://schemas.microsoft.com/office/drawing/2014/main" id="{234E3608-EFCE-4611-99F6-632E4722987D}"/>
              </a:ext>
            </a:extLst>
          </p:cNvPr>
          <p:cNvSpPr>
            <a:spLocks noGrp="1"/>
          </p:cNvSpPr>
          <p:nvPr/>
        </p:nvSpPr>
        <p:spPr>
          <a:xfrm>
            <a:off x="1047750" y="3105150"/>
            <a:ext cx="9925050" cy="409575"/>
          </a:xfrm>
          <a:prstGeom prst="rect">
            <a:avLst/>
          </a:prstGeom>
          <a:noFill/>
          <a:ln w="0">
            <a:noFill/>
            <a:prstDash val="solid"/>
          </a:ln>
        </p:spPr>
        <p:txBody>
          <a:bodyPr wrap="square" lIns="0" tIns="0" rIns="0" bIns="0" anchor="t">
            <a:normAutofit/>
          </a:bodyPr>
          <a:lstStyle>
            <a:defPPr algn="l">
              <a:defRPr sz="1500" b="0">
                <a:solidFill>
                  <a:srgbClr val="20252B"/>
                </a:solidFill>
                <a:latin typeface="Segoe UI"/>
                <a:ea typeface="Segoe UI"/>
                <a:cs typeface="Segoe UI"/>
              </a:defRPr>
            </a:defPPr>
          </a:lstStyle>
          <a:p>
            <a:pPr algn="l">
              <a:defRPr sz="1500" b="0">
                <a:solidFill>
                  <a:srgbClr val="20252B"/>
                </a:solidFill>
                <a:latin typeface="Segoe UI"/>
                <a:ea typeface="Segoe UI"/>
                <a:cs typeface="Segoe UI"/>
              </a:defRPr>
            </a:pPr>
            <a:r>
              <a:rPr sz="1500" b="0">
                <a:solidFill>
                  <a:srgbClr val="20252B"/>
                </a:solidFill>
                <a:latin typeface="Segoe UI"/>
                <a:ea typeface="Segoe UI"/>
                <a:cs typeface="Segoe UI"/>
              </a:rPr>
              <a:t>A local Streamlit review and prediction application</a:t>
            </a:r>
          </a:p>
        </p:txBody>
      </p:sp>
      <p:sp>
        <p:nvSpPr>
          <p:cNvPr id="16" name="Rectangle 15">
            <a:extLst>
              <a:ext uri="{FF2B5EF4-FFF2-40B4-BE49-F238E27FC236}">
                <a16:creationId xmlns:a16="http://schemas.microsoft.com/office/drawing/2014/main" id="{9A55E7C7-9508-4E96-ABD7-7C6AC0641395}"/>
              </a:ext>
            </a:extLst>
          </p:cNvPr>
          <p:cNvSpPr>
            <a:spLocks noGrp="1"/>
          </p:cNvSpPr>
          <p:nvPr/>
        </p:nvSpPr>
        <p:spPr>
          <a:xfrm>
            <a:off x="514350" y="3581400"/>
            <a:ext cx="11163300" cy="9525"/>
          </a:xfrm>
          <a:prstGeom prst="rect">
            <a:avLst/>
          </a:prstGeom>
          <a:solidFill>
            <a:srgbClr val="E6E0D8"/>
          </a:solidFill>
          <a:ln w="0">
            <a:noFill/>
            <a:prstDash val="solid"/>
          </a:ln>
        </p:spPr>
      </p:sp>
      <p:sp>
        <p:nvSpPr>
          <p:cNvPr id="17" name="Rectangle 16">
            <a:extLst>
              <a:ext uri="{FF2B5EF4-FFF2-40B4-BE49-F238E27FC236}">
                <a16:creationId xmlns:a16="http://schemas.microsoft.com/office/drawing/2014/main" id="{294817AE-7031-4357-90D1-5CB885808805}"/>
              </a:ext>
            </a:extLst>
          </p:cNvPr>
          <p:cNvSpPr>
            <a:spLocks noGrp="1"/>
          </p:cNvSpPr>
          <p:nvPr/>
        </p:nvSpPr>
        <p:spPr>
          <a:xfrm>
            <a:off x="514350" y="3714750"/>
            <a:ext cx="447675" cy="323850"/>
          </a:xfrm>
          <a:prstGeom prst="rect">
            <a:avLst/>
          </a:prstGeom>
          <a:noFill/>
          <a:ln w="0">
            <a:noFill/>
            <a:prstDash val="solid"/>
          </a:ln>
        </p:spPr>
        <p:txBody>
          <a:bodyPr wrap="square" lIns="0" tIns="0" rIns="0" bIns="0" anchor="t">
            <a:normAutofit/>
          </a:bodyPr>
          <a:lstStyle>
            <a:defPPr algn="l">
              <a:defRPr sz="1500" b="1">
                <a:solidFill>
                  <a:srgbClr val="BC171D"/>
                </a:solidFill>
                <a:latin typeface="Bahnschrift"/>
                <a:ea typeface="Bahnschrift"/>
                <a:cs typeface="Bahnschrift"/>
              </a:defRPr>
            </a:defPPr>
          </a:lstStyle>
          <a:p>
            <a:pPr algn="l">
              <a:defRPr sz="1500" b="1">
                <a:solidFill>
                  <a:srgbClr val="BC171D"/>
                </a:solidFill>
                <a:latin typeface="Bahnschrift"/>
                <a:ea typeface="Bahnschrift"/>
                <a:cs typeface="Bahnschrift"/>
              </a:defRPr>
            </a:pPr>
            <a:r>
              <a:rPr sz="1500" b="1">
                <a:solidFill>
                  <a:srgbClr val="BC171D"/>
                </a:solidFill>
                <a:latin typeface="Bahnschrift"/>
                <a:ea typeface="Bahnschrift"/>
                <a:cs typeface="Bahnschrift"/>
              </a:rPr>
              <a:t>04</a:t>
            </a:r>
          </a:p>
        </p:txBody>
      </p:sp>
      <p:sp>
        <p:nvSpPr>
          <p:cNvPr id="18" name="Rectangle 17">
            <a:extLst>
              <a:ext uri="{FF2B5EF4-FFF2-40B4-BE49-F238E27FC236}">
                <a16:creationId xmlns:a16="http://schemas.microsoft.com/office/drawing/2014/main" id="{ED832092-5B17-4AD4-AA0A-98B44FD32CAE}"/>
              </a:ext>
            </a:extLst>
          </p:cNvPr>
          <p:cNvSpPr>
            <a:spLocks noGrp="1"/>
          </p:cNvSpPr>
          <p:nvPr/>
        </p:nvSpPr>
        <p:spPr>
          <a:xfrm>
            <a:off x="1047750" y="3714750"/>
            <a:ext cx="9925050" cy="409575"/>
          </a:xfrm>
          <a:prstGeom prst="rect">
            <a:avLst/>
          </a:prstGeom>
          <a:noFill/>
          <a:ln w="0">
            <a:noFill/>
            <a:prstDash val="solid"/>
          </a:ln>
        </p:spPr>
        <p:txBody>
          <a:bodyPr wrap="square" lIns="0" tIns="0" rIns="0" bIns="0" anchor="t">
            <a:normAutofit/>
          </a:bodyPr>
          <a:lstStyle>
            <a:defPPr algn="l">
              <a:defRPr sz="1500" b="0">
                <a:solidFill>
                  <a:srgbClr val="20252B"/>
                </a:solidFill>
                <a:latin typeface="Segoe UI"/>
                <a:ea typeface="Segoe UI"/>
                <a:cs typeface="Segoe UI"/>
              </a:defRPr>
            </a:defPPr>
          </a:lstStyle>
          <a:p>
            <a:pPr algn="l">
              <a:defRPr sz="1500" b="0">
                <a:solidFill>
                  <a:srgbClr val="20252B"/>
                </a:solidFill>
                <a:latin typeface="Segoe UI"/>
                <a:ea typeface="Segoe UI"/>
                <a:cs typeface="Segoe UI"/>
              </a:defRPr>
            </a:pPr>
            <a:r>
              <a:rPr sz="1500" b="0">
                <a:solidFill>
                  <a:srgbClr val="20252B"/>
                </a:solidFill>
                <a:latin typeface="Segoe UI"/>
                <a:ea typeface="Segoe UI"/>
                <a:cs typeface="Segoe UI"/>
              </a:rPr>
              <a:t>Release-grouped TF-IDF / logistic-regression pipeline</a:t>
            </a:r>
          </a:p>
        </p:txBody>
      </p:sp>
      <p:sp>
        <p:nvSpPr>
          <p:cNvPr id="19" name="Rectangle 18">
            <a:extLst>
              <a:ext uri="{FF2B5EF4-FFF2-40B4-BE49-F238E27FC236}">
                <a16:creationId xmlns:a16="http://schemas.microsoft.com/office/drawing/2014/main" id="{86DB1FC7-9738-4F0C-BF63-8571FDD13C39}"/>
              </a:ext>
            </a:extLst>
          </p:cNvPr>
          <p:cNvSpPr>
            <a:spLocks noGrp="1"/>
          </p:cNvSpPr>
          <p:nvPr/>
        </p:nvSpPr>
        <p:spPr>
          <a:xfrm>
            <a:off x="514350" y="4191000"/>
            <a:ext cx="11163300" cy="9525"/>
          </a:xfrm>
          <a:prstGeom prst="rect">
            <a:avLst/>
          </a:prstGeom>
          <a:solidFill>
            <a:srgbClr val="E6E0D8"/>
          </a:solidFill>
          <a:ln w="0">
            <a:noFill/>
            <a:prstDash val="solid"/>
          </a:ln>
        </p:spPr>
      </p:sp>
      <p:sp>
        <p:nvSpPr>
          <p:cNvPr id="20" name="Rectangle 19">
            <a:extLst>
              <a:ext uri="{FF2B5EF4-FFF2-40B4-BE49-F238E27FC236}">
                <a16:creationId xmlns:a16="http://schemas.microsoft.com/office/drawing/2014/main" id="{F05814E8-30CE-4518-92F7-CA04E27A0BB6}"/>
              </a:ext>
            </a:extLst>
          </p:cNvPr>
          <p:cNvSpPr>
            <a:spLocks noGrp="1"/>
          </p:cNvSpPr>
          <p:nvPr/>
        </p:nvSpPr>
        <p:spPr>
          <a:xfrm>
            <a:off x="514350" y="4324350"/>
            <a:ext cx="447675" cy="323850"/>
          </a:xfrm>
          <a:prstGeom prst="rect">
            <a:avLst/>
          </a:prstGeom>
          <a:noFill/>
          <a:ln w="0">
            <a:noFill/>
            <a:prstDash val="solid"/>
          </a:ln>
        </p:spPr>
        <p:txBody>
          <a:bodyPr wrap="square" lIns="0" tIns="0" rIns="0" bIns="0" anchor="t">
            <a:normAutofit/>
          </a:bodyPr>
          <a:lstStyle>
            <a:defPPr algn="l">
              <a:defRPr sz="1500" b="1">
                <a:solidFill>
                  <a:srgbClr val="BC171D"/>
                </a:solidFill>
                <a:latin typeface="Bahnschrift"/>
                <a:ea typeface="Bahnschrift"/>
                <a:cs typeface="Bahnschrift"/>
              </a:defRPr>
            </a:defPPr>
          </a:lstStyle>
          <a:p>
            <a:pPr algn="l">
              <a:defRPr sz="1500" b="1">
                <a:solidFill>
                  <a:srgbClr val="BC171D"/>
                </a:solidFill>
                <a:latin typeface="Bahnschrift"/>
                <a:ea typeface="Bahnschrift"/>
                <a:cs typeface="Bahnschrift"/>
              </a:defRPr>
            </a:pPr>
            <a:r>
              <a:rPr sz="1500" b="1">
                <a:solidFill>
                  <a:srgbClr val="BC171D"/>
                </a:solidFill>
                <a:latin typeface="Bahnschrift"/>
                <a:ea typeface="Bahnschrift"/>
                <a:cs typeface="Bahnschrift"/>
              </a:rPr>
              <a:t>05</a:t>
            </a:r>
          </a:p>
        </p:txBody>
      </p:sp>
      <p:sp>
        <p:nvSpPr>
          <p:cNvPr id="21" name="Rectangle 20">
            <a:extLst>
              <a:ext uri="{FF2B5EF4-FFF2-40B4-BE49-F238E27FC236}">
                <a16:creationId xmlns:a16="http://schemas.microsoft.com/office/drawing/2014/main" id="{A0B72029-B326-4093-BA2E-2FD2401305E6}"/>
              </a:ext>
            </a:extLst>
          </p:cNvPr>
          <p:cNvSpPr>
            <a:spLocks noGrp="1"/>
          </p:cNvSpPr>
          <p:nvPr/>
        </p:nvSpPr>
        <p:spPr>
          <a:xfrm>
            <a:off x="1047750" y="4324350"/>
            <a:ext cx="9925050" cy="409575"/>
          </a:xfrm>
          <a:prstGeom prst="rect">
            <a:avLst/>
          </a:prstGeom>
          <a:noFill/>
          <a:ln w="0">
            <a:noFill/>
            <a:prstDash val="solid"/>
          </a:ln>
        </p:spPr>
        <p:txBody>
          <a:bodyPr wrap="square" lIns="0" tIns="0" rIns="0" bIns="0" anchor="t">
            <a:normAutofit/>
          </a:bodyPr>
          <a:lstStyle>
            <a:defPPr algn="l">
              <a:defRPr sz="1500" b="0">
                <a:solidFill>
                  <a:srgbClr val="20252B"/>
                </a:solidFill>
                <a:latin typeface="Segoe UI"/>
                <a:ea typeface="Segoe UI"/>
                <a:cs typeface="Segoe UI"/>
              </a:defRPr>
            </a:defPPr>
          </a:lstStyle>
          <a:p>
            <a:pPr algn="l">
              <a:defRPr sz="1500" b="0">
                <a:solidFill>
                  <a:srgbClr val="20252B"/>
                </a:solidFill>
                <a:latin typeface="Segoe UI"/>
                <a:ea typeface="Segoe UI"/>
                <a:cs typeface="Segoe UI"/>
              </a:defRPr>
            </a:pPr>
            <a:r>
              <a:rPr sz="1500" b="0">
                <a:solidFill>
                  <a:srgbClr val="20252B"/>
                </a:solidFill>
                <a:latin typeface="Segoe UI"/>
                <a:ea typeface="Segoe UI"/>
                <a:cs typeface="Segoe UI"/>
              </a:rPr>
              <a:t>Baseline comparison, split manifest and error outputs</a:t>
            </a:r>
          </a:p>
        </p:txBody>
      </p:sp>
      <p:sp>
        <p:nvSpPr>
          <p:cNvPr id="22" name="Rectangle 21">
            <a:extLst>
              <a:ext uri="{FF2B5EF4-FFF2-40B4-BE49-F238E27FC236}">
                <a16:creationId xmlns:a16="http://schemas.microsoft.com/office/drawing/2014/main" id="{D45241EE-B27B-4F1A-96E4-3475E2EDE21A}"/>
              </a:ext>
            </a:extLst>
          </p:cNvPr>
          <p:cNvSpPr>
            <a:spLocks noGrp="1"/>
          </p:cNvSpPr>
          <p:nvPr/>
        </p:nvSpPr>
        <p:spPr>
          <a:xfrm>
            <a:off x="514350" y="4800600"/>
            <a:ext cx="11163300" cy="9525"/>
          </a:xfrm>
          <a:prstGeom prst="rect">
            <a:avLst/>
          </a:prstGeom>
          <a:solidFill>
            <a:srgbClr val="E6E0D8"/>
          </a:solidFill>
          <a:ln w="0">
            <a:noFill/>
            <a:prstDash val="solid"/>
          </a:ln>
        </p:spPr>
      </p:sp>
      <p:sp>
        <p:nvSpPr>
          <p:cNvPr id="23" name="Rectangle 22">
            <a:extLst>
              <a:ext uri="{FF2B5EF4-FFF2-40B4-BE49-F238E27FC236}">
                <a16:creationId xmlns:a16="http://schemas.microsoft.com/office/drawing/2014/main" id="{F582D538-96FC-4F04-8D4A-55EDA3344383}"/>
              </a:ext>
            </a:extLst>
          </p:cNvPr>
          <p:cNvSpPr>
            <a:spLocks noGrp="1"/>
          </p:cNvSpPr>
          <p:nvPr/>
        </p:nvSpPr>
        <p:spPr>
          <a:xfrm>
            <a:off x="514350" y="4933950"/>
            <a:ext cx="447675" cy="323850"/>
          </a:xfrm>
          <a:prstGeom prst="rect">
            <a:avLst/>
          </a:prstGeom>
          <a:noFill/>
          <a:ln w="0">
            <a:noFill/>
            <a:prstDash val="solid"/>
          </a:ln>
        </p:spPr>
        <p:txBody>
          <a:bodyPr wrap="square" lIns="0" tIns="0" rIns="0" bIns="0" anchor="t">
            <a:normAutofit/>
          </a:bodyPr>
          <a:lstStyle>
            <a:defPPr algn="l">
              <a:defRPr sz="1500" b="1">
                <a:solidFill>
                  <a:srgbClr val="BC171D"/>
                </a:solidFill>
                <a:latin typeface="Bahnschrift"/>
                <a:ea typeface="Bahnschrift"/>
                <a:cs typeface="Bahnschrift"/>
              </a:defRPr>
            </a:defPPr>
          </a:lstStyle>
          <a:p>
            <a:pPr algn="l">
              <a:defRPr sz="1500" b="1">
                <a:solidFill>
                  <a:srgbClr val="BC171D"/>
                </a:solidFill>
                <a:latin typeface="Bahnschrift"/>
                <a:ea typeface="Bahnschrift"/>
                <a:cs typeface="Bahnschrift"/>
              </a:defRPr>
            </a:pPr>
            <a:r>
              <a:rPr sz="1500" b="1">
                <a:solidFill>
                  <a:srgbClr val="BC171D"/>
                </a:solidFill>
                <a:latin typeface="Bahnschrift"/>
                <a:ea typeface="Bahnschrift"/>
                <a:cs typeface="Bahnschrift"/>
              </a:rPr>
              <a:t>06</a:t>
            </a:r>
          </a:p>
        </p:txBody>
      </p:sp>
      <p:sp>
        <p:nvSpPr>
          <p:cNvPr id="24" name="Rectangle 23">
            <a:extLst>
              <a:ext uri="{FF2B5EF4-FFF2-40B4-BE49-F238E27FC236}">
                <a16:creationId xmlns:a16="http://schemas.microsoft.com/office/drawing/2014/main" id="{4A9E09DA-FBD0-4758-B446-9B437509C7C4}"/>
              </a:ext>
            </a:extLst>
          </p:cNvPr>
          <p:cNvSpPr>
            <a:spLocks noGrp="1"/>
          </p:cNvSpPr>
          <p:nvPr/>
        </p:nvSpPr>
        <p:spPr>
          <a:xfrm>
            <a:off x="1047750" y="4933950"/>
            <a:ext cx="9925050" cy="409575"/>
          </a:xfrm>
          <a:prstGeom prst="rect">
            <a:avLst/>
          </a:prstGeom>
          <a:noFill/>
          <a:ln w="0">
            <a:noFill/>
            <a:prstDash val="solid"/>
          </a:ln>
        </p:spPr>
        <p:txBody>
          <a:bodyPr wrap="square" lIns="0" tIns="0" rIns="0" bIns="0" anchor="t">
            <a:normAutofit/>
          </a:bodyPr>
          <a:lstStyle>
            <a:defPPr algn="l">
              <a:defRPr sz="1500" b="0">
                <a:solidFill>
                  <a:srgbClr val="20252B"/>
                </a:solidFill>
                <a:latin typeface="Segoe UI"/>
                <a:ea typeface="Segoe UI"/>
                <a:cs typeface="Segoe UI"/>
              </a:defRPr>
            </a:defPPr>
          </a:lstStyle>
          <a:p>
            <a:pPr algn="l">
              <a:defRPr sz="1500" b="0">
                <a:solidFill>
                  <a:srgbClr val="20252B"/>
                </a:solidFill>
                <a:latin typeface="Segoe UI"/>
                <a:ea typeface="Segoe UI"/>
                <a:cs typeface="Segoe UI"/>
              </a:defRPr>
            </a:pPr>
            <a:r>
              <a:rPr sz="1500" b="0">
                <a:solidFill>
                  <a:srgbClr val="20252B"/>
                </a:solidFill>
                <a:latin typeface="Segoe UI"/>
                <a:ea typeface="Segoe UI"/>
                <a:cs typeface="Segoe UI"/>
              </a:rPr>
              <a:t>23 passing tests, source provenance and project documentation</a:t>
            </a:r>
          </a:p>
        </p:txBody>
      </p:sp>
      <p:sp>
        <p:nvSpPr>
          <p:cNvPr id="25" name="Rectangle 24">
            <a:extLst>
              <a:ext uri="{FF2B5EF4-FFF2-40B4-BE49-F238E27FC236}">
                <a16:creationId xmlns:a16="http://schemas.microsoft.com/office/drawing/2014/main" id="{14920FA1-5851-4C20-8574-94972B68DFD3}"/>
              </a:ext>
            </a:extLst>
          </p:cNvPr>
          <p:cNvSpPr>
            <a:spLocks noGrp="1"/>
          </p:cNvSpPr>
          <p:nvPr/>
        </p:nvSpPr>
        <p:spPr>
          <a:xfrm>
            <a:off x="514350" y="5705475"/>
            <a:ext cx="11163300" cy="466725"/>
          </a:xfrm>
          <a:prstGeom prst="rect">
            <a:avLst/>
          </a:prstGeom>
          <a:solidFill>
            <a:srgbClr val="BC171D"/>
          </a:solidFill>
          <a:ln w="0">
            <a:noFill/>
            <a:prstDash val="solid"/>
          </a:ln>
        </p:spPr>
      </p:sp>
      <p:sp>
        <p:nvSpPr>
          <p:cNvPr id="26" name="Rectangle 25">
            <a:extLst>
              <a:ext uri="{FF2B5EF4-FFF2-40B4-BE49-F238E27FC236}">
                <a16:creationId xmlns:a16="http://schemas.microsoft.com/office/drawing/2014/main" id="{9DFCDB8C-26AD-4FB8-9588-3C324C41A13F}"/>
              </a:ext>
            </a:extLst>
          </p:cNvPr>
          <p:cNvSpPr>
            <a:spLocks noGrp="1"/>
          </p:cNvSpPr>
          <p:nvPr/>
        </p:nvSpPr>
        <p:spPr>
          <a:xfrm>
            <a:off x="676275" y="5791200"/>
            <a:ext cx="10839450" cy="304800"/>
          </a:xfrm>
          <a:prstGeom prst="rect">
            <a:avLst/>
          </a:prstGeom>
          <a:noFill/>
          <a:ln w="0">
            <a:noFill/>
            <a:prstDash val="solid"/>
          </a:ln>
        </p:spPr>
        <p:txBody>
          <a:bodyPr wrap="square" lIns="0" tIns="0" rIns="0" bIns="0" anchor="t">
            <a:normAutofit/>
          </a:bodyPr>
          <a:lstStyle>
            <a:defPPr algn="l">
              <a:defRPr sz="1500" b="1">
                <a:solidFill>
                  <a:srgbClr val="FFFFFF"/>
                </a:solidFill>
                <a:latin typeface="Segoe UI"/>
                <a:ea typeface="Segoe UI"/>
                <a:cs typeface="Segoe UI"/>
              </a:defRPr>
            </a:defPPr>
          </a:lstStyle>
          <a:p>
            <a:pPr algn="l">
              <a:defRPr sz="1500" b="1">
                <a:solidFill>
                  <a:srgbClr val="FFFFFF"/>
                </a:solidFill>
                <a:latin typeface="Segoe UI"/>
                <a:ea typeface="Segoe UI"/>
                <a:cs typeface="Segoe UI"/>
              </a:defRPr>
            </a:pPr>
            <a:r>
              <a:rPr sz="1500" b="1">
                <a:solidFill>
                  <a:srgbClr val="FFFFFF"/>
                </a:solidFill>
                <a:latin typeface="Segoe UI"/>
                <a:ea typeface="Segoe UI"/>
                <a:cs typeface="Segoe UI"/>
              </a:rPr>
              <a:t>PatchProbe is a working review pilot. A larger, independently checked dataset is the next milestone.</a:t>
            </a:r>
          </a:p>
        </p:txBody>
      </p:sp>
    </p:spTree>
    <p:extLst>
      <p:ext uri="{BB962C8B-B14F-4D97-AF65-F5344CB8AC3E}">
        <p14:creationId xmlns:p14="http://schemas.microsoft.com/office/powerpoint/2010/main" val="34915955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2701</Words>
  <Application>Microsoft Office PowerPoint</Application>
  <DocSecurity>0</DocSecurity>
  <PresentationFormat>Widescreen</PresentationFormat>
  <Paragraphs>298</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Bahnschrift</vt:lpstr>
      <vt:lpstr>Consolas</vt:lpstr>
      <vt:lpstr>Segoe UI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23000740</cp:lastModifiedBy>
  <cp:revision>1</cp:revision>
  <dcterms:created xsi:type="dcterms:W3CDTF">2026-10-18T09:37:26Z</dcterms:created>
  <dcterms:modified xsi:type="dcterms:W3CDTF">2026-10-18T09:57:41Z</dcterms:modified>
</cp:coreProperties>
</file>