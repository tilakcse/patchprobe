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95baba87f142c7" /><Relationship Type="http://schemas.openxmlformats.org/officeDocument/2006/relationships/extended-properties" Target="/docProps/app.xml" Id="Rcdb687f1276447c1" /><Relationship Type="http://schemas.openxmlformats.org/officeDocument/2006/relationships/officeDocument" Target="/ppt/presentation.xml" Id="R3647f43043724c1f" /></Relationships>
</file>

<file path=ppt/presentation.xml><?xml version="1.0" encoding="utf-8"?>
<p:presentation xmlns:p="http://schemas.openxmlformats.org/presentationml/2006/main">
  <p:sldMasterIdLst>
    <p:sldMasterId xmlns:r="http://schemas.openxmlformats.org/officeDocument/2006/relationships" id="2147483648" r:id="Rabcb057802204313"/>
  </p:sldMasterIdLst>
  <p:notesMasterIdLst>
    <p:notesMasterId xmlns:r="http://schemas.openxmlformats.org/officeDocument/2006/relationships" r:id="R81fa7dfe56ee4168"/>
  </p:notesMasterIdLst>
  <p:sldIdLst>
    <p:sldId xmlns:r="http://schemas.openxmlformats.org/officeDocument/2006/relationships" id="256" r:id="R4b6866fd87544a79"/>
    <p:sldId xmlns:r="http://schemas.openxmlformats.org/officeDocument/2006/relationships" id="257" r:id="R27f7f4ee99c142c9"/>
    <p:sldId xmlns:r="http://schemas.openxmlformats.org/officeDocument/2006/relationships" id="258" r:id="Rc261db42c9fd4778"/>
    <p:sldId xmlns:r="http://schemas.openxmlformats.org/officeDocument/2006/relationships" id="259" r:id="Rceb51c3a7e384a78"/>
    <p:sldId xmlns:r="http://schemas.openxmlformats.org/officeDocument/2006/relationships" id="260" r:id="R5c1c7a5bc3914f40"/>
    <p:sldId xmlns:r="http://schemas.openxmlformats.org/officeDocument/2006/relationships" id="261" r:id="R6394c0bb9df34f29"/>
    <p:sldId xmlns:r="http://schemas.openxmlformats.org/officeDocument/2006/relationships" id="262" r:id="Rd7cba335d1ce4bde"/>
    <p:sldId xmlns:r="http://schemas.openxmlformats.org/officeDocument/2006/relationships" id="263" r:id="R45dfda0647b54353"/>
    <p:sldId xmlns:r="http://schemas.openxmlformats.org/officeDocument/2006/relationships" id="264" r:id="Rbf0dad8caa3640a2"/>
    <p:sldId xmlns:r="http://schemas.openxmlformats.org/officeDocument/2006/relationships" id="265" r:id="Rb3b91d36e5d24025"/>
    <p:sldId xmlns:r="http://schemas.openxmlformats.org/officeDocument/2006/relationships" id="266" r:id="Re4553721129147c1"/>
    <p:sldId xmlns:r="http://schemas.openxmlformats.org/officeDocument/2006/relationships" id="267" r:id="Rae5018d6795a4d9c"/>
    <p:sldId xmlns:r="http://schemas.openxmlformats.org/officeDocument/2006/relationships" id="268" r:id="R6e3cf309e7f744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d598607e7a4065" /><Relationship Type="http://schemas.openxmlformats.org/officeDocument/2006/relationships/slideMaster" Target="/ppt/slideMasters/slideMaster1.xml" Id="Rabcb057802204313" /><Relationship Type="http://schemas.openxmlformats.org/officeDocument/2006/relationships/notesMaster" Target="/ppt/notesMasters/notesMaster1.xml" Id="R81fa7dfe56ee4168" /><Relationship Type="http://schemas.openxmlformats.org/officeDocument/2006/relationships/presProps" Target="/ppt/presProps.xml" Id="R3f1f79fed8374c1b" /><Relationship Type="http://schemas.openxmlformats.org/officeDocument/2006/relationships/tableStyles" Target="/ppt/tableStyles.xml" Id="R416775ab1c9c4344" /><Relationship Type="http://schemas.openxmlformats.org/officeDocument/2006/relationships/slide" Target="/ppt/slides/slide1.xml" Id="R4b6866fd87544a79" /><Relationship Type="http://schemas.openxmlformats.org/officeDocument/2006/relationships/slide" Target="/ppt/slides/slide2.xml" Id="R27f7f4ee99c142c9" /><Relationship Type="http://schemas.openxmlformats.org/officeDocument/2006/relationships/slide" Target="/ppt/slides/slide3.xml" Id="Rc261db42c9fd4778" /><Relationship Type="http://schemas.openxmlformats.org/officeDocument/2006/relationships/slide" Target="/ppt/slides/slide4.xml" Id="Rceb51c3a7e384a78" /><Relationship Type="http://schemas.openxmlformats.org/officeDocument/2006/relationships/slide" Target="/ppt/slides/slide5.xml" Id="R5c1c7a5bc3914f40" /><Relationship Type="http://schemas.openxmlformats.org/officeDocument/2006/relationships/slide" Target="/ppt/slides/slide6.xml" Id="R6394c0bb9df34f29" /><Relationship Type="http://schemas.openxmlformats.org/officeDocument/2006/relationships/slide" Target="/ppt/slides/slide7.xml" Id="Rd7cba335d1ce4bde" /><Relationship Type="http://schemas.openxmlformats.org/officeDocument/2006/relationships/slide" Target="/ppt/slides/slide8.xml" Id="R45dfda0647b54353" /><Relationship Type="http://schemas.openxmlformats.org/officeDocument/2006/relationships/slide" Target="/ppt/slides/slide9.xml" Id="Rbf0dad8caa3640a2" /><Relationship Type="http://schemas.openxmlformats.org/officeDocument/2006/relationships/slide" Target="/ppt/slides/slide10.xml" Id="Rb3b91d36e5d24025" /><Relationship Type="http://schemas.openxmlformats.org/officeDocument/2006/relationships/slide" Target="/ppt/slides/slide11.xml" Id="Re4553721129147c1" /><Relationship Type="http://schemas.openxmlformats.org/officeDocument/2006/relationships/slide" Target="/ppt/slides/slide12.xml" Id="Rae5018d6795a4d9c" /><Relationship Type="http://schemas.openxmlformats.org/officeDocument/2006/relationships/slide" Target="/ppt/slides/slide13.xml" Id="R6e3cf309e7f744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ed1904e50049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161fc6fb794fa5" /><Relationship Type="http://schemas.openxmlformats.org/officeDocument/2006/relationships/notesMaster" Target="/ppt/notesMasters/notesMaster1.xml" Id="R49902f39185947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12f98222b14c47" /><Relationship Type="http://schemas.openxmlformats.org/officeDocument/2006/relationships/notesMaster" Target="/ppt/notesMasters/notesMaster1.xml" Id="R922ebdd5b4f34b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ceb86846b54406" /><Relationship Type="http://schemas.openxmlformats.org/officeDocument/2006/relationships/notesMaster" Target="/ppt/notesMasters/notesMaster1.xml" Id="R8f7bbef9a84d43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954ab33fc142a2" /><Relationship Type="http://schemas.openxmlformats.org/officeDocument/2006/relationships/notesMaster" Target="/ppt/notesMasters/notesMaster1.xml" Id="Rc95976d41c7042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1ec13fde724b5b" /><Relationship Type="http://schemas.openxmlformats.org/officeDocument/2006/relationships/notesMaster" Target="/ppt/notesMasters/notesMaster1.xml" Id="R765f12b2a2194f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1f5d4c413a4d87" /><Relationship Type="http://schemas.openxmlformats.org/officeDocument/2006/relationships/notesMaster" Target="/ppt/notesMasters/notesMaster1.xml" Id="R180ade65f11e4c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97f2d7277d455e" /><Relationship Type="http://schemas.openxmlformats.org/officeDocument/2006/relationships/notesMaster" Target="/ppt/notesMasters/notesMaster1.xml" Id="R141cad003a8343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98a8cd50354902" /><Relationship Type="http://schemas.openxmlformats.org/officeDocument/2006/relationships/notesMaster" Target="/ppt/notesMasters/notesMaster1.xml" Id="R2f056266e97841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9821f2402048b2" /><Relationship Type="http://schemas.openxmlformats.org/officeDocument/2006/relationships/notesMaster" Target="/ppt/notesMasters/notesMaster1.xml" Id="R60ef6bd3d5ec42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e2103b8f70462f" /><Relationship Type="http://schemas.openxmlformats.org/officeDocument/2006/relationships/notesMaster" Target="/ppt/notesMasters/notesMaster1.xml" Id="Re32f6abf9f404b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e68673042d4f97" /><Relationship Type="http://schemas.openxmlformats.org/officeDocument/2006/relationships/notesMaster" Target="/ppt/notesMasters/notesMaster1.xml" Id="Rb91edf8fae1942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786e85400a4c79" /><Relationship Type="http://schemas.openxmlformats.org/officeDocument/2006/relationships/notesMaster" Target="/ppt/notesMasters/notesMaster1.xml" Id="R7a4bd9cdea4147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810d09af7446da" /><Relationship Type="http://schemas.openxmlformats.org/officeDocument/2006/relationships/notesMaster" Target="/ppt/notesMasters/notesMaster1.xml" Id="R60cec4da9a0547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task in one sentence. All four team members are listed. Tilaksinh presents slides 6 to 9, 11 and 13.</a:t>
            </a:r>
          </a:p>
          <a:p xmlns:a="http://schemas.openxmlformats.org/drawingml/2006/main">
            <a:r>
              <a:t/>
            </a:r>
          </a:p>
          <a:p xmlns:a="http://schemas.openxmlformats.org/drawingml/2006/main">
            <a:r>
              <a:t>Sources: User-supplied Navrachana University logo; PatchProbe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SQLite sentence as the concrete example. Do not imply PatchProbe knows an application’s actual configuration. It suggests the first area to inspect. Django’s official guide tells upgraders to read release notes and run tests.</a:t>
            </a:r>
          </a:p>
          <a:p xmlns:a="http://schemas.openxmlformats.org/drawingml/2006/main">
            <a:r>
              <a:t/>
            </a:r>
          </a:p>
          <a:p xmlns:a="http://schemas.openxmlformats.org/drawingml/2006/main">
            <a:r>
              <a:t>Sources: https://docs.djangoproject.com/en/6.0/howto/upgrade-version/ | Django 6.0 pinned source: https://github.com/django/django/blob/85eb963c5297fb285aecf4a90c97141a1b9c5bee/docs/releases/6.0.txt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input and target for each study. Avoid saying that no one has ever built a similar system. DeepRelease generates release notes from pull requests and classifies change category. Wu et al. study release-note-related issues. Pan et al. survey ML test selection. PatchProbe’s target is the first broad verification area for a published note.</a:t>
            </a:r>
          </a:p>
          <a:p xmlns:a="http://schemas.openxmlformats.org/drawingml/2006/main">
            <a:r>
              <a:t/>
            </a:r>
          </a:p>
          <a:p xmlns:a="http://schemas.openxmlformats.org/drawingml/2006/main">
            <a:r>
              <a:t>Sources: https://arxiv.org/abs/2201.06720 | https://arxiv.org/abs/2203.15592 | https://arxiv.org/abs/2106.13891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extraction CSV has 571 candidate entries and no target column. A separate CSV holds 50 human-confirmed decisions. One UNCLEAR row is excluded from training. The current pilot has zero examples of “No targeted check stated.” Do not attribute equal numbers of completed pilot reviews to teammates; a balanced second review is on slide 12.</a:t>
            </a:r>
          </a:p>
          <a:p xmlns:a="http://schemas.openxmlformats.org/drawingml/2006/main">
            <a:r>
              <a:t/>
            </a:r>
          </a:p>
          <a:p xmlns:a="http://schemas.openxmlformats.org/drawingml/2006/main">
            <a:r>
              <a:t>Sources: D:/Development/Projects/PatchProbe/data/processed/manifest.json | D:/Development/Projects/PatchProbe/data/processed/pilot_reviewed_labels.csv | D:/Development/Projects/PatchProbe/docs/DATA_AND_LABELS.md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stopword removal is not included: negation and small words may change technical meaning. There is no fixed embedding dimension; TF-IDF learns sparse vocabularies from training text. The final model has 5,838 features in this pilot. The chosen split is by release, not random note rows.</a:t>
            </a:r>
          </a:p>
          <a:p xmlns:a="http://schemas.openxmlformats.org/drawingml/2006/main">
            <a:r>
              <a:t/>
            </a:r>
          </a:p>
          <a:p xmlns:a="http://schemas.openxmlformats.org/drawingml/2006/main">
            <a:r>
              <a:t>Sources: D:/Development/Projects/PatchProbe/docs/ARCHITECTURE.md | D:/Development/Projects/PatchProbe/docs/MODEL_CARD.md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pyproject.toml in VS Code first. Show declared dependencies. Python standard-library code performs extraction; pandas is declared transitively but not a core imported module. The app runs locally without a paid API. Pytest has 23 passing tests as of the deck build.</a:t>
            </a:r>
          </a:p>
          <a:p xmlns:a="http://schemas.openxmlformats.org/drawingml/2006/main">
            <a:r>
              <a:t/>
            </a:r>
          </a:p>
          <a:p xmlns:a="http://schemas.openxmlformats.org/drawingml/2006/main">
            <a:r>
              <a:t>Sources: D:/Development/Projects/PatchProbe/pyproject.toml | D:/Development/Projects/PatchProbe/docs/ARCHITECTURE.md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project root in VS Code. Put these files in the Explorer so switching is quick. The actual source lives entirely in D:/Development/Projects/PatchProbe. You can show README run commands after the code tour.</a:t>
            </a:r>
          </a:p>
          <a:p xmlns:a="http://schemas.openxmlformats.org/drawingml/2006/main">
            <a:r>
              <a:t/>
            </a:r>
          </a:p>
          <a:p xmlns:a="http://schemas.openxmlformats.org/drawingml/2006/main">
            <a:r>
              <a:t>Sources: D:/Development/Projects/PatchProbe/docs/ARCHITECTURE.md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VS Code, show SOURCE_GROUPS and the Entry dataclass in ingest.py, then the build_dataset loop and output CSVs. Switch to annotation.py and explain ID validation, UNCLEAR note requirement, and atomic replacement of the labels CSV. The slide excerpts are abridged to fit; the live files are authoritative.</a:t>
            </a:r>
          </a:p>
          <a:p xmlns:a="http://schemas.openxmlformats.org/drawingml/2006/main">
            <a:r>
              <a:t/>
            </a:r>
          </a:p>
          <a:p xmlns:a="http://schemas.openxmlformats.org/drawingml/2006/main">
            <a:r>
              <a:t>Sources: D:/Development/Projects/PatchProbe/src/patchprobe/ingest.py | D:/Development/Projects/PatchProbe/scripts/build_dataset.py | D:/Development/Projects/PatchProbe/src/patchprobe/annotation.py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split_by_release, make_pipeline, and train_and_evaluate in model.py. Show that the model receives cleaned text only and that vectorizers are fitted when the pipeline fits the training split. Then open artifact_status and predict_review in inference.py. The code excerpt omits sublinear_tf and max_iter for space; point to the live file for exact parameters.</a:t>
            </a:r>
          </a:p>
          <a:p xmlns:a="http://schemas.openxmlformats.org/drawingml/2006/main">
            <a:r>
              <a:t/>
            </a:r>
          </a:p>
          <a:p xmlns:a="http://schemas.openxmlformats.org/drawingml/2006/main">
            <a:r>
              <a:t>Sources: D:/Development/Projects/PatchProbe/src/patchprobe/model.py | D:/Development/Projects/PatchProbe/src/patchprobe/inference.py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call 0.276 accuracy; it is five-label macro-F1. The actual accuracy is 0.60. The keyword baseline is 0.280 macro-F1 and is slightly higher. The test has only ten entries, and one class has zero support. The model predicts API/code for 9 of 10 test entries. This is a pipeline validation and error analysis, not a validated five-class product.</a:t>
            </a:r>
          </a:p>
          <a:p xmlns:a="http://schemas.openxmlformats.org/drawingml/2006/main">
            <a:r>
              <a:t/>
            </a:r>
          </a:p>
          <a:p xmlns:a="http://schemas.openxmlformats.org/drawingml/2006/main">
            <a:r>
              <a:t>Sources: D:/Development/Projects/PatchProbe/docs/MODEL_CARD.md | D:/Development/Projects/PatchProbe/artifacts/model/metrics.json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terminal and VS Code ready before class. Start the app, show completed review count, use “Revisit a saved decision”, then choose Prediction review. Paste: The minimum supported version of SQLite is increased to 3.31.0. The current local pilot suggests Configuration/deployment. Highlight the pilot warning and missing class; do not treat score as calibrated confidence. A clean clone needs the training command in the runbook first.</a:t>
            </a:r>
          </a:p>
          <a:p xmlns:a="http://schemas.openxmlformats.org/drawingml/2006/main">
            <a:r>
              <a:t/>
            </a:r>
          </a:p>
          <a:p xmlns:a="http://schemas.openxmlformats.org/drawingml/2006/main">
            <a:r>
              <a:t>Sources: D:/Development/Projects/PatchProbe/docs/DEMO_RUNBOOK.md | D:/Development/Projects/PatchProbe/app.py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the four teammates already divided the 50 labels. This slide explicitly assigns a future independent second-pass review. Explain the near-duplicate pair: a deprecation note in dev and the removal note in test, at corpus similarity 0.890675. No tuning was performed on dev, but it still weakens independence. Future enterprise scope includes live integrations only after larger cross-library validation.</a:t>
            </a:r>
          </a:p>
          <a:p xmlns:a="http://schemas.openxmlformats.org/drawingml/2006/main">
            <a:r>
              <a:t/>
            </a:r>
          </a:p>
          <a:p xmlns:a="http://schemas.openxmlformats.org/drawingml/2006/main">
            <a:r>
              <a:t>Sources: D:/Development/Projects/PatchProbe/docs/EVALUATION.md | D:/Development/Projects/PatchProbe/docs/DECISIONS.md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showing the repository URL and inviting questions. Do not describe the pilot metric as production-ready accuracy. The code, source manifest, public label export and deck are committed to the project repository. The detailed local annotation CSV and model artifacts remain on this laptop unless explicitly shared.</a:t>
            </a:r>
          </a:p>
          <a:p xmlns:a="http://schemas.openxmlformats.org/drawingml/2006/main">
            <a:r>
              <a:t/>
            </a:r>
          </a:p>
          <a:p xmlns:a="http://schemas.openxmlformats.org/drawingml/2006/main">
            <a:r>
              <a:t>Sources: https://github.com/TilakCSE/PatchProbe | D:/Development/Projects/PatchProbe/README.md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bbd5061c8e41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d351fe3d7349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28beba539449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acee8066fb45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5c05805d2840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bf82807a7042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FA3B8E-2CBC-4901-B65C-0B0B9BF4B5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04E101-969C-49DC-8BB2-36251697B5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612DC2-4495-4477-99E0-FA236C581FA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C7197-8B28-4DD1-8048-2FB7459B4A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238B58-4050-4165-A425-CEF0BD513D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DC5EA2-24DA-4818-9A97-DBF86682C8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DF2F89-F0A0-4F24-B3AE-11BA214972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45350C-3121-445F-8EA1-8ECA559970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7A2207-E399-435B-A8AA-1C9E90588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756A1F-91A4-41FA-8ABE-F60816E226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0a2df329da4531" /><Relationship Type="http://schemas.openxmlformats.org/officeDocument/2006/relationships/slideLayout" Target="/ppt/slideLayouts/slideLayout1.xml" Id="R9045168549554eb4" /><Relationship Type="http://schemas.openxmlformats.org/officeDocument/2006/relationships/slideLayout" Target="/ppt/slideLayouts/slideLayout2.xml" Id="Re14a7893de9d452f" /><Relationship Type="http://schemas.openxmlformats.org/officeDocument/2006/relationships/slideLayout" Target="/ppt/slideLayouts/slideLayout3.xml" Id="R59ceefa1f2794a08" /><Relationship Type="http://schemas.openxmlformats.org/officeDocument/2006/relationships/slideLayout" Target="/ppt/slideLayouts/slideLayout4.xml" Id="R7dc3ac9c5ed34fef" /><Relationship Type="http://schemas.openxmlformats.org/officeDocument/2006/relationships/slideLayout" Target="/ppt/slideLayouts/slideLayout5.xml" Id="R19a6dd2f1d584953" /><Relationship Type="http://schemas.openxmlformats.org/officeDocument/2006/relationships/slideLayout" Target="/ppt/slideLayouts/slideLayout6.xml" Id="R8c31419aa0ae47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5168549554eb4"/>
    <p:sldLayoutId xmlns:r="http://schemas.openxmlformats.org/officeDocument/2006/relationships" id="2147483650" r:id="Re14a7893de9d452f"/>
    <p:sldLayoutId xmlns:r="http://schemas.openxmlformats.org/officeDocument/2006/relationships" id="2147483651" r:id="R59ceefa1f2794a08"/>
    <p:sldLayoutId xmlns:r="http://schemas.openxmlformats.org/officeDocument/2006/relationships" id="2147483652" r:id="R7dc3ac9c5ed34fef"/>
    <p:sldLayoutId xmlns:r="http://schemas.openxmlformats.org/officeDocument/2006/relationships" id="2147483653" r:id="R19a6dd2f1d584953"/>
    <p:sldLayoutId xmlns:r="http://schemas.openxmlformats.org/officeDocument/2006/relationships" id="2147483654" r:id="R8c31419aa0ae47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2995a71bb24e9d" /><Relationship Type="http://schemas.openxmlformats.org/officeDocument/2006/relationships/image" Target="/ppt/media/image.png" Id="Rad543c6e087d43cd" /><Relationship Type="http://schemas.openxmlformats.org/officeDocument/2006/relationships/notesSlide" Target="/ppt/notesSlides/notesSlide1.xml" Id="Re18ba7169cd9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d8cfa534694764" /><Relationship Type="http://schemas.openxmlformats.org/officeDocument/2006/relationships/notesSlide" Target="/ppt/notesSlides/notesSlide2.xml" Id="R379fe483fdfa45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d4add08dba4eb2" /><Relationship Type="http://schemas.openxmlformats.org/officeDocument/2006/relationships/notesSlide" Target="/ppt/notesSlides/notesSlide3.xml" Id="R93c0d4dd719b4e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dc76c569fe433f" /><Relationship Type="http://schemas.openxmlformats.org/officeDocument/2006/relationships/chart" Target="/ppt/slides/charts/chart1.xml" Id="R4046318c280b42e7" /><Relationship Type="http://schemas.openxmlformats.org/officeDocument/2006/relationships/notesSlide" Target="/ppt/notesSlides/notesSlide4.xml" Id="R4b8a8b6b7cf543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fc72c4dba14ae7" /><Relationship Type="http://schemas.openxmlformats.org/officeDocument/2006/relationships/notesSlide" Target="/ppt/notesSlides/notesSlide5.xml" Id="R779c8205189a4b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1cc8a900404664" /><Relationship Type="http://schemas.openxmlformats.org/officeDocument/2006/relationships/notesSlide" Target="/ppt/notesSlides/notesSlide6.xml" Id="Rd610b141d35745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fcff68668d4b21" /><Relationship Type="http://schemas.openxmlformats.org/officeDocument/2006/relationships/notesSlide" Target="/ppt/notesSlides/notesSlide7.xml" Id="R193a33e3e63446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c120b5f107483d" /><Relationship Type="http://schemas.openxmlformats.org/officeDocument/2006/relationships/notesSlide" Target="/ppt/notesSlides/notesSlide8.xml" Id="R0eefd17be25244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e02cbca51b487c" /><Relationship Type="http://schemas.openxmlformats.org/officeDocument/2006/relationships/notesSlide" Target="/ppt/notesSlides/notesSlide9.xml" Id="R83e189966fb246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c70e28d57e4d46" /><Relationship Type="http://schemas.openxmlformats.org/officeDocument/2006/relationships/chart" Target="/ppt/slides/charts/chart2.xml" Id="Re08307a670da4d7a" /><Relationship Type="http://schemas.openxmlformats.org/officeDocument/2006/relationships/notesSlide" Target="/ppt/notesSlides/notesSlide10.xml" Id="R24fd1f03055b4d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b45458f306442f" /><Relationship Type="http://schemas.openxmlformats.org/officeDocument/2006/relationships/notesSlide" Target="/ppt/notesSlides/notesSlide11.xml" Id="Rdd8bae594b004a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90d642e9ca46f5" /><Relationship Type="http://schemas.openxmlformats.org/officeDocument/2006/relationships/notesSlide" Target="/ppt/notesSlides/notesSlide12.xml" Id="R755b426a22ae4d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8a39621d8e4a36" /><Relationship Type="http://schemas.openxmlformats.org/officeDocument/2006/relationships/notesSlide" Target="/ppt/notesSlides/notesSlide13.xml" Id="R23b8859e20b642e0" /></Relationships>
</file>

<file path=ppt/slides/charts/chart1.xml><?xml version="1.0" encoding="utf-8"?>
<c:chartSpace xmlns:c="http://schemas.openxmlformats.org/drawingml/2006/chart">
  <c:lang val="en-US"/>
  <c:chart>
    <c:plotArea>
      <c:barChart>
        <c:barDir val="bar"/>
        <c:grouping val="clustered"/>
        <c:varyColors val="0"/>
        <c:ser>
          <c:idx val="0"/>
          <c:order val="0"/>
          <c:tx>
            <c:v>Reviewed entries</c:v>
          </c:tx>
          <c:spPr>
            <a:solidFill xmlns:a="http://schemas.openxmlformats.org/drawingml/2006/main">
              <a:srgbClr val="BC171D"/>
            </a:solidFill>
          </c:spPr>
          <c:invertIfNegative val="0"/>
          <c:dPt>
            <c:idx val="1"/>
            <c:invertIfNegative val="0"/>
            <c:spPr>
              <a:solidFill xmlns:a="http://schemas.openxmlformats.org/drawingml/2006/main">
                <a:srgbClr val="20252B"/>
              </a:solidFill>
            </c:spPr>
          </c:dPt>
          <c:dPt>
            <c:idx val="2"/>
            <c:invertIfNegative val="0"/>
            <c:spPr>
              <a:solidFill xmlns:a="http://schemas.openxmlformats.org/drawingml/2006/main">
                <a:srgbClr val="778592"/>
              </a:solidFill>
            </c:spPr>
          </c:dPt>
          <c:dPt>
            <c:idx val="3"/>
            <c:invertIfNegative val="0"/>
            <c:spPr>
              <a:solidFill xmlns:a="http://schemas.openxmlformats.org/drawingml/2006/main">
                <a:srgbClr val="B99572"/>
              </a:solidFill>
            </c:spPr>
          </c:dPt>
          <c:dPt>
            <c:idx val="4"/>
            <c:invertIfNegative val="0"/>
            <c:spPr>
              <a:solidFill xmlns:a="http://schemas.openxmlformats.org/drawingml/2006/main">
                <a:srgbClr val="E6E0D8"/>
              </a:solidFill>
            </c:spPr>
          </c:dPt>
          <c:cat>
            <c:strLit>
              <c:ptCount val="5"/>
              <c:pt idx="0">
                <c:v>API / code</c:v>
              </c:pt>
              <c:pt idx="1">
                <c:v>UI / output</c:v>
              </c:pt>
              <c:pt idx="2">
                <c:v>Configuration</c:v>
              </c:pt>
              <c:pt idx="3">
                <c:v>Data / schema</c:v>
              </c:pt>
              <c:pt idx="4">
                <c:v>No targeted check</c:v>
              </c:pt>
            </c:strLit>
          </c:cat>
          <c:val>
            <c:numLit>
              <c:formatCode>General</c:formatCode>
              <c:ptCount val="5"/>
              <c:pt idx="0">
                <c:v>29</c:v>
              </c:pt>
              <c:pt idx="1">
                <c:v>9</c:v>
              </c:pt>
              <c:pt idx="2">
                <c:v>6</c:v>
              </c:pt>
              <c:pt idx="3">
                <c:v>5</c:v>
              </c:pt>
              <c:pt idx="4">
                <c:v>0</c:v>
              </c:pt>
            </c:numLit>
          </c:val>
        </c:ser>
        <c:dLbls>
          <c:txPr>
            <a:bodyPr xmlns:a="http://schemas.openxmlformats.org/drawingml/2006/main" anchorCtr="1"/>
            <a:lstStyle xmlns:a="http://schemas.openxmlformats.org/drawingml/2006/main"/>
            <a:p xmlns:a="http://schemas.openxmlformats.org/drawingml/2006/main">
              <a:pPr>
                <a:defRPr sz="1275" b="1">
                  <a:solidFill>
                    <a:srgbClr val="20252B"/>
                  </a:solidFill>
                  <a:latin typeface="Segoe UI"/>
                  <a:ea typeface="Segoe UI"/>
                  <a:cs typeface="Segoe UI"/>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6E0D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0252B"/>
                </a:solidFill>
                <a:latin typeface="Segoe UI"/>
                <a:ea typeface="Segoe UI"/>
                <a:cs typeface="Segoe UI"/>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778592"/>
            </a:solidFill>
          </c:spPr>
          <c:invertIfNegative val="0"/>
          <c:cat>
            <c:strLit>
              <c:ptCount val="3"/>
              <c:pt idx="0">
                <c:v>Majority</c:v>
              </c:pt>
              <c:pt idx="1">
                <c:v>Keyword</c:v>
              </c:pt>
              <c:pt idx="2">
                <c:v>TF-IDF + LR</c:v>
              </c:pt>
            </c:strLit>
          </c:cat>
          <c:val>
            <c:numLit>
              <c:formatCode>0%</c:formatCode>
              <c:ptCount val="3"/>
              <c:pt idx="0">
                <c:v>0.5</c:v>
              </c:pt>
              <c:pt idx="1">
                <c:v>0.3</c:v>
              </c:pt>
              <c:pt idx="2">
                <c:v>0.6</c:v>
              </c:pt>
            </c:numLit>
          </c:val>
        </c:ser>
        <c:ser>
          <c:idx val="1"/>
          <c:order val="1"/>
          <c:tx>
            <c:v>Macro-F1 (5 labels)</c:v>
          </c:tx>
          <c:spPr>
            <a:solidFill xmlns:a="http://schemas.openxmlformats.org/drawingml/2006/main">
              <a:srgbClr val="BC171D"/>
            </a:solidFill>
          </c:spPr>
          <c:invertIfNegative val="0"/>
          <c:cat>
            <c:strLit>
              <c:ptCount val="3"/>
              <c:pt idx="0">
                <c:v>Majority</c:v>
              </c:pt>
              <c:pt idx="1">
                <c:v>Keyword</c:v>
              </c:pt>
              <c:pt idx="2">
                <c:v>TF-IDF + LR</c:v>
              </c:pt>
            </c:strLit>
          </c:cat>
          <c:val>
            <c:numLit>
              <c:formatCode>0%</c:formatCode>
              <c:ptCount val="3"/>
              <c:pt idx="0">
                <c:v>0.133</c:v>
              </c:pt>
              <c:pt idx="1">
                <c:v>0.28</c:v>
              </c:pt>
              <c:pt idx="2">
                <c:v>0.276</c:v>
              </c:pt>
            </c:numLit>
          </c:val>
        </c:ser>
        <c:dLbls>
          <c:numFmt formatCode="0.0%" sourceLinked="0"/>
          <c:txPr>
            <a:bodyPr xmlns:a="http://schemas.openxmlformats.org/drawingml/2006/main" anchorCtr="1"/>
            <a:lstStyle xmlns:a="http://schemas.openxmlformats.org/drawingml/2006/main"/>
            <a:p xmlns:a="http://schemas.openxmlformats.org/drawingml/2006/main">
              <a:pPr>
                <a:defRPr sz="1125" b="1">
                  <a:solidFill>
                    <a:srgbClr val="20252B"/>
                  </a:solidFill>
                  <a:latin typeface="Segoe UI"/>
                  <a:ea typeface="Segoe UI"/>
                  <a:cs typeface="Segoe UI"/>
                </a:defRPr>
              </a:pPr>
            </a:p>
          </c:txPr>
          <c:dLblPos val="outEnd"/>
          <c:showLegendKey val="0"/>
          <c:showVal val="1"/>
          <c:showCatName val="0"/>
          <c:showSerName val="0"/>
          <c:showPercent val="0"/>
          <c:showBubbleSize val="0"/>
          <c:showLeaderLines val="0"/>
        </c:dLbls>
        <c:gapWidth val="66"/>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E0D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0252B"/>
                </a:solidFill>
                <a:latin typeface="Segoe UI"/>
                <a:ea typeface="Segoe UI"/>
                <a:cs typeface="Segoe UI"/>
              </a:defRPr>
            </a:pPr>
          </a:p>
        </c:txPr>
        <c:crossAx val="48672768"/>
      </c:catAx>
      <c:valAx>
        <c:axId val="48672768"/>
        <c:scaling>
          <c:orientation val="minMax"/>
          <c:max val="0.7"/>
          <c:min val="0"/>
        </c:scaling>
        <c:delete val="0"/>
        <c:axPos val="l"/>
        <c:majorGridlines>
          <c:spPr>
            <a:ln xmlns:a="http://schemas.openxmlformats.org/drawingml/2006/main" w="9525">
              <a:solidFill>
                <a:srgbClr val="E6E0D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973"/>
                </a:solidFill>
                <a:latin typeface="Segoe UI"/>
                <a:ea typeface="Segoe UI"/>
                <a:cs typeface="Segoe UI"/>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0252B"/>
              </a:solidFill>
              <a:latin typeface="Segoe UI"/>
              <a:ea typeface="Segoe UI"/>
              <a:cs typeface="Segoe UI"/>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2025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F362E8-C412-4F90-9D5E-13C0A87EE10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E21CF7-885F-4327-A9FF-08F87AA53298}"/>
              </a:ext>
            </a:extLst>
          </p:cNvPr>
          <p:cNvSpPr>
            <a:spLocks xmlns:a="http://schemas.openxmlformats.org/drawingml/2006/main" noGrp="1"/>
          </p:cNvSpPr>
          <p:nvPr/>
        </p:nvSpPr>
        <p:spPr>
          <a:xfrm xmlns:a="http://schemas.openxmlformats.org/drawingml/2006/main">
            <a:off x="552450" y="723900"/>
            <a:ext cx="7429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FFFFFF"/>
                </a:solidFill>
                <a:latin typeface="Bahnschrift"/>
                <a:ea typeface="Bahnschrift"/>
                <a:cs typeface="Bahnschrift"/>
              </a:defRPr>
            </a:defPPr>
          </a:lstStyle>
          <a:p xmlns:a="http://schemas.openxmlformats.org/drawingml/2006/main">
            <a:pPr algn="l">
              <a:defRPr sz="4800" b="1">
                <a:solidFill>
                  <a:srgbClr val="FFFFFF"/>
                </a:solidFill>
                <a:latin typeface="Bahnschrift"/>
                <a:ea typeface="Bahnschrift"/>
                <a:cs typeface="Bahnschrift"/>
              </a:defRPr>
            </a:pPr>
            <a:r>
              <a:rPr sz="4800" b="1">
                <a:solidFill>
                  <a:srgbClr val="FFFFFF"/>
                </a:solidFill>
                <a:latin typeface="Bahnschrift"/>
                <a:ea typeface="Bahnschrift"/>
                <a:cs typeface="Bahnschrift"/>
              </a:rPr>
              <a:t>PatchProbe</a:t>
            </a:r>
          </a:p>
        </p:txBody>
      </p:sp>
      <p:sp>
        <p:nvSpPr>
          <p:cNvPr id="3" name="">
            <a:extLst xmlns:a="http://schemas.openxmlformats.org/drawingml/2006/main">
              <a:ext uri="{FF2B5EF4-FFF2-40B4-BE49-F238E27FC236}">
                <a16:creationId xmlns:a16="http://schemas.microsoft.com/office/drawing/2014/main" id="{E475E7DE-74C3-4983-BF8F-6C970C5AAE50}"/>
              </a:ext>
            </a:extLst>
          </p:cNvPr>
          <p:cNvSpPr>
            <a:spLocks xmlns:a="http://schemas.openxmlformats.org/drawingml/2006/main" noGrp="1"/>
          </p:cNvSpPr>
          <p:nvPr/>
        </p:nvSpPr>
        <p:spPr>
          <a:xfrm xmlns:a="http://schemas.openxmlformats.org/drawingml/2006/main">
            <a:off x="571500" y="1724025"/>
            <a:ext cx="752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E7E2DD"/>
                </a:solidFill>
                <a:latin typeface="Segoe UI"/>
                <a:ea typeface="Segoe UI"/>
                <a:cs typeface="Segoe UI"/>
              </a:defRPr>
            </a:defPPr>
          </a:lstStyle>
          <a:p xmlns:a="http://schemas.openxmlformats.org/drawingml/2006/main">
            <a:pPr algn="l">
              <a:defRPr sz="2100" b="0">
                <a:solidFill>
                  <a:srgbClr val="E7E2DD"/>
                </a:solidFill>
                <a:latin typeface="Segoe UI"/>
                <a:ea typeface="Segoe UI"/>
                <a:cs typeface="Segoe UI"/>
              </a:defRPr>
            </a:pPr>
            <a:r>
              <a:rPr sz="2100" b="0">
                <a:solidFill>
                  <a:srgbClr val="E7E2DD"/>
                </a:solidFill>
                <a:latin typeface="Segoe UI"/>
                <a:ea typeface="Segoe UI"/>
                <a:cs typeface="Segoe UI"/>
              </a:rPr>
              <a:t>Classifying release notes by the first area to verify</a:t>
            </a:r>
          </a:p>
        </p:txBody>
      </p:sp>
      <p:sp>
        <p:nvSpPr>
          <p:cNvPr id="4" name="">
            <a:extLst xmlns:a="http://schemas.openxmlformats.org/drawingml/2006/main">
              <a:ext uri="{FF2B5EF4-FFF2-40B4-BE49-F238E27FC236}">
                <a16:creationId xmlns:a16="http://schemas.microsoft.com/office/drawing/2014/main" id="{27F7CEDE-EF9F-464B-BE90-0D68936A32C1}"/>
              </a:ext>
            </a:extLst>
          </p:cNvPr>
          <p:cNvSpPr>
            <a:spLocks xmlns:a="http://schemas.openxmlformats.org/drawingml/2006/main" noGrp="1"/>
          </p:cNvSpPr>
          <p:nvPr/>
        </p:nvSpPr>
        <p:spPr>
          <a:xfrm xmlns:a="http://schemas.openxmlformats.org/drawingml/2006/main">
            <a:off x="571500" y="2724150"/>
            <a:ext cx="7286625" cy="476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2A4CD7-963E-4E55-9F46-C934E8FFA701}"/>
              </a:ext>
            </a:extLst>
          </p:cNvPr>
          <p:cNvSpPr>
            <a:spLocks xmlns:a="http://schemas.openxmlformats.org/drawingml/2006/main" noGrp="1"/>
          </p:cNvSpPr>
          <p:nvPr/>
        </p:nvSpPr>
        <p:spPr>
          <a:xfrm xmlns:a="http://schemas.openxmlformats.org/drawingml/2006/main">
            <a:off x="571500" y="29622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Natural Language Processing  •  Team 8</a:t>
            </a:r>
          </a:p>
        </p:txBody>
      </p:sp>
      <p:sp>
        <p:nvSpPr>
          <p:cNvPr id="6" name="">
            <a:extLst xmlns:a="http://schemas.openxmlformats.org/drawingml/2006/main">
              <a:ext uri="{FF2B5EF4-FFF2-40B4-BE49-F238E27FC236}">
                <a16:creationId xmlns:a16="http://schemas.microsoft.com/office/drawing/2014/main" id="{6B8A95FD-C153-4F6D-8F2C-7E3EA2C0B7CB}"/>
              </a:ext>
            </a:extLst>
          </p:cNvPr>
          <p:cNvSpPr>
            <a:spLocks xmlns:a="http://schemas.openxmlformats.org/drawingml/2006/main" noGrp="1"/>
          </p:cNvSpPr>
          <p:nvPr/>
        </p:nvSpPr>
        <p:spPr>
          <a:xfrm xmlns:a="http://schemas.openxmlformats.org/drawingml/2006/main">
            <a:off x="571500" y="341947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CFC9C2"/>
                </a:solidFill>
                <a:latin typeface="Segoe UI"/>
                <a:ea typeface="Segoe UI"/>
                <a:cs typeface="Segoe UI"/>
              </a:defRPr>
            </a:defPPr>
          </a:lstStyle>
          <a:p xmlns:a="http://schemas.openxmlformats.org/drawingml/2006/main">
            <a:pPr algn="l">
              <a:defRPr sz="1575" b="0">
                <a:solidFill>
                  <a:srgbClr val="CFC9C2"/>
                </a:solidFill>
                <a:latin typeface="Segoe UI"/>
                <a:ea typeface="Segoe UI"/>
                <a:cs typeface="Segoe UI"/>
              </a:defRPr>
            </a:pPr>
            <a:r>
              <a:rPr sz="1575" b="0">
                <a:solidFill>
                  <a:srgbClr val="CFC9C2"/>
                </a:solidFill>
                <a:latin typeface="Segoe UI"/>
                <a:ea typeface="Segoe UI"/>
                <a:cs typeface="Segoe UI"/>
              </a:rPr>
              <a:t>Navrachana University</a:t>
            </a:r>
          </a:p>
        </p:txBody>
      </p:sp>
      <p:sp>
        <p:nvSpPr>
          <p:cNvPr id="7" name="">
            <a:extLst xmlns:a="http://schemas.openxmlformats.org/drawingml/2006/main">
              <a:ext uri="{FF2B5EF4-FFF2-40B4-BE49-F238E27FC236}">
                <a16:creationId xmlns:a16="http://schemas.microsoft.com/office/drawing/2014/main" id="{790A1E1E-E6E7-4691-B212-91D088BA5CF9}"/>
              </a:ext>
            </a:extLst>
          </p:cNvPr>
          <p:cNvSpPr>
            <a:spLocks xmlns:a="http://schemas.openxmlformats.org/drawingml/2006/main" noGrp="1"/>
          </p:cNvSpPr>
          <p:nvPr/>
        </p:nvSpPr>
        <p:spPr>
          <a:xfrm xmlns:a="http://schemas.openxmlformats.org/drawingml/2006/main">
            <a:off x="571500" y="4248150"/>
            <a:ext cx="7524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Tilaksinh Chauhan  23000740</a:t>
            </a:r>
          </a:p>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Kavya Jariwala  23000543</a:t>
            </a:r>
          </a:p>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Bhargav Panchal  23000502</a:t>
            </a:r>
          </a:p>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Om Nathani  23000883</a:t>
            </a:r>
          </a:p>
        </p:txBody>
      </p:sp>
      <p:pic>
        <p:nvPicPr>
          <p:cNvPr id="8" name="">
            <a:extLst xmlns:a="http://schemas.openxmlformats.org/drawingml/2006/main">
              <a:ext uri="{FF2B5EF4-FFF2-40B4-BE49-F238E27FC236}">
                <a16:creationId xmlns:a16="http://schemas.microsoft.com/office/drawing/2014/main" id="{20231E1B-BFF2-405D-AE51-E712A60F4543}"/>
              </a:ext>
            </a:extLst>
          </p:cNvPr>
          <p:cNvPicPr>
            <a:picLocks xmlns:a="http://schemas.openxmlformats.org/drawingml/2006/main" noChangeAspect="1"/>
          </p:cNvPicPr>
          <p:nvPr/>
        </p:nvPicPr>
        <p:blipFill>
          <a:blip xmlns:r="http://schemas.openxmlformats.org/officeDocument/2006/relationships" xmlns:a="http://schemas.openxmlformats.org/drawingml/2006/main" r:embed="Rad543c6e087d43cd"/>
          <a:stretch xmlns:a="http://schemas.openxmlformats.org/drawingml/2006/main"/>
        </p:blipFill>
        <p:spPr>
          <a:xfrm xmlns:a="http://schemas.openxmlformats.org/drawingml/2006/main">
            <a:off x="8839200" y="713032"/>
            <a:ext cx="2628900" cy="367933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70BB94C-4545-43D5-A3DD-F25F74BB9007}"/>
              </a:ext>
            </a:extLst>
          </p:cNvPr>
          <p:cNvSpPr>
            <a:spLocks xmlns:a="http://schemas.openxmlformats.org/drawingml/2006/main" noGrp="1"/>
          </p:cNvSpPr>
          <p:nvPr/>
        </p:nvSpPr>
        <p:spPr>
          <a:xfrm xmlns:a="http://schemas.openxmlformats.org/drawingml/2006/main">
            <a:off x="571500" y="62293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5B0"/>
                </a:solidFill>
                <a:latin typeface="Segoe UI"/>
                <a:ea typeface="Segoe UI"/>
                <a:cs typeface="Segoe UI"/>
              </a:defRPr>
            </a:defPPr>
          </a:lstStyle>
          <a:p xmlns:a="http://schemas.openxmlformats.org/drawingml/2006/main">
            <a:pPr algn="l">
              <a:defRPr sz="1200" b="0">
                <a:solidFill>
                  <a:srgbClr val="B9B5B0"/>
                </a:solidFill>
                <a:latin typeface="Segoe UI"/>
                <a:ea typeface="Segoe UI"/>
                <a:cs typeface="Segoe UI"/>
              </a:defRPr>
            </a:pPr>
            <a:r>
              <a:rPr sz="1200" b="0">
                <a:solidFill>
                  <a:srgbClr val="B9B5B0"/>
                </a:solidFill>
                <a:latin typeface="Segoe UI"/>
                <a:ea typeface="Segoe UI"/>
                <a:cs typeface="Segoe UI"/>
              </a:rPr>
              <a:t>Project presentation  |  October 2026</a:t>
            </a:r>
          </a:p>
        </p:txBody>
      </p:sp>
    </p:spTree>
    <p:extLst>
      <p:ext uri="{BB962C8B-B14F-4D97-AF65-F5344CB8AC3E}">
        <p14:creationId xmlns:p14="http://schemas.microsoft.com/office/powerpoint/2010/main" val="102210075"/>
      </p:ext>
    </p:extLst>
  </p:cSld>
</p:sld>
</file>

<file path=ppt/slides/slide2.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F31B965-8CB4-4781-814F-04189E7279F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2">
            <a:extLst xmlns:a="http://schemas.openxmlformats.org/drawingml/2006/main">
              <a:ext uri="{FF2B5EF4-FFF2-40B4-BE49-F238E27FC236}">
                <a16:creationId xmlns:a16="http://schemas.microsoft.com/office/drawing/2014/main" id="{AFA79E2C-6B30-41E6-97BF-2A49F3D09FF2}"/>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The upgrade review problem</a:t>
            </a:r>
          </a:p>
        </p:txBody>
      </p:sp>
      <p:sp>
        <p:nvSpPr>
          <p:cNvPr id="3" name="">
            <a:extLst xmlns:a="http://schemas.openxmlformats.org/drawingml/2006/main">
              <a:ext uri="{FF2B5EF4-FFF2-40B4-BE49-F238E27FC236}">
                <a16:creationId xmlns:a16="http://schemas.microsoft.com/office/drawing/2014/main" id="{C133F50B-2A67-488F-B178-46E6CAF5DF18}"/>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7380E1-E0F9-4B66-A392-99E3C2FBF0A0}"/>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3485A4-7497-4095-BA5B-30F9FA00D075}"/>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84516EF6-824E-4E19-A2F7-20ACEF41C3BD}"/>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Kavya   •   02 / 13</a:t>
            </a:r>
          </a:p>
        </p:txBody>
      </p:sp>
      <p:sp>
        <p:nvSpPr>
          <p:cNvPr id="7" name="">
            <a:extLst xmlns:a="http://schemas.openxmlformats.org/drawingml/2006/main">
              <a:ext uri="{FF2B5EF4-FFF2-40B4-BE49-F238E27FC236}">
                <a16:creationId xmlns:a16="http://schemas.microsoft.com/office/drawing/2014/main" id="{2D6390C9-D166-4B7D-96B4-C7ACBA38CED5}"/>
              </a:ext>
            </a:extLst>
          </p:cNvPr>
          <p:cNvSpPr>
            <a:spLocks xmlns:a="http://schemas.openxmlformats.org/drawingml/2006/main" noGrp="1"/>
          </p:cNvSpPr>
          <p:nvPr/>
        </p:nvSpPr>
        <p:spPr>
          <a:xfrm xmlns:a="http://schemas.openxmlformats.org/drawingml/2006/main">
            <a:off x="514350" y="134302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A RELEASE NOTE GIVES A CHANGE, NOT A TEST PLAN</a:t>
            </a:r>
          </a:p>
        </p:txBody>
      </p:sp>
      <p:sp>
        <p:nvSpPr>
          <p:cNvPr id="8" name="">
            <a:extLst xmlns:a="http://schemas.openxmlformats.org/drawingml/2006/main">
              <a:ext uri="{FF2B5EF4-FFF2-40B4-BE49-F238E27FC236}">
                <a16:creationId xmlns:a16="http://schemas.microsoft.com/office/drawing/2014/main" id="{21F724BA-D82C-446F-B70F-14CCB910BED7}"/>
              </a:ext>
            </a:extLst>
          </p:cNvPr>
          <p:cNvSpPr>
            <a:spLocks xmlns:a="http://schemas.openxmlformats.org/drawingml/2006/main" noGrp="1"/>
          </p:cNvSpPr>
          <p:nvPr/>
        </p:nvSpPr>
        <p:spPr>
          <a:xfrm xmlns:a="http://schemas.openxmlformats.org/drawingml/2006/main">
            <a:off x="514350" y="1724025"/>
            <a:ext cx="5715000" cy="1304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E0F8AC4-028E-4A97-B820-78E8AAEDCE89}"/>
              </a:ext>
            </a:extLst>
          </p:cNvPr>
          <p:cNvSpPr>
            <a:spLocks xmlns:a="http://schemas.openxmlformats.org/drawingml/2006/main" noGrp="1"/>
          </p:cNvSpPr>
          <p:nvPr/>
        </p:nvSpPr>
        <p:spPr>
          <a:xfrm xmlns:a="http://schemas.openxmlformats.org/drawingml/2006/main">
            <a:off x="514350" y="1724025"/>
            <a:ext cx="57150" cy="13049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130024-817B-4F8E-BD6E-4F8AFFD4D2CC}"/>
              </a:ext>
            </a:extLst>
          </p:cNvPr>
          <p:cNvSpPr>
            <a:spLocks xmlns:a="http://schemas.openxmlformats.org/drawingml/2006/main" noGrp="1"/>
          </p:cNvSpPr>
          <p:nvPr/>
        </p:nvSpPr>
        <p:spPr>
          <a:xfrm xmlns:a="http://schemas.openxmlformats.org/drawingml/2006/main">
            <a:off x="714375" y="1914525"/>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0252B"/>
                </a:solidFill>
                <a:latin typeface="Segoe UI"/>
                <a:ea typeface="Segoe UI"/>
                <a:cs typeface="Segoe UI"/>
              </a:defRPr>
            </a:defPPr>
          </a:lstStyle>
          <a:p xmlns:a="http://schemas.openxmlformats.org/drawingml/2006/main">
            <a:pPr algn="l">
              <a:defRPr sz="1725" b="1">
                <a:solidFill>
                  <a:srgbClr val="20252B"/>
                </a:solidFill>
                <a:latin typeface="Segoe UI"/>
                <a:ea typeface="Segoe UI"/>
                <a:cs typeface="Segoe UI"/>
              </a:defRPr>
            </a:pPr>
            <a:r>
              <a:rPr sz="1725" b="1">
                <a:solidFill>
                  <a:srgbClr val="20252B"/>
                </a:solidFill>
                <a:latin typeface="Segoe UI"/>
                <a:ea typeface="Segoe UI"/>
                <a:cs typeface="Segoe UI"/>
              </a:rPr>
              <a:t>“The minimum supported version of SQLite is increased from 3.27.0 to 3.31.0.”</a:t>
            </a:r>
          </a:p>
        </p:txBody>
      </p:sp>
      <p:sp>
        <p:nvSpPr>
          <p:cNvPr id="11" name="">
            <a:extLst xmlns:a="http://schemas.openxmlformats.org/drawingml/2006/main">
              <a:ext uri="{FF2B5EF4-FFF2-40B4-BE49-F238E27FC236}">
                <a16:creationId xmlns:a16="http://schemas.microsoft.com/office/drawing/2014/main" id="{3005201B-4411-4FFB-A657-FB11743C5A0F}"/>
              </a:ext>
            </a:extLst>
          </p:cNvPr>
          <p:cNvSpPr>
            <a:spLocks xmlns:a="http://schemas.openxmlformats.org/drawingml/2006/main" noGrp="1"/>
          </p:cNvSpPr>
          <p:nvPr/>
        </p:nvSpPr>
        <p:spPr>
          <a:xfrm xmlns:a="http://schemas.openxmlformats.org/drawingml/2006/main">
            <a:off x="514350" y="3267075"/>
            <a:ext cx="5715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0252B"/>
                </a:solidFill>
                <a:latin typeface="Segoe UI"/>
                <a:ea typeface="Segoe UI"/>
                <a:cs typeface="Segoe UI"/>
              </a:defRPr>
            </a:defPPr>
          </a:lstStyle>
          <a:p xmlns:a="http://schemas.openxmlformats.org/drawingml/2006/main">
            <a:pPr algn="l">
              <a:defRPr sz="1650" b="0">
                <a:solidFill>
                  <a:srgbClr val="20252B"/>
                </a:solidFill>
                <a:latin typeface="Segoe UI"/>
                <a:ea typeface="Segoe UI"/>
                <a:cs typeface="Segoe UI"/>
              </a:defRPr>
            </a:pPr>
            <a:r>
              <a:rPr sz="1650" b="0">
                <a:solidFill>
                  <a:srgbClr val="20252B"/>
                </a:solidFill>
                <a:latin typeface="Segoe UI"/>
                <a:ea typeface="Segoe UI"/>
                <a:cs typeface="Segoe UI"/>
              </a:rPr>
              <a:t>A developer must still decide whether the app uses SQLite, where it runs, and what to check before upgrading.</a:t>
            </a:r>
          </a:p>
        </p:txBody>
      </p:sp>
      <p:sp>
        <p:nvSpPr>
          <p:cNvPr id="12" name="">
            <a:extLst xmlns:a="http://schemas.openxmlformats.org/drawingml/2006/main">
              <a:ext uri="{FF2B5EF4-FFF2-40B4-BE49-F238E27FC236}">
                <a16:creationId xmlns:a16="http://schemas.microsoft.com/office/drawing/2014/main" id="{CEE3D3EA-C723-4C1F-9AA3-121F93182A28}"/>
              </a:ext>
            </a:extLst>
          </p:cNvPr>
          <p:cNvSpPr>
            <a:spLocks xmlns:a="http://schemas.openxmlformats.org/drawingml/2006/main" noGrp="1"/>
          </p:cNvSpPr>
          <p:nvPr/>
        </p:nvSpPr>
        <p:spPr>
          <a:xfrm xmlns:a="http://schemas.openxmlformats.org/drawingml/2006/main">
            <a:off x="6677025" y="1343025"/>
            <a:ext cx="4524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THE EXISTING WORKFLOW</a:t>
            </a:r>
          </a:p>
        </p:txBody>
      </p:sp>
      <p:sp>
        <p:nvSpPr>
          <p:cNvPr id="13" name="">
            <a:extLst xmlns:a="http://schemas.openxmlformats.org/drawingml/2006/main">
              <a:ext uri="{FF2B5EF4-FFF2-40B4-BE49-F238E27FC236}">
                <a16:creationId xmlns:a16="http://schemas.microsoft.com/office/drawing/2014/main" id="{6A1E7EB6-5B68-4D99-AA46-50C71DDE1BBB}"/>
              </a:ext>
            </a:extLst>
          </p:cNvPr>
          <p:cNvSpPr>
            <a:spLocks xmlns:a="http://schemas.openxmlformats.org/drawingml/2006/main" noGrp="1"/>
          </p:cNvSpPr>
          <p:nvPr/>
        </p:nvSpPr>
        <p:spPr>
          <a:xfrm xmlns:a="http://schemas.openxmlformats.org/drawingml/2006/main">
            <a:off x="6677025" y="17145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1  Read every relevant note</a:t>
            </a:r>
          </a:p>
        </p:txBody>
      </p:sp>
      <p:sp>
        <p:nvSpPr>
          <p:cNvPr id="14" name="">
            <a:extLst xmlns:a="http://schemas.openxmlformats.org/drawingml/2006/main">
              <a:ext uri="{FF2B5EF4-FFF2-40B4-BE49-F238E27FC236}">
                <a16:creationId xmlns:a16="http://schemas.microsoft.com/office/drawing/2014/main" id="{2D920F1D-5E6E-44FC-900D-2C93014B1287}"/>
              </a:ext>
            </a:extLst>
          </p:cNvPr>
          <p:cNvSpPr>
            <a:spLocks xmlns:a="http://schemas.openxmlformats.org/drawingml/2006/main" noGrp="1"/>
          </p:cNvSpPr>
          <p:nvPr/>
        </p:nvSpPr>
        <p:spPr>
          <a:xfrm xmlns:a="http://schemas.openxmlformats.org/drawingml/2006/main">
            <a:off x="6677025" y="204787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Django advises reviewing release notes for each final release.</a:t>
            </a:r>
          </a:p>
        </p:txBody>
      </p:sp>
      <p:sp>
        <p:nvSpPr>
          <p:cNvPr id="15" name="">
            <a:extLst xmlns:a="http://schemas.openxmlformats.org/drawingml/2006/main">
              <a:ext uri="{FF2B5EF4-FFF2-40B4-BE49-F238E27FC236}">
                <a16:creationId xmlns:a16="http://schemas.microsoft.com/office/drawing/2014/main" id="{B720288D-9A9C-4CC1-BFA0-2FD7FCC4A234}"/>
              </a:ext>
            </a:extLst>
          </p:cNvPr>
          <p:cNvSpPr>
            <a:spLocks xmlns:a="http://schemas.openxmlformats.org/drawingml/2006/main" noGrp="1"/>
          </p:cNvSpPr>
          <p:nvPr/>
        </p:nvSpPr>
        <p:spPr>
          <a:xfrm xmlns:a="http://schemas.openxmlformats.org/drawingml/2006/main">
            <a:off x="6677025" y="28098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2  Map changes to the application</a:t>
            </a:r>
          </a:p>
        </p:txBody>
      </p:sp>
      <p:sp>
        <p:nvSpPr>
          <p:cNvPr id="16" name="">
            <a:extLst xmlns:a="http://schemas.openxmlformats.org/drawingml/2006/main">
              <a:ext uri="{FF2B5EF4-FFF2-40B4-BE49-F238E27FC236}">
                <a16:creationId xmlns:a16="http://schemas.microsoft.com/office/drawing/2014/main" id="{654A1395-5A2D-406D-B323-384266C19C87}"/>
              </a:ext>
            </a:extLst>
          </p:cNvPr>
          <p:cNvSpPr>
            <a:spLocks xmlns:a="http://schemas.openxmlformats.org/drawingml/2006/main" noGrp="1"/>
          </p:cNvSpPr>
          <p:nvPr/>
        </p:nvSpPr>
        <p:spPr>
          <a:xfrm xmlns:a="http://schemas.openxmlformats.org/drawingml/2006/main">
            <a:off x="6677025" y="31432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Identify affected code, settings, data or user-visible output.</a:t>
            </a:r>
          </a:p>
        </p:txBody>
      </p:sp>
      <p:sp>
        <p:nvSpPr>
          <p:cNvPr id="17" name="">
            <a:extLst xmlns:a="http://schemas.openxmlformats.org/drawingml/2006/main">
              <a:ext uri="{FF2B5EF4-FFF2-40B4-BE49-F238E27FC236}">
                <a16:creationId xmlns:a16="http://schemas.microsoft.com/office/drawing/2014/main" id="{B9FE585B-4389-49CB-9728-A81160E1ABC3}"/>
              </a:ext>
            </a:extLst>
          </p:cNvPr>
          <p:cNvSpPr>
            <a:spLocks xmlns:a="http://schemas.openxmlformats.org/drawingml/2006/main" noGrp="1"/>
          </p:cNvSpPr>
          <p:nvPr/>
        </p:nvSpPr>
        <p:spPr>
          <a:xfrm xmlns:a="http://schemas.openxmlformats.org/drawingml/2006/main">
            <a:off x="6677025" y="3905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3  Choose a first verification area</a:t>
            </a:r>
          </a:p>
        </p:txBody>
      </p:sp>
      <p:sp>
        <p:nvSpPr>
          <p:cNvPr id="18" name="">
            <a:extLst xmlns:a="http://schemas.openxmlformats.org/drawingml/2006/main">
              <a:ext uri="{FF2B5EF4-FFF2-40B4-BE49-F238E27FC236}">
                <a16:creationId xmlns:a16="http://schemas.microsoft.com/office/drawing/2014/main" id="{D21AEDBD-DEEA-4EF3-AC64-274C778D4CE2}"/>
              </a:ext>
            </a:extLst>
          </p:cNvPr>
          <p:cNvSpPr>
            <a:spLocks xmlns:a="http://schemas.openxmlformats.org/drawingml/2006/main" noGrp="1"/>
          </p:cNvSpPr>
          <p:nvPr/>
        </p:nvSpPr>
        <p:spPr>
          <a:xfrm xmlns:a="http://schemas.openxmlformats.org/drawingml/2006/main">
            <a:off x="6677025" y="423862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PatchProbe suggests where the human review should start.</a:t>
            </a:r>
          </a:p>
        </p:txBody>
      </p:sp>
      <p:sp>
        <p:nvSpPr>
          <p:cNvPr id="19" name="">
            <a:extLst xmlns:a="http://schemas.openxmlformats.org/drawingml/2006/main">
              <a:ext uri="{FF2B5EF4-FFF2-40B4-BE49-F238E27FC236}">
                <a16:creationId xmlns:a16="http://schemas.microsoft.com/office/drawing/2014/main" id="{EE76D451-519E-4B36-93EE-6611D01F6138}"/>
              </a:ext>
            </a:extLst>
          </p:cNvPr>
          <p:cNvSpPr>
            <a:spLocks xmlns:a="http://schemas.openxmlformats.org/drawingml/2006/main" noGrp="1"/>
          </p:cNvSpPr>
          <p:nvPr/>
        </p:nvSpPr>
        <p:spPr>
          <a:xfrm xmlns:a="http://schemas.openxmlformats.org/drawingml/2006/main">
            <a:off x="514350" y="44577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THREE EXAMPLES OF THE SAME DECISION</a:t>
            </a:r>
          </a:p>
        </p:txBody>
      </p:sp>
      <p:sp>
        <p:nvSpPr>
          <p:cNvPr id="20" name="">
            <a:extLst xmlns:a="http://schemas.openxmlformats.org/drawingml/2006/main">
              <a:ext uri="{FF2B5EF4-FFF2-40B4-BE49-F238E27FC236}">
                <a16:creationId xmlns:a16="http://schemas.microsoft.com/office/drawing/2014/main" id="{B6619C9F-2604-4635-8EF2-E0643C5EA8ED}"/>
              </a:ext>
            </a:extLst>
          </p:cNvPr>
          <p:cNvSpPr>
            <a:spLocks xmlns:a="http://schemas.openxmlformats.org/drawingml/2006/main" noGrp="1"/>
          </p:cNvSpPr>
          <p:nvPr/>
        </p:nvSpPr>
        <p:spPr>
          <a:xfrm xmlns:a="http://schemas.openxmlformats.org/drawingml/2006/main">
            <a:off x="514350" y="4733925"/>
            <a:ext cx="5095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SQLite minimum version  →  Configuration / deployment</a:t>
            </a:r>
          </a:p>
        </p:txBody>
      </p:sp>
      <p:sp>
        <p:nvSpPr>
          <p:cNvPr id="21" name="">
            <a:extLst xmlns:a="http://schemas.openxmlformats.org/drawingml/2006/main">
              <a:ext uri="{FF2B5EF4-FFF2-40B4-BE49-F238E27FC236}">
                <a16:creationId xmlns:a16="http://schemas.microsoft.com/office/drawing/2014/main" id="{FC61EC47-64A0-46DE-B654-BB32DAA145B4}"/>
              </a:ext>
            </a:extLst>
          </p:cNvPr>
          <p:cNvSpPr>
            <a:spLocks xmlns:a="http://schemas.openxmlformats.org/drawingml/2006/main" noGrp="1"/>
          </p:cNvSpPr>
          <p:nvPr/>
        </p:nvSpPr>
        <p:spPr>
          <a:xfrm xmlns:a="http://schemas.openxmlformats.org/drawingml/2006/main">
            <a:off x="514350" y="5057775"/>
            <a:ext cx="5095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Removed Python method  →  API / code compatibility</a:t>
            </a:r>
          </a:p>
        </p:txBody>
      </p:sp>
      <p:sp>
        <p:nvSpPr>
          <p:cNvPr id="22" name="">
            <a:extLst xmlns:a="http://schemas.openxmlformats.org/drawingml/2006/main">
              <a:ext uri="{FF2B5EF4-FFF2-40B4-BE49-F238E27FC236}">
                <a16:creationId xmlns:a16="http://schemas.microsoft.com/office/drawing/2014/main" id="{457E704E-DC9E-48DF-AC6B-39B8C72CD6DE}"/>
              </a:ext>
            </a:extLst>
          </p:cNvPr>
          <p:cNvSpPr>
            <a:spLocks xmlns:a="http://schemas.openxmlformats.org/drawingml/2006/main" noGrp="1"/>
          </p:cNvSpPr>
          <p:nvPr/>
        </p:nvSpPr>
        <p:spPr>
          <a:xfrm xmlns:a="http://schemas.openxmlformats.org/drawingml/2006/main">
            <a:off x="514350" y="5457825"/>
            <a:ext cx="11163300" cy="19050"/>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339DC34-6F19-41DB-ADAE-8703323B03F0}"/>
              </a:ext>
            </a:extLst>
          </p:cNvPr>
          <p:cNvSpPr>
            <a:spLocks xmlns:a="http://schemas.openxmlformats.org/drawingml/2006/main" noGrp="1"/>
          </p:cNvSpPr>
          <p:nvPr/>
        </p:nvSpPr>
        <p:spPr>
          <a:xfrm xmlns:a="http://schemas.openxmlformats.org/drawingml/2006/main">
            <a:off x="514350" y="56388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BC171D"/>
                </a:solidFill>
                <a:latin typeface="Segoe UI"/>
                <a:ea typeface="Segoe UI"/>
                <a:cs typeface="Segoe UI"/>
              </a:defRPr>
            </a:defPPr>
          </a:lstStyle>
          <a:p xmlns:a="http://schemas.openxmlformats.org/drawingml/2006/main">
            <a:pPr algn="l">
              <a:defRPr sz="1575" b="1">
                <a:solidFill>
                  <a:srgbClr val="BC171D"/>
                </a:solidFill>
                <a:latin typeface="Segoe UI"/>
                <a:ea typeface="Segoe UI"/>
                <a:cs typeface="Segoe UI"/>
              </a:defRPr>
            </a:pPr>
            <a:r>
              <a:rPr sz="1575" b="1">
                <a:solidFill>
                  <a:srgbClr val="BC171D"/>
                </a:solidFill>
                <a:latin typeface="Segoe UI"/>
                <a:ea typeface="Segoe UI"/>
                <a:cs typeface="Segoe UI"/>
              </a:rPr>
              <a:t>MVP audience: developers, QA reviewers and maintainers preparing dependency upgrades.</a:t>
            </a:r>
          </a:p>
        </p:txBody>
      </p:sp>
    </p:spTree>
    <p:extLst>
      <p:ext uri="{BB962C8B-B14F-4D97-AF65-F5344CB8AC3E}">
        <p14:creationId xmlns:p14="http://schemas.microsoft.com/office/powerpoint/2010/main" val="448244445"/>
      </p:ext>
    </p:extLst>
  </p:cSld>
</p:sld>
</file>

<file path=ppt/slides/slide3.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FFE6C5-91D2-49B1-8571-3B4C0820531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3">
            <a:extLst xmlns:a="http://schemas.openxmlformats.org/drawingml/2006/main">
              <a:ext uri="{FF2B5EF4-FFF2-40B4-BE49-F238E27FC236}">
                <a16:creationId xmlns:a16="http://schemas.microsoft.com/office/drawing/2014/main" id="{E761E8FC-39E8-49CA-8F34-70A60C9B81CD}"/>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Related work and the task distinction</a:t>
            </a:r>
          </a:p>
        </p:txBody>
      </p:sp>
      <p:sp>
        <p:nvSpPr>
          <p:cNvPr id="3" name="">
            <a:extLst xmlns:a="http://schemas.openxmlformats.org/drawingml/2006/main">
              <a:ext uri="{FF2B5EF4-FFF2-40B4-BE49-F238E27FC236}">
                <a16:creationId xmlns:a16="http://schemas.microsoft.com/office/drawing/2014/main" id="{065B482B-A5A5-411E-8497-47AC41B7DF9D}"/>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F91E9E-3199-4E40-978E-A85B457E57AA}"/>
              </a:ext>
            </a:extLst>
          </p:cNvPr>
          <p:cNvSpPr>
            <a:spLocks xmlns:a="http://schemas.openxmlformats.org/drawingml/2006/main" noGrp="1"/>
          </p:cNvSpPr>
          <p:nvPr/>
        </p:nvSpPr>
        <p:spPr>
          <a:xfrm xmlns:a="http://schemas.openxmlformats.org/drawingml/2006/main">
            <a:off x="514350" y="1057275"/>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The contribution is a specific classification target and reviewer workflow.</a:t>
            </a:r>
          </a:p>
        </p:txBody>
      </p:sp>
      <p:sp>
        <p:nvSpPr>
          <p:cNvPr id="5" name="">
            <a:extLst xmlns:a="http://schemas.openxmlformats.org/drawingml/2006/main">
              <a:ext uri="{FF2B5EF4-FFF2-40B4-BE49-F238E27FC236}">
                <a16:creationId xmlns:a16="http://schemas.microsoft.com/office/drawing/2014/main" id="{ED30144E-C26C-4C9C-9C86-56FF46AAC528}"/>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6CFE18-B79E-44C7-9AAC-F2D5C96D2C29}"/>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7" name="">
            <a:extLst xmlns:a="http://schemas.openxmlformats.org/drawingml/2006/main">
              <a:ext uri="{FF2B5EF4-FFF2-40B4-BE49-F238E27FC236}">
                <a16:creationId xmlns:a16="http://schemas.microsoft.com/office/drawing/2014/main" id="{A1EFE5CE-7051-453C-8E90-F953B8A89B9F}"/>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Bhargav   •   03 / 13</a:t>
            </a:r>
          </a:p>
        </p:txBody>
      </p:sp>
      <p:graphicFrame>
        <p:nvGraphicFramePr>
          <p:cNvPr id="8" name="">
            <a:extLst xmlns:a="http://schemas.openxmlformats.org/drawingml/2006/main">
              <a:ext uri="{FF2B5EF4-FFF2-40B4-BE49-F238E27FC236}">
                <a16:creationId xmlns:a16="http://schemas.microsoft.com/office/drawing/2014/main" id="{B904FDF2-5B21-4AC9-91AF-B3C58BD098E1}"/>
              </a:ext>
            </a:extLst>
          </p:cNvPr>
          <p:cNvGraphicFramePr/>
          <p:nvPr/>
        </p:nvGraphicFramePr>
        <p:xfrm>
          <a:off xmlns:a="http://schemas.openxmlformats.org/drawingml/2006/main" x="514350" y="1543050"/>
          <a:ext xmlns:a="http://schemas.openxmlformats.org/drawingml/2006/main" cx="11163300" cy="3333750"/>
        </p:xfrm>
        <a:graphic xmlns:a="http://schemas.openxmlformats.org/drawingml/2006/main">
          <a:graphicData uri="http://schemas.openxmlformats.org/drawingml/2006/table">
            <a:tbl>
              <a:tblPr/>
              <a:tblGrid>
                <a:gridCol w="2190750"/>
                <a:gridCol w="2143125"/>
                <a:gridCol w="2476500"/>
                <a:gridCol w="4352925"/>
              </a:tblGrid>
              <a:tr h="666750">
                <a:tc>
                  <a:txBody>
                    <a:bodyPr lIns="76200" tIns="76200" rIns="76200" bIns="76200"/>
                    <a:lstStyle/>
                    <a:p>
                      <a:r>
                        <a:rPr sz="1350" b="1">
                          <a:solidFill>
                            <a:srgbClr val="FFFFFF"/>
                          </a:solidFill>
                          <a:latin typeface="Segoe UI"/>
                          <a:ea typeface="Segoe UI"/>
                          <a:cs typeface="Segoe UI"/>
                        </a:rPr>
                        <a:t>Work</a:t>
                      </a:r>
                    </a:p>
                  </a:txBody>
                  <a:tcPr marL="91440" marR="91440" marT="45720" marB="45720" anchor="ctr">
                    <a:lnL w="9525">
                      <a:solidFill>
                        <a:srgbClr val="E6E0D8"/>
                      </a:solidFill>
                      <a:prstDash val="solid"/>
                    </a:lnL>
                    <a:lnR w="9525">
                      <a:solidFill>
                        <a:srgbClr val="E6E0D8"/>
                      </a:solidFill>
                      <a:prstDash val="solid"/>
                    </a:lnR>
                    <a:lnT w="9525">
                      <a:solidFill>
                        <a:srgbClr val="E6E0D8"/>
                      </a:solidFill>
                      <a:prstDash val="solid"/>
                    </a:lnT>
                    <a:lnB w="9525">
                      <a:solidFill>
                        <a:srgbClr val="E6E0D8"/>
                      </a:solidFill>
                      <a:prstDash val="solid"/>
                    </a:lnB>
                    <a:solidFill>
                      <a:srgbClr val="BC171D"/>
                    </a:solidFill>
                  </a:tcPr>
                </a:tc>
                <a:tc>
                  <a:txBody>
                    <a:bodyPr lIns="76200" tIns="76200" rIns="76200" bIns="76200"/>
                    <a:lstStyle/>
                    <a:p>
                      <a:r>
                        <a:rPr sz="1350" b="1">
                          <a:solidFill>
                            <a:srgbClr val="FFFFFF"/>
                          </a:solidFill>
                          <a:latin typeface="Segoe UI"/>
                          <a:ea typeface="Segoe UI"/>
                          <a:cs typeface="Segoe UI"/>
                        </a:rPr>
                        <a:t>Input</a:t>
                      </a:r>
                    </a:p>
                  </a:txBody>
                  <a:tcPr marL="91440" marR="91440" marT="45720" marB="45720" anchor="ctr">
                    <a:lnR w="9525">
                      <a:solidFill>
                        <a:srgbClr val="E6E0D8"/>
                      </a:solidFill>
                      <a:prstDash val="solid"/>
                    </a:lnR>
                    <a:lnT w="9525">
                      <a:solidFill>
                        <a:srgbClr val="E6E0D8"/>
                      </a:solidFill>
                      <a:prstDash val="solid"/>
                    </a:lnT>
                    <a:lnB w="9525">
                      <a:solidFill>
                        <a:srgbClr val="E6E0D8"/>
                      </a:solidFill>
                      <a:prstDash val="solid"/>
                    </a:lnB>
                    <a:solidFill>
                      <a:srgbClr val="BC171D"/>
                    </a:solidFill>
                  </a:tcPr>
                </a:tc>
                <a:tc>
                  <a:txBody>
                    <a:bodyPr lIns="76200" tIns="76200" rIns="76200" bIns="76200"/>
                    <a:lstStyle/>
                    <a:p>
                      <a:r>
                        <a:rPr sz="1350" b="1">
                          <a:solidFill>
                            <a:srgbClr val="FFFFFF"/>
                          </a:solidFill>
                          <a:latin typeface="Segoe UI"/>
                          <a:ea typeface="Segoe UI"/>
                          <a:cs typeface="Segoe UI"/>
                        </a:rPr>
                        <a:t>Output</a:t>
                      </a:r>
                    </a:p>
                  </a:txBody>
                  <a:tcPr marL="91440" marR="91440" marT="45720" marB="45720" anchor="ctr">
                    <a:lnR w="9525">
                      <a:solidFill>
                        <a:srgbClr val="E6E0D8"/>
                      </a:solidFill>
                      <a:prstDash val="solid"/>
                    </a:lnR>
                    <a:lnT w="9525">
                      <a:solidFill>
                        <a:srgbClr val="E6E0D8"/>
                      </a:solidFill>
                      <a:prstDash val="solid"/>
                    </a:lnT>
                    <a:lnB w="9525">
                      <a:solidFill>
                        <a:srgbClr val="E6E0D8"/>
                      </a:solidFill>
                      <a:prstDash val="solid"/>
                    </a:lnB>
                    <a:solidFill>
                      <a:srgbClr val="BC171D"/>
                    </a:solidFill>
                  </a:tcPr>
                </a:tc>
                <a:tc>
                  <a:txBody>
                    <a:bodyPr lIns="76200" tIns="76200" rIns="76200" bIns="76200"/>
                    <a:lstStyle/>
                    <a:p>
                      <a:r>
                        <a:rPr sz="1350" b="1">
                          <a:solidFill>
                            <a:srgbClr val="FFFFFF"/>
                          </a:solidFill>
                          <a:latin typeface="Segoe UI"/>
                          <a:ea typeface="Segoe UI"/>
                          <a:cs typeface="Segoe UI"/>
                        </a:rPr>
                        <a:t>Relationship</a:t>
                      </a:r>
                    </a:p>
                  </a:txBody>
                  <a:tcPr marL="91440" marR="91440" marT="45720" marB="45720" anchor="ctr">
                    <a:lnR w="9525">
                      <a:solidFill>
                        <a:srgbClr val="E6E0D8"/>
                      </a:solidFill>
                      <a:prstDash val="solid"/>
                    </a:lnR>
                    <a:lnT w="9525">
                      <a:solidFill>
                        <a:srgbClr val="E6E0D8"/>
                      </a:solidFill>
                      <a:prstDash val="solid"/>
                    </a:lnT>
                    <a:lnB w="9525">
                      <a:solidFill>
                        <a:srgbClr val="E6E0D8"/>
                      </a:solidFill>
                      <a:prstDash val="solid"/>
                    </a:lnB>
                    <a:solidFill>
                      <a:srgbClr val="BC171D"/>
                    </a:solidFill>
                  </a:tcPr>
                </a:tc>
              </a:tr>
              <a:tr h="666750">
                <a:tc>
                  <a:txBody>
                    <a:bodyPr lIns="76200" tIns="76200" rIns="76200" bIns="76200"/>
                    <a:lstStyle/>
                    <a:p>
                      <a:r>
                        <a:rPr sz="1275" b="0">
                          <a:solidFill>
                            <a:srgbClr val="20252B"/>
                          </a:solidFill>
                          <a:latin typeface="Segoe UI"/>
                          <a:ea typeface="Segoe UI"/>
                          <a:cs typeface="Segoe UI"/>
                        </a:rPr>
                        <a:t>DeepRelease (2022)</a:t>
                      </a:r>
                    </a:p>
                  </a:txBody>
                  <a:tcPr marL="91440" marR="91440" marT="45720" marB="45720" anchor="ctr">
                    <a:lnL w="9525">
                      <a:solidFill>
                        <a:srgbClr val="E6E0D8"/>
                      </a:solidFill>
                      <a:prstDash val="solid"/>
                    </a:lnL>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Pull requests</a:t>
                      </a:r>
                    </a:p>
                  </a:txBody>
                  <a:tcPr marL="91440" marR="91440" marT="45720" marB="45720" anchor="ctr">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Generated notes + change type</a:t>
                      </a:r>
                    </a:p>
                  </a:txBody>
                  <a:tcPr marL="91440" marR="91440" marT="45720" marB="45720" anchor="ctr">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Earlier stage of the release-note process</a:t>
                      </a:r>
                    </a:p>
                  </a:txBody>
                  <a:tcPr marL="91440" marR="91440" marT="45720" marB="45720" anchor="ctr">
                    <a:lnR w="9525">
                      <a:solidFill>
                        <a:srgbClr val="E6E0D8"/>
                      </a:solidFill>
                      <a:prstDash val="solid"/>
                    </a:lnR>
                    <a:lnB w="9525">
                      <a:solidFill>
                        <a:srgbClr val="E6E0D8"/>
                      </a:solidFill>
                      <a:prstDash val="solid"/>
                    </a:lnB>
                    <a:solidFill>
                      <a:srgbClr val="FFFFFF"/>
                    </a:solidFill>
                  </a:tcPr>
                </a:tc>
              </a:tr>
              <a:tr h="666750">
                <a:tc>
                  <a:txBody>
                    <a:bodyPr lIns="76200" tIns="76200" rIns="76200" bIns="76200"/>
                    <a:lstStyle/>
                    <a:p>
                      <a:r>
                        <a:rPr sz="1275" b="0">
                          <a:solidFill>
                            <a:srgbClr val="20252B"/>
                          </a:solidFill>
                          <a:latin typeface="Segoe UI"/>
                          <a:ea typeface="Segoe UI"/>
                          <a:cs typeface="Segoe UI"/>
                        </a:rPr>
                        <a:t>Wu et al. (2022)</a:t>
                      </a:r>
                    </a:p>
                  </a:txBody>
                  <a:tcPr marL="91440" marR="91440" marT="45720" marB="45720" anchor="ctr">
                    <a:lnL w="9525">
                      <a:solidFill>
                        <a:srgbClr val="E6E0D8"/>
                      </a:solidFill>
                      <a:prstDash val="solid"/>
                    </a:lnL>
                    <a:lnR w="9525">
                      <a:solidFill>
                        <a:srgbClr val="E6E0D8"/>
                      </a:solidFill>
                      <a:prstDash val="solid"/>
                    </a:lnR>
                    <a:lnB w="9525">
                      <a:solidFill>
                        <a:srgbClr val="E6E0D8"/>
                      </a:solidFill>
                      <a:prstDash val="solid"/>
                    </a:lnB>
                    <a:solidFill>
                      <a:srgbClr val="F5F2ED"/>
                    </a:solidFill>
                  </a:tcPr>
                </a:tc>
                <a:tc>
                  <a:txBody>
                    <a:bodyPr lIns="76200" tIns="76200" rIns="76200" bIns="76200"/>
                    <a:lstStyle/>
                    <a:p>
                      <a:r>
                        <a:rPr sz="1275" b="0">
                          <a:solidFill>
                            <a:srgbClr val="20252B"/>
                          </a:solidFill>
                          <a:latin typeface="Segoe UI"/>
                          <a:ea typeface="Segoe UI"/>
                          <a:cs typeface="Segoe UI"/>
                        </a:rPr>
                        <a:t>Release-note issues</a:t>
                      </a:r>
                    </a:p>
                  </a:txBody>
                  <a:tcPr marL="91440" marR="91440" marT="45720" marB="45720" anchor="ctr">
                    <a:lnR w="9525">
                      <a:solidFill>
                        <a:srgbClr val="E6E0D8"/>
                      </a:solidFill>
                      <a:prstDash val="solid"/>
                    </a:lnR>
                    <a:lnB w="9525">
                      <a:solidFill>
                        <a:srgbClr val="E6E0D8"/>
                      </a:solidFill>
                      <a:prstDash val="solid"/>
                    </a:lnB>
                    <a:solidFill>
                      <a:srgbClr val="F5F2ED"/>
                    </a:solidFill>
                  </a:tcPr>
                </a:tc>
                <a:tc>
                  <a:txBody>
                    <a:bodyPr lIns="76200" tIns="76200" rIns="76200" bIns="76200"/>
                    <a:lstStyle/>
                    <a:p>
                      <a:r>
                        <a:rPr sz="1275" b="0">
                          <a:solidFill>
                            <a:srgbClr val="20252B"/>
                          </a:solidFill>
                          <a:latin typeface="Segoe UI"/>
                          <a:ea typeface="Segoe UI"/>
                          <a:cs typeface="Segoe UI"/>
                        </a:rPr>
                        <a:t>Issue taxonomy</a:t>
                      </a:r>
                    </a:p>
                  </a:txBody>
                  <a:tcPr marL="91440" marR="91440" marT="45720" marB="45720" anchor="ctr">
                    <a:lnR w="9525">
                      <a:solidFill>
                        <a:srgbClr val="E6E0D8"/>
                      </a:solidFill>
                      <a:prstDash val="solid"/>
                    </a:lnR>
                    <a:lnB w="9525">
                      <a:solidFill>
                        <a:srgbClr val="E6E0D8"/>
                      </a:solidFill>
                      <a:prstDash val="solid"/>
                    </a:lnB>
                    <a:solidFill>
                      <a:srgbClr val="F5F2ED"/>
                    </a:solidFill>
                  </a:tcPr>
                </a:tc>
                <a:tc>
                  <a:txBody>
                    <a:bodyPr lIns="76200" tIns="76200" rIns="76200" bIns="76200"/>
                    <a:lstStyle/>
                    <a:p>
                      <a:r>
                        <a:rPr sz="1275" b="0">
                          <a:solidFill>
                            <a:srgbClr val="20252B"/>
                          </a:solidFill>
                          <a:latin typeface="Segoe UI"/>
                          <a:ea typeface="Segoe UI"/>
                          <a:cs typeface="Segoe UI"/>
                        </a:rPr>
                        <a:t>Studies note problems, not first checks</a:t>
                      </a:r>
                    </a:p>
                  </a:txBody>
                  <a:tcPr marL="91440" marR="91440" marT="45720" marB="45720" anchor="ctr">
                    <a:lnR w="9525">
                      <a:solidFill>
                        <a:srgbClr val="E6E0D8"/>
                      </a:solidFill>
                      <a:prstDash val="solid"/>
                    </a:lnR>
                    <a:lnB w="9525">
                      <a:solidFill>
                        <a:srgbClr val="E6E0D8"/>
                      </a:solidFill>
                      <a:prstDash val="solid"/>
                    </a:lnB>
                    <a:solidFill>
                      <a:srgbClr val="F5F2ED"/>
                    </a:solidFill>
                  </a:tcPr>
                </a:tc>
              </a:tr>
              <a:tr h="666750">
                <a:tc>
                  <a:txBody>
                    <a:bodyPr lIns="76200" tIns="76200" rIns="76200" bIns="76200"/>
                    <a:lstStyle/>
                    <a:p>
                      <a:r>
                        <a:rPr sz="1275" b="0">
                          <a:solidFill>
                            <a:srgbClr val="20252B"/>
                          </a:solidFill>
                          <a:latin typeface="Segoe UI"/>
                          <a:ea typeface="Segoe UI"/>
                          <a:cs typeface="Segoe UI"/>
                        </a:rPr>
                        <a:t>Pan et al. (2021)</a:t>
                      </a:r>
                    </a:p>
                  </a:txBody>
                  <a:tcPr marL="91440" marR="91440" marT="45720" marB="45720" anchor="ctr">
                    <a:lnL w="9525">
                      <a:solidFill>
                        <a:srgbClr val="E6E0D8"/>
                      </a:solidFill>
                      <a:prstDash val="solid"/>
                    </a:lnL>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Test/project data</a:t>
                      </a:r>
                    </a:p>
                  </a:txBody>
                  <a:tcPr marL="91440" marR="91440" marT="45720" marB="45720" anchor="ctr">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Test selection</a:t>
                      </a:r>
                    </a:p>
                  </a:txBody>
                  <a:tcPr marL="91440" marR="91440" marT="45720" marB="45720" anchor="ctr">
                    <a:lnR w="9525">
                      <a:solidFill>
                        <a:srgbClr val="E6E0D8"/>
                      </a:solidFill>
                      <a:prstDash val="solid"/>
                    </a:lnR>
                    <a:lnB w="9525">
                      <a:solidFill>
                        <a:srgbClr val="E6E0D8"/>
                      </a:solidFill>
                      <a:prstDash val="solid"/>
                    </a:lnB>
                    <a:solidFill>
                      <a:srgbClr val="FFFFFF"/>
                    </a:solidFill>
                  </a:tcPr>
                </a:tc>
                <a:tc>
                  <a:txBody>
                    <a:bodyPr lIns="76200" tIns="76200" rIns="76200" bIns="76200"/>
                    <a:lstStyle/>
                    <a:p>
                      <a:r>
                        <a:rPr sz="1275" b="0">
                          <a:solidFill>
                            <a:srgbClr val="20252B"/>
                          </a:solidFill>
                          <a:latin typeface="Segoe UI"/>
                          <a:ea typeface="Segoe UI"/>
                          <a:cs typeface="Segoe UI"/>
                        </a:rPr>
                        <a:t>Chooses concrete tests, a deeper task</a:t>
                      </a:r>
                    </a:p>
                  </a:txBody>
                  <a:tcPr marL="91440" marR="91440" marT="45720" marB="45720" anchor="ctr">
                    <a:lnR w="9525">
                      <a:solidFill>
                        <a:srgbClr val="E6E0D8"/>
                      </a:solidFill>
                      <a:prstDash val="solid"/>
                    </a:lnR>
                    <a:lnB w="9525">
                      <a:solidFill>
                        <a:srgbClr val="E6E0D8"/>
                      </a:solidFill>
                      <a:prstDash val="solid"/>
                    </a:lnB>
                    <a:solidFill>
                      <a:srgbClr val="FFFFFF"/>
                    </a:solidFill>
                  </a:tcPr>
                </a:tc>
              </a:tr>
              <a:tr h="666750">
                <a:tc>
                  <a:txBody>
                    <a:bodyPr lIns="76200" tIns="76200" rIns="76200" bIns="76200"/>
                    <a:lstStyle/>
                    <a:p>
                      <a:r>
                        <a:rPr sz="1275" b="1">
                          <a:solidFill>
                            <a:srgbClr val="20252B"/>
                          </a:solidFill>
                          <a:latin typeface="Segoe UI"/>
                          <a:ea typeface="Segoe UI"/>
                          <a:cs typeface="Segoe UI"/>
                        </a:rPr>
                        <a:t>PatchProbe</a:t>
                      </a:r>
                    </a:p>
                  </a:txBody>
                  <a:tcPr marL="91440" marR="91440" marT="45720" marB="45720" anchor="ctr">
                    <a:lnL w="9525">
                      <a:solidFill>
                        <a:srgbClr val="E6E0D8"/>
                      </a:solidFill>
                      <a:prstDash val="solid"/>
                    </a:lnL>
                    <a:lnR w="9525">
                      <a:solidFill>
                        <a:srgbClr val="E6E0D8"/>
                      </a:solidFill>
                      <a:prstDash val="solid"/>
                    </a:lnR>
                    <a:lnB w="9525">
                      <a:solidFill>
                        <a:srgbClr val="E6E0D8"/>
                      </a:solidFill>
                      <a:prstDash val="solid"/>
                    </a:lnB>
                    <a:solidFill>
                      <a:srgbClr val="F0DEDC"/>
                    </a:solidFill>
                  </a:tcPr>
                </a:tc>
                <a:tc>
                  <a:txBody>
                    <a:bodyPr lIns="76200" tIns="76200" rIns="76200" bIns="76200"/>
                    <a:lstStyle/>
                    <a:p>
                      <a:r>
                        <a:rPr sz="1275" b="1">
                          <a:solidFill>
                            <a:srgbClr val="20252B"/>
                          </a:solidFill>
                          <a:latin typeface="Segoe UI"/>
                          <a:ea typeface="Segoe UI"/>
                          <a:cs typeface="Segoe UI"/>
                        </a:rPr>
                        <a:t>Published note entry</a:t>
                      </a:r>
                    </a:p>
                  </a:txBody>
                  <a:tcPr marL="91440" marR="91440" marT="45720" marB="45720" anchor="ctr">
                    <a:lnR w="9525">
                      <a:solidFill>
                        <a:srgbClr val="E6E0D8"/>
                      </a:solidFill>
                      <a:prstDash val="solid"/>
                    </a:lnR>
                    <a:lnB w="9525">
                      <a:solidFill>
                        <a:srgbClr val="E6E0D8"/>
                      </a:solidFill>
                      <a:prstDash val="solid"/>
                    </a:lnB>
                    <a:solidFill>
                      <a:srgbClr val="F0DEDC"/>
                    </a:solidFill>
                  </a:tcPr>
                </a:tc>
                <a:tc>
                  <a:txBody>
                    <a:bodyPr lIns="76200" tIns="76200" rIns="76200" bIns="76200"/>
                    <a:lstStyle/>
                    <a:p>
                      <a:r>
                        <a:rPr sz="1275" b="1">
                          <a:solidFill>
                            <a:srgbClr val="20252B"/>
                          </a:solidFill>
                          <a:latin typeface="Segoe UI"/>
                          <a:ea typeface="Segoe UI"/>
                          <a:cs typeface="Segoe UI"/>
                        </a:rPr>
                        <a:t>First verification area</a:t>
                      </a:r>
                    </a:p>
                  </a:txBody>
                  <a:tcPr marL="91440" marR="91440" marT="45720" marB="45720" anchor="ctr">
                    <a:lnR w="9525">
                      <a:solidFill>
                        <a:srgbClr val="E6E0D8"/>
                      </a:solidFill>
                      <a:prstDash val="solid"/>
                    </a:lnR>
                    <a:lnB w="9525">
                      <a:solidFill>
                        <a:srgbClr val="E6E0D8"/>
                      </a:solidFill>
                      <a:prstDash val="solid"/>
                    </a:lnB>
                    <a:solidFill>
                      <a:srgbClr val="F0DEDC"/>
                    </a:solidFill>
                  </a:tcPr>
                </a:tc>
                <a:tc>
                  <a:txBody>
                    <a:bodyPr lIns="76200" tIns="76200" rIns="76200" bIns="76200"/>
                    <a:lstStyle/>
                    <a:p>
                      <a:r>
                        <a:rPr sz="1275" b="1">
                          <a:solidFill>
                            <a:srgbClr val="20252B"/>
                          </a:solidFill>
                          <a:latin typeface="Segoe UI"/>
                          <a:ea typeface="Segoe UI"/>
                          <a:cs typeface="Segoe UI"/>
                        </a:rPr>
                        <a:t>Human review of a downstream check lane</a:t>
                      </a:r>
                    </a:p>
                  </a:txBody>
                  <a:tcPr marL="91440" marR="91440" marT="45720" marB="45720" anchor="ctr">
                    <a:lnR w="9525">
                      <a:solidFill>
                        <a:srgbClr val="E6E0D8"/>
                      </a:solidFill>
                      <a:prstDash val="solid"/>
                    </a:lnR>
                    <a:lnB w="9525">
                      <a:solidFill>
                        <a:srgbClr val="E6E0D8"/>
                      </a:solidFill>
                      <a:prstDash val="solid"/>
                    </a:lnB>
                    <a:solidFill>
                      <a:srgbClr val="F0DEDC"/>
                    </a:solidFill>
                  </a:tcPr>
                </a:tc>
              </a:tr>
            </a:tbl>
          </a:graphicData>
        </a:graphic>
      </p:graphicFrame>
      <p:sp>
        <p:nvSpPr>
          <p:cNvPr id="9" name="">
            <a:extLst xmlns:a="http://schemas.openxmlformats.org/drawingml/2006/main">
              <a:ext uri="{FF2B5EF4-FFF2-40B4-BE49-F238E27FC236}">
                <a16:creationId xmlns:a16="http://schemas.microsoft.com/office/drawing/2014/main" id="{75BB8F0D-65E8-4F81-BA27-D40429F2C2CC}"/>
              </a:ext>
            </a:extLst>
          </p:cNvPr>
          <p:cNvSpPr>
            <a:spLocks xmlns:a="http://schemas.openxmlformats.org/drawingml/2006/main" noGrp="1"/>
          </p:cNvSpPr>
          <p:nvPr/>
        </p:nvSpPr>
        <p:spPr>
          <a:xfrm xmlns:a="http://schemas.openxmlformats.org/drawingml/2006/main">
            <a:off x="514350" y="5105400"/>
            <a:ext cx="11096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0252B"/>
                </a:solidFill>
                <a:latin typeface="Segoe UI"/>
                <a:ea typeface="Segoe UI"/>
                <a:cs typeface="Segoe UI"/>
              </a:defRPr>
            </a:defPPr>
          </a:lstStyle>
          <a:p xmlns:a="http://schemas.openxmlformats.org/drawingml/2006/main">
            <a:pPr algn="l">
              <a:defRPr sz="1725" b="1">
                <a:solidFill>
                  <a:srgbClr val="20252B"/>
                </a:solidFill>
                <a:latin typeface="Segoe UI"/>
                <a:ea typeface="Segoe UI"/>
                <a:cs typeface="Segoe UI"/>
              </a:defRPr>
            </a:pPr>
            <a:r>
              <a:rPr sz="1725" b="1">
                <a:solidFill>
                  <a:srgbClr val="20252B"/>
                </a:solidFill>
                <a:latin typeface="Segoe UI"/>
                <a:ea typeface="Segoe UI"/>
                <a:cs typeface="Segoe UI"/>
              </a:rPr>
              <a:t>Our scoped novelty: published release-note text is routed to the first area a developer should verify.</a:t>
            </a:r>
          </a:p>
        </p:txBody>
      </p:sp>
      <p:sp>
        <p:nvSpPr>
          <p:cNvPr id="10" name="">
            <a:extLst xmlns:a="http://schemas.openxmlformats.org/drawingml/2006/main">
              <a:ext uri="{FF2B5EF4-FFF2-40B4-BE49-F238E27FC236}">
                <a16:creationId xmlns:a16="http://schemas.microsoft.com/office/drawing/2014/main" id="{2D3CC163-DF34-46F9-B211-41CBE9AB531D}"/>
              </a:ext>
            </a:extLst>
          </p:cNvPr>
          <p:cNvSpPr>
            <a:spLocks xmlns:a="http://schemas.openxmlformats.org/drawingml/2006/main" noGrp="1"/>
          </p:cNvSpPr>
          <p:nvPr/>
        </p:nvSpPr>
        <p:spPr>
          <a:xfrm xmlns:a="http://schemas.openxmlformats.org/drawingml/2006/main">
            <a:off x="514350" y="5686425"/>
            <a:ext cx="1109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This comparison supports differentiation within the reviewed sources; it does not establish a worldwide-first claim.</a:t>
            </a:r>
          </a:p>
        </p:txBody>
      </p:sp>
    </p:spTree>
    <p:extLst>
      <p:ext uri="{BB962C8B-B14F-4D97-AF65-F5344CB8AC3E}">
        <p14:creationId xmlns:p14="http://schemas.microsoft.com/office/powerpoint/2010/main" val="444217"/>
      </p:ext>
    </p:extLst>
  </p:cSld>
</p:sld>
</file>

<file path=ppt/slides/slide4.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D1FAFC2-6B80-4526-8278-BF1E0D23684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4">
            <a:extLst xmlns:a="http://schemas.openxmlformats.org/drawingml/2006/main">
              <a:ext uri="{FF2B5EF4-FFF2-40B4-BE49-F238E27FC236}">
                <a16:creationId xmlns:a16="http://schemas.microsoft.com/office/drawing/2014/main" id="{1494E7F8-CF8A-41D4-9502-2311E280A9CB}"/>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Dataset, labels and pilot coverage</a:t>
            </a:r>
          </a:p>
        </p:txBody>
      </p:sp>
      <p:sp>
        <p:nvSpPr>
          <p:cNvPr id="3" name="">
            <a:extLst xmlns:a="http://schemas.openxmlformats.org/drawingml/2006/main">
              <a:ext uri="{FF2B5EF4-FFF2-40B4-BE49-F238E27FC236}">
                <a16:creationId xmlns:a16="http://schemas.microsoft.com/office/drawing/2014/main" id="{0081CE07-E31E-492B-A9B4-F2F2FBBE0DA5}"/>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98733A-B26F-4C5F-8A88-1F2C100134EC}"/>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90E308-A221-464B-8E7E-0E75B36DEEF1}"/>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65C36757-334A-4B2C-94C7-78A5F8B161D5}"/>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Kavya   •   04 / 13</a:t>
            </a:r>
          </a:p>
        </p:txBody>
      </p:sp>
      <p:sp>
        <p:nvSpPr>
          <p:cNvPr id="7" name="">
            <a:extLst xmlns:a="http://schemas.openxmlformats.org/drawingml/2006/main">
              <a:ext uri="{FF2B5EF4-FFF2-40B4-BE49-F238E27FC236}">
                <a16:creationId xmlns:a16="http://schemas.microsoft.com/office/drawing/2014/main" id="{33A8CF63-94FA-4030-A143-66D5892313AA}"/>
              </a:ext>
            </a:extLst>
          </p:cNvPr>
          <p:cNvSpPr>
            <a:spLocks xmlns:a="http://schemas.openxmlformats.org/drawingml/2006/main" noGrp="1"/>
          </p:cNvSpPr>
          <p:nvPr/>
        </p:nvSpPr>
        <p:spPr>
          <a:xfrm xmlns:a="http://schemas.openxmlformats.org/drawingml/2006/main">
            <a:off x="514350" y="1381125"/>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BC171D"/>
                </a:solidFill>
                <a:latin typeface="Bahnschrift"/>
                <a:ea typeface="Bahnschrift"/>
                <a:cs typeface="Bahnschrift"/>
              </a:defRPr>
            </a:defPPr>
          </a:lstStyle>
          <a:p xmlns:a="http://schemas.openxmlformats.org/drawingml/2006/main">
            <a:pPr algn="l">
              <a:defRPr sz="3900" b="1">
                <a:solidFill>
                  <a:srgbClr val="BC171D"/>
                </a:solidFill>
                <a:latin typeface="Bahnschrift"/>
                <a:ea typeface="Bahnschrift"/>
                <a:cs typeface="Bahnschrift"/>
              </a:defRPr>
            </a:pPr>
            <a:r>
              <a:rPr sz="3900" b="1">
                <a:solidFill>
                  <a:srgbClr val="BC171D"/>
                </a:solidFill>
                <a:latin typeface="Bahnschrift"/>
                <a:ea typeface="Bahnschrift"/>
                <a:cs typeface="Bahnschrift"/>
              </a:rPr>
              <a:t>14</a:t>
            </a:r>
          </a:p>
        </p:txBody>
      </p:sp>
      <p:sp>
        <p:nvSpPr>
          <p:cNvPr id="8" name="">
            <a:extLst xmlns:a="http://schemas.openxmlformats.org/drawingml/2006/main">
              <a:ext uri="{FF2B5EF4-FFF2-40B4-BE49-F238E27FC236}">
                <a16:creationId xmlns:a16="http://schemas.microsoft.com/office/drawing/2014/main" id="{97F9E9CD-CE5C-4E5F-856C-60484FE6A49A}"/>
              </a:ext>
            </a:extLst>
          </p:cNvPr>
          <p:cNvSpPr>
            <a:spLocks xmlns:a="http://schemas.openxmlformats.org/drawingml/2006/main" noGrp="1"/>
          </p:cNvSpPr>
          <p:nvPr/>
        </p:nvSpPr>
        <p:spPr>
          <a:xfrm xmlns:a="http://schemas.openxmlformats.org/drawingml/2006/main">
            <a:off x="514350" y="2057400"/>
            <a:ext cx="2143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0252B"/>
                </a:solidFill>
                <a:latin typeface="Segoe UI"/>
                <a:ea typeface="Segoe UI"/>
                <a:cs typeface="Segoe UI"/>
              </a:defRPr>
            </a:defPPr>
          </a:lstStyle>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pinned source files</a:t>
            </a:r>
          </a:p>
        </p:txBody>
      </p:sp>
      <p:sp>
        <p:nvSpPr>
          <p:cNvPr id="9" name="">
            <a:extLst xmlns:a="http://schemas.openxmlformats.org/drawingml/2006/main">
              <a:ext uri="{FF2B5EF4-FFF2-40B4-BE49-F238E27FC236}">
                <a16:creationId xmlns:a16="http://schemas.microsoft.com/office/drawing/2014/main" id="{410B1285-1197-4F09-BA76-D36564EB34C0}"/>
              </a:ext>
            </a:extLst>
          </p:cNvPr>
          <p:cNvSpPr>
            <a:spLocks xmlns:a="http://schemas.openxmlformats.org/drawingml/2006/main" noGrp="1"/>
          </p:cNvSpPr>
          <p:nvPr/>
        </p:nvSpPr>
        <p:spPr>
          <a:xfrm xmlns:a="http://schemas.openxmlformats.org/drawingml/2006/main">
            <a:off x="3000375" y="1381125"/>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BC171D"/>
                </a:solidFill>
                <a:latin typeface="Bahnschrift"/>
                <a:ea typeface="Bahnschrift"/>
                <a:cs typeface="Bahnschrift"/>
              </a:defRPr>
            </a:defPPr>
          </a:lstStyle>
          <a:p xmlns:a="http://schemas.openxmlformats.org/drawingml/2006/main">
            <a:pPr algn="l">
              <a:defRPr sz="3900" b="1">
                <a:solidFill>
                  <a:srgbClr val="BC171D"/>
                </a:solidFill>
                <a:latin typeface="Bahnschrift"/>
                <a:ea typeface="Bahnschrift"/>
                <a:cs typeface="Bahnschrift"/>
              </a:defRPr>
            </a:pPr>
            <a:r>
              <a:rPr sz="3900" b="1">
                <a:solidFill>
                  <a:srgbClr val="BC171D"/>
                </a:solidFill>
                <a:latin typeface="Bahnschrift"/>
                <a:ea typeface="Bahnschrift"/>
                <a:cs typeface="Bahnschrift"/>
              </a:rPr>
              <a:t>571</a:t>
            </a:r>
          </a:p>
        </p:txBody>
      </p:sp>
      <p:sp>
        <p:nvSpPr>
          <p:cNvPr id="10" name="">
            <a:extLst xmlns:a="http://schemas.openxmlformats.org/drawingml/2006/main">
              <a:ext uri="{FF2B5EF4-FFF2-40B4-BE49-F238E27FC236}">
                <a16:creationId xmlns:a16="http://schemas.microsoft.com/office/drawing/2014/main" id="{117B167A-6067-45A2-952E-C37D3C2C5F17}"/>
              </a:ext>
            </a:extLst>
          </p:cNvPr>
          <p:cNvSpPr>
            <a:spLocks xmlns:a="http://schemas.openxmlformats.org/drawingml/2006/main" noGrp="1"/>
          </p:cNvSpPr>
          <p:nvPr/>
        </p:nvSpPr>
        <p:spPr>
          <a:xfrm xmlns:a="http://schemas.openxmlformats.org/drawingml/2006/main">
            <a:off x="3000375" y="2057400"/>
            <a:ext cx="2143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0252B"/>
                </a:solidFill>
                <a:latin typeface="Segoe UI"/>
                <a:ea typeface="Segoe UI"/>
                <a:cs typeface="Segoe UI"/>
              </a:defRPr>
            </a:defPPr>
          </a:lstStyle>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extracted entries</a:t>
            </a:r>
          </a:p>
        </p:txBody>
      </p:sp>
      <p:sp>
        <p:nvSpPr>
          <p:cNvPr id="11" name="">
            <a:extLst xmlns:a="http://schemas.openxmlformats.org/drawingml/2006/main">
              <a:ext uri="{FF2B5EF4-FFF2-40B4-BE49-F238E27FC236}">
                <a16:creationId xmlns:a16="http://schemas.microsoft.com/office/drawing/2014/main" id="{64C5E5EF-8D61-40CF-B24C-2360B00D06B3}"/>
              </a:ext>
            </a:extLst>
          </p:cNvPr>
          <p:cNvSpPr>
            <a:spLocks xmlns:a="http://schemas.openxmlformats.org/drawingml/2006/main" noGrp="1"/>
          </p:cNvSpPr>
          <p:nvPr/>
        </p:nvSpPr>
        <p:spPr>
          <a:xfrm xmlns:a="http://schemas.openxmlformats.org/drawingml/2006/main">
            <a:off x="5486400" y="1381125"/>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BC171D"/>
                </a:solidFill>
                <a:latin typeface="Bahnschrift"/>
                <a:ea typeface="Bahnschrift"/>
                <a:cs typeface="Bahnschrift"/>
              </a:defRPr>
            </a:defPPr>
          </a:lstStyle>
          <a:p xmlns:a="http://schemas.openxmlformats.org/drawingml/2006/main">
            <a:pPr algn="l">
              <a:defRPr sz="3900" b="1">
                <a:solidFill>
                  <a:srgbClr val="BC171D"/>
                </a:solidFill>
                <a:latin typeface="Bahnschrift"/>
                <a:ea typeface="Bahnschrift"/>
                <a:cs typeface="Bahnschrift"/>
              </a:defRPr>
            </a:pPr>
            <a:r>
              <a:rPr sz="3900" b="1">
                <a:solidFill>
                  <a:srgbClr val="BC171D"/>
                </a:solidFill>
                <a:latin typeface="Bahnschrift"/>
                <a:ea typeface="Bahnschrift"/>
                <a:cs typeface="Bahnschrift"/>
              </a:rPr>
              <a:t>50</a:t>
            </a:r>
          </a:p>
        </p:txBody>
      </p:sp>
      <p:sp>
        <p:nvSpPr>
          <p:cNvPr id="12" name="">
            <a:extLst xmlns:a="http://schemas.openxmlformats.org/drawingml/2006/main">
              <a:ext uri="{FF2B5EF4-FFF2-40B4-BE49-F238E27FC236}">
                <a16:creationId xmlns:a16="http://schemas.microsoft.com/office/drawing/2014/main" id="{E507C49E-645D-446D-A300-AE27A2FDAAEA}"/>
              </a:ext>
            </a:extLst>
          </p:cNvPr>
          <p:cNvSpPr>
            <a:spLocks xmlns:a="http://schemas.openxmlformats.org/drawingml/2006/main" noGrp="1"/>
          </p:cNvSpPr>
          <p:nvPr/>
        </p:nvSpPr>
        <p:spPr>
          <a:xfrm xmlns:a="http://schemas.openxmlformats.org/drawingml/2006/main">
            <a:off x="5486400" y="2057400"/>
            <a:ext cx="2143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0252B"/>
                </a:solidFill>
                <a:latin typeface="Segoe UI"/>
                <a:ea typeface="Segoe UI"/>
                <a:cs typeface="Segoe UI"/>
              </a:defRPr>
            </a:defPPr>
          </a:lstStyle>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human-confirmed pilot</a:t>
            </a:r>
          </a:p>
        </p:txBody>
      </p:sp>
      <p:sp>
        <p:nvSpPr>
          <p:cNvPr id="13" name="">
            <a:extLst xmlns:a="http://schemas.openxmlformats.org/drawingml/2006/main">
              <a:ext uri="{FF2B5EF4-FFF2-40B4-BE49-F238E27FC236}">
                <a16:creationId xmlns:a16="http://schemas.microsoft.com/office/drawing/2014/main" id="{C1A577DA-A8A9-4EE7-AE6E-2AA9F7504993}"/>
              </a:ext>
            </a:extLst>
          </p:cNvPr>
          <p:cNvSpPr>
            <a:spLocks xmlns:a="http://schemas.openxmlformats.org/drawingml/2006/main" noGrp="1"/>
          </p:cNvSpPr>
          <p:nvPr/>
        </p:nvSpPr>
        <p:spPr>
          <a:xfrm xmlns:a="http://schemas.openxmlformats.org/drawingml/2006/main">
            <a:off x="7972425" y="1381125"/>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BC171D"/>
                </a:solidFill>
                <a:latin typeface="Bahnschrift"/>
                <a:ea typeface="Bahnschrift"/>
                <a:cs typeface="Bahnschrift"/>
              </a:defRPr>
            </a:defPPr>
          </a:lstStyle>
          <a:p xmlns:a="http://schemas.openxmlformats.org/drawingml/2006/main">
            <a:pPr algn="l">
              <a:defRPr sz="3900" b="1">
                <a:solidFill>
                  <a:srgbClr val="BC171D"/>
                </a:solidFill>
                <a:latin typeface="Bahnschrift"/>
                <a:ea typeface="Bahnschrift"/>
                <a:cs typeface="Bahnschrift"/>
              </a:defRPr>
            </a:pPr>
            <a:r>
              <a:rPr sz="3900" b="1">
                <a:solidFill>
                  <a:srgbClr val="BC171D"/>
                </a:solidFill>
                <a:latin typeface="Bahnschrift"/>
                <a:ea typeface="Bahnschrift"/>
                <a:cs typeface="Bahnschrift"/>
              </a:rPr>
              <a:t>49</a:t>
            </a:r>
          </a:p>
        </p:txBody>
      </p:sp>
      <p:sp>
        <p:nvSpPr>
          <p:cNvPr id="14" name="">
            <a:extLst xmlns:a="http://schemas.openxmlformats.org/drawingml/2006/main">
              <a:ext uri="{FF2B5EF4-FFF2-40B4-BE49-F238E27FC236}">
                <a16:creationId xmlns:a16="http://schemas.microsoft.com/office/drawing/2014/main" id="{F3D2E683-C3EE-429D-AD37-52D0583C70B4}"/>
              </a:ext>
            </a:extLst>
          </p:cNvPr>
          <p:cNvSpPr>
            <a:spLocks xmlns:a="http://schemas.openxmlformats.org/drawingml/2006/main" noGrp="1"/>
          </p:cNvSpPr>
          <p:nvPr/>
        </p:nvSpPr>
        <p:spPr>
          <a:xfrm xmlns:a="http://schemas.openxmlformats.org/drawingml/2006/main">
            <a:off x="7972425" y="2057400"/>
            <a:ext cx="2143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0252B"/>
                </a:solidFill>
                <a:latin typeface="Segoe UI"/>
                <a:ea typeface="Segoe UI"/>
                <a:cs typeface="Segoe UI"/>
              </a:defRPr>
            </a:defPPr>
          </a:lstStyle>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model-usable labels</a:t>
            </a:r>
          </a:p>
        </p:txBody>
      </p:sp>
      <p:sp>
        <p:nvSpPr>
          <p:cNvPr id="15" name="">
            <a:extLst xmlns:a="http://schemas.openxmlformats.org/drawingml/2006/main">
              <a:ext uri="{FF2B5EF4-FFF2-40B4-BE49-F238E27FC236}">
                <a16:creationId xmlns:a16="http://schemas.microsoft.com/office/drawing/2014/main" id="{80171983-E32F-4EDD-8109-6EE697029971}"/>
              </a:ext>
            </a:extLst>
          </p:cNvPr>
          <p:cNvSpPr>
            <a:spLocks xmlns:a="http://schemas.openxmlformats.org/drawingml/2006/main" noGrp="1"/>
          </p:cNvSpPr>
          <p:nvPr/>
        </p:nvSpPr>
        <p:spPr>
          <a:xfrm xmlns:a="http://schemas.openxmlformats.org/drawingml/2006/main">
            <a:off x="514350" y="2476500"/>
            <a:ext cx="11163300" cy="19050"/>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9BE904-33A8-459B-A70A-B392653BA815}"/>
              </a:ext>
            </a:extLst>
          </p:cNvPr>
          <p:cNvSpPr>
            <a:spLocks xmlns:a="http://schemas.openxmlformats.org/drawingml/2006/main" noGrp="1"/>
          </p:cNvSpPr>
          <p:nvPr/>
        </p:nvSpPr>
        <p:spPr>
          <a:xfrm xmlns:a="http://schemas.openxmlformats.org/drawingml/2006/main">
            <a:off x="514350" y="2705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PILOT CLASS COUNTS</a:t>
            </a:r>
          </a:p>
        </p:txBody>
      </p:sp>
      <p:graphicFrame>
        <p:nvGraphicFramePr>
          <p:cNvPr id="17" name="Chart">
            <a:extLst xmlns:a="http://schemas.openxmlformats.org/drawingml/2006/main">
              <a:ext uri="{FF2B5EF4-FFF2-40B4-BE49-F238E27FC236}">
                <a16:creationId xmlns:a16="http://schemas.microsoft.com/office/drawing/2014/main" id="{31F23BC9-C00F-483C-A736-C6D3BC136B7A}"/>
              </a:ext>
            </a:extLst>
          </p:cNvPr>
          <p:cNvGraphicFramePr/>
          <p:nvPr/>
        </p:nvGraphicFramePr>
        <p:xfrm>
          <a:off xmlns:a="http://schemas.openxmlformats.org/drawingml/2006/main" x="2400300" y="3095625"/>
          <a:ext xmlns:a="http://schemas.openxmlformats.org/drawingml/2006/main" cx="5924550" cy="2714625"/>
        </p:xfrm>
        <a:graphic xmlns:a="http://schemas.openxmlformats.org/drawingml/2006/main">
          <a:graphicData uri="http://schemas.openxmlformats.org/drawingml/2006/chart">
            <c:chart xmlns:r="http://schemas.openxmlformats.org/officeDocument/2006/relationships" xmlns:c="http://schemas.openxmlformats.org/drawingml/2006/chart" r:id="R4046318c280b42e7"/>
          </a:graphicData>
        </a:graphic>
      </p:graphicFrame>
      <p:sp>
        <p:nvSpPr>
          <p:cNvPr id="18" name="">
            <a:extLst xmlns:a="http://schemas.openxmlformats.org/drawingml/2006/main">
              <a:ext uri="{FF2B5EF4-FFF2-40B4-BE49-F238E27FC236}">
                <a16:creationId xmlns:a16="http://schemas.microsoft.com/office/drawing/2014/main" id="{5C9435F4-45E8-4F2B-BEF6-4E1FD25AFF6F}"/>
              </a:ext>
            </a:extLst>
          </p:cNvPr>
          <p:cNvSpPr>
            <a:spLocks xmlns:a="http://schemas.openxmlformats.org/drawingml/2006/main" noGrp="1"/>
          </p:cNvSpPr>
          <p:nvPr/>
        </p:nvSpPr>
        <p:spPr>
          <a:xfrm xmlns:a="http://schemas.openxmlformats.org/drawingml/2006/main">
            <a:off x="514350" y="3324225"/>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No targeted check</a:t>
            </a:r>
          </a:p>
        </p:txBody>
      </p:sp>
      <p:sp>
        <p:nvSpPr>
          <p:cNvPr id="19" name="">
            <a:extLst xmlns:a="http://schemas.openxmlformats.org/drawingml/2006/main">
              <a:ext uri="{FF2B5EF4-FFF2-40B4-BE49-F238E27FC236}">
                <a16:creationId xmlns:a16="http://schemas.microsoft.com/office/drawing/2014/main" id="{567673FC-8DC1-473A-A7AB-3938C097DD5D}"/>
              </a:ext>
            </a:extLst>
          </p:cNvPr>
          <p:cNvSpPr>
            <a:spLocks xmlns:a="http://schemas.openxmlformats.org/drawingml/2006/main" noGrp="1"/>
          </p:cNvSpPr>
          <p:nvPr/>
        </p:nvSpPr>
        <p:spPr>
          <a:xfrm xmlns:a="http://schemas.openxmlformats.org/drawingml/2006/main">
            <a:off x="514350" y="37528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Data / schema</a:t>
            </a:r>
          </a:p>
        </p:txBody>
      </p:sp>
      <p:sp>
        <p:nvSpPr>
          <p:cNvPr id="20" name="">
            <a:extLst xmlns:a="http://schemas.openxmlformats.org/drawingml/2006/main">
              <a:ext uri="{FF2B5EF4-FFF2-40B4-BE49-F238E27FC236}">
                <a16:creationId xmlns:a16="http://schemas.microsoft.com/office/drawing/2014/main" id="{3AC55E54-6F13-4B37-B23B-4A36F330D865}"/>
              </a:ext>
            </a:extLst>
          </p:cNvPr>
          <p:cNvSpPr>
            <a:spLocks xmlns:a="http://schemas.openxmlformats.org/drawingml/2006/main" noGrp="1"/>
          </p:cNvSpPr>
          <p:nvPr/>
        </p:nvSpPr>
        <p:spPr>
          <a:xfrm xmlns:a="http://schemas.openxmlformats.org/drawingml/2006/main">
            <a:off x="514350" y="4181475"/>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Configuration</a:t>
            </a:r>
          </a:p>
        </p:txBody>
      </p:sp>
      <p:sp>
        <p:nvSpPr>
          <p:cNvPr id="21" name="">
            <a:extLst xmlns:a="http://schemas.openxmlformats.org/drawingml/2006/main">
              <a:ext uri="{FF2B5EF4-FFF2-40B4-BE49-F238E27FC236}">
                <a16:creationId xmlns:a16="http://schemas.microsoft.com/office/drawing/2014/main" id="{2C9D4C3B-C158-4AD4-B451-829FE832686F}"/>
              </a:ext>
            </a:extLst>
          </p:cNvPr>
          <p:cNvSpPr>
            <a:spLocks xmlns:a="http://schemas.openxmlformats.org/drawingml/2006/main" noGrp="1"/>
          </p:cNvSpPr>
          <p:nvPr/>
        </p:nvSpPr>
        <p:spPr>
          <a:xfrm xmlns:a="http://schemas.openxmlformats.org/drawingml/2006/main">
            <a:off x="514350" y="46101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UI / output</a:t>
            </a:r>
          </a:p>
        </p:txBody>
      </p:sp>
      <p:sp>
        <p:nvSpPr>
          <p:cNvPr id="22" name="">
            <a:extLst xmlns:a="http://schemas.openxmlformats.org/drawingml/2006/main">
              <a:ext uri="{FF2B5EF4-FFF2-40B4-BE49-F238E27FC236}">
                <a16:creationId xmlns:a16="http://schemas.microsoft.com/office/drawing/2014/main" id="{103B6276-8BEE-4B5E-AE36-FA6A21585792}"/>
              </a:ext>
            </a:extLst>
          </p:cNvPr>
          <p:cNvSpPr>
            <a:spLocks xmlns:a="http://schemas.openxmlformats.org/drawingml/2006/main" noGrp="1"/>
          </p:cNvSpPr>
          <p:nvPr/>
        </p:nvSpPr>
        <p:spPr>
          <a:xfrm xmlns:a="http://schemas.openxmlformats.org/drawingml/2006/main">
            <a:off x="514350" y="5038725"/>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Segoe UI"/>
                <a:ea typeface="Segoe UI"/>
                <a:cs typeface="Segoe UI"/>
              </a:defRPr>
            </a:defPPr>
          </a:lstStyle>
          <a:p xmlns:a="http://schemas.openxmlformats.org/drawingml/2006/main">
            <a:pPr algn="l">
              <a:defRPr sz="1275" b="0">
                <a:solidFill>
                  <a:srgbClr val="20252B"/>
                </a:solidFill>
                <a:latin typeface="Segoe UI"/>
                <a:ea typeface="Segoe UI"/>
                <a:cs typeface="Segoe UI"/>
              </a:defRPr>
            </a:pPr>
            <a:r>
              <a:rPr sz="1275" b="0">
                <a:solidFill>
                  <a:srgbClr val="20252B"/>
                </a:solidFill>
                <a:latin typeface="Segoe UI"/>
                <a:ea typeface="Segoe UI"/>
                <a:cs typeface="Segoe UI"/>
              </a:rPr>
              <a:t>API / code</a:t>
            </a:r>
          </a:p>
        </p:txBody>
      </p:sp>
      <p:sp>
        <p:nvSpPr>
          <p:cNvPr id="23" name="">
            <a:extLst xmlns:a="http://schemas.openxmlformats.org/drawingml/2006/main">
              <a:ext uri="{FF2B5EF4-FFF2-40B4-BE49-F238E27FC236}">
                <a16:creationId xmlns:a16="http://schemas.microsoft.com/office/drawing/2014/main" id="{91EA9BE8-CE44-47C3-998E-8A4FFE0C4404}"/>
              </a:ext>
            </a:extLst>
          </p:cNvPr>
          <p:cNvSpPr>
            <a:spLocks xmlns:a="http://schemas.openxmlformats.org/drawingml/2006/main" noGrp="1"/>
          </p:cNvSpPr>
          <p:nvPr/>
        </p:nvSpPr>
        <p:spPr>
          <a:xfrm xmlns:a="http://schemas.openxmlformats.org/drawingml/2006/main">
            <a:off x="8658225" y="3048000"/>
            <a:ext cx="3019425" cy="2571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13F8B7-3417-4FA8-B798-AC0EFA755217}"/>
              </a:ext>
            </a:extLst>
          </p:cNvPr>
          <p:cNvSpPr>
            <a:spLocks xmlns:a="http://schemas.openxmlformats.org/drawingml/2006/main" noGrp="1"/>
          </p:cNvSpPr>
          <p:nvPr/>
        </p:nvSpPr>
        <p:spPr>
          <a:xfrm xmlns:a="http://schemas.openxmlformats.org/drawingml/2006/main">
            <a:off x="8658225" y="3048000"/>
            <a:ext cx="47625" cy="25717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1475EAC-B6B9-43AD-95DF-36E765C390E1}"/>
              </a:ext>
            </a:extLst>
          </p:cNvPr>
          <p:cNvSpPr>
            <a:spLocks xmlns:a="http://schemas.openxmlformats.org/drawingml/2006/main" noGrp="1"/>
          </p:cNvSpPr>
          <p:nvPr/>
        </p:nvSpPr>
        <p:spPr>
          <a:xfrm xmlns:a="http://schemas.openxmlformats.org/drawingml/2006/main">
            <a:off x="8848725" y="32385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C171D"/>
                </a:solidFill>
                <a:latin typeface="Segoe UI"/>
                <a:ea typeface="Segoe UI"/>
                <a:cs typeface="Segoe UI"/>
              </a:defRPr>
            </a:defPPr>
          </a:lstStyle>
          <a:p xmlns:a="http://schemas.openxmlformats.org/drawingml/2006/main">
            <a:pPr algn="l">
              <a:defRPr sz="1350" b="1">
                <a:solidFill>
                  <a:srgbClr val="BC171D"/>
                </a:solidFill>
                <a:latin typeface="Segoe UI"/>
                <a:ea typeface="Segoe UI"/>
                <a:cs typeface="Segoe UI"/>
              </a:defRPr>
            </a:pPr>
            <a:r>
              <a:rPr sz="1350" b="1">
                <a:solidFill>
                  <a:srgbClr val="BC171D"/>
                </a:solidFill>
                <a:latin typeface="Segoe UI"/>
                <a:ea typeface="Segoe UI"/>
                <a:cs typeface="Segoe UI"/>
              </a:rPr>
              <a:t>Review unit</a:t>
            </a:r>
          </a:p>
        </p:txBody>
      </p:sp>
      <p:sp>
        <p:nvSpPr>
          <p:cNvPr id="26" name="">
            <a:extLst xmlns:a="http://schemas.openxmlformats.org/drawingml/2006/main">
              <a:ext uri="{FF2B5EF4-FFF2-40B4-BE49-F238E27FC236}">
                <a16:creationId xmlns:a16="http://schemas.microsoft.com/office/drawing/2014/main" id="{38BFD855-2AF5-4133-99DA-CF92EF4E8F42}"/>
              </a:ext>
            </a:extLst>
          </p:cNvPr>
          <p:cNvSpPr>
            <a:spLocks xmlns:a="http://schemas.openxmlformats.org/drawingml/2006/main" noGrp="1"/>
          </p:cNvSpPr>
          <p:nvPr/>
        </p:nvSpPr>
        <p:spPr>
          <a:xfrm xmlns:a="http://schemas.openxmlformats.org/drawingml/2006/main">
            <a:off x="8848725" y="358140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20252B"/>
                </a:solidFill>
                <a:latin typeface="Segoe UI"/>
                <a:ea typeface="Segoe UI"/>
                <a:cs typeface="Segoe UI"/>
              </a:defRPr>
            </a:defPPr>
          </a:lstStyle>
          <a:p xmlns:a="http://schemas.openxmlformats.org/drawingml/2006/main">
            <a:pPr algn="l">
              <a:defRPr sz="1575" b="1">
                <a:solidFill>
                  <a:srgbClr val="20252B"/>
                </a:solidFill>
                <a:latin typeface="Segoe UI"/>
                <a:ea typeface="Segoe UI"/>
                <a:cs typeface="Segoe UI"/>
              </a:defRPr>
            </a:pPr>
            <a:r>
              <a:rPr sz="1575" b="1">
                <a:solidFill>
                  <a:srgbClr val="20252B"/>
                </a:solidFill>
                <a:latin typeface="Segoe UI"/>
                <a:ea typeface="Segoe UI"/>
                <a:cs typeface="Segoe UI"/>
              </a:rPr>
              <a:t>One substantive Django release-note entry</a:t>
            </a:r>
          </a:p>
        </p:txBody>
      </p:sp>
      <p:sp>
        <p:nvSpPr>
          <p:cNvPr id="27" name="">
            <a:extLst xmlns:a="http://schemas.openxmlformats.org/drawingml/2006/main">
              <a:ext uri="{FF2B5EF4-FFF2-40B4-BE49-F238E27FC236}">
                <a16:creationId xmlns:a16="http://schemas.microsoft.com/office/drawing/2014/main" id="{7D3FE060-C133-4F78-9FF8-4636B01604A9}"/>
              </a:ext>
            </a:extLst>
          </p:cNvPr>
          <p:cNvSpPr>
            <a:spLocks xmlns:a="http://schemas.openxmlformats.org/drawingml/2006/main" noGrp="1"/>
          </p:cNvSpPr>
          <p:nvPr/>
        </p:nvSpPr>
        <p:spPr>
          <a:xfrm xmlns:a="http://schemas.openxmlformats.org/drawingml/2006/main">
            <a:off x="8848725" y="4505325"/>
            <a:ext cx="25717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0252B"/>
                </a:solidFill>
                <a:latin typeface="Segoe UI"/>
                <a:ea typeface="Segoe UI"/>
                <a:cs typeface="Segoe UI"/>
              </a:defRPr>
            </a:defPPr>
          </a:lstStyle>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Five target classes</a:t>
            </a:r>
          </a:p>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One separate UNCLEAR state</a:t>
            </a:r>
          </a:p>
          <a:p xmlns:a="http://schemas.openxmlformats.org/drawingml/2006/main">
            <a:pPr algn="l">
              <a:defRPr sz="1350" b="0">
                <a:solidFill>
                  <a:srgbClr val="20252B"/>
                </a:solidFill>
                <a:latin typeface="Segoe UI"/>
                <a:ea typeface="Segoe UI"/>
                <a:cs typeface="Segoe UI"/>
              </a:defRPr>
            </a:pPr>
            <a:r>
              <a:rPr sz="1350" b="0">
                <a:solidFill>
                  <a:srgbClr val="20252B"/>
                </a:solidFill>
                <a:latin typeface="Segoe UI"/>
                <a:ea typeface="Segoe UI"/>
                <a:cs typeface="Segoe UI"/>
              </a:rPr>
              <a:t>One UNCLEAR row excluded</a:t>
            </a:r>
          </a:p>
        </p:txBody>
      </p:sp>
      <p:sp>
        <p:nvSpPr>
          <p:cNvPr id="28" name="">
            <a:extLst xmlns:a="http://schemas.openxmlformats.org/drawingml/2006/main">
              <a:ext uri="{FF2B5EF4-FFF2-40B4-BE49-F238E27FC236}">
                <a16:creationId xmlns:a16="http://schemas.microsoft.com/office/drawing/2014/main" id="{09E17350-1441-4122-9545-B71783CEEAF7}"/>
              </a:ext>
            </a:extLst>
          </p:cNvPr>
          <p:cNvSpPr>
            <a:spLocks xmlns:a="http://schemas.openxmlformats.org/drawingml/2006/main" noGrp="1"/>
          </p:cNvSpPr>
          <p:nvPr/>
        </p:nvSpPr>
        <p:spPr>
          <a:xfrm xmlns:a="http://schemas.openxmlformats.org/drawingml/2006/main">
            <a:off x="514350" y="5886450"/>
            <a:ext cx="1100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Pilot releases: 4.2, 5.0, 5.1, 5.2 and 6.0. Ten entries were selected from each.</a:t>
            </a:r>
          </a:p>
        </p:txBody>
      </p:sp>
    </p:spTree>
    <p:extLst>
      <p:ext uri="{BB962C8B-B14F-4D97-AF65-F5344CB8AC3E}">
        <p14:creationId xmlns:p14="http://schemas.microsoft.com/office/powerpoint/2010/main" val="1236589733"/>
      </p:ext>
    </p:extLst>
  </p:cSld>
</p:sld>
</file>

<file path=ppt/slides/slide5.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2E3D40E-100C-4756-B1F2-E84954DE198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5">
            <a:extLst xmlns:a="http://schemas.openxmlformats.org/drawingml/2006/main">
              <a:ext uri="{FF2B5EF4-FFF2-40B4-BE49-F238E27FC236}">
                <a16:creationId xmlns:a16="http://schemas.microsoft.com/office/drawing/2014/main" id="{E002AB5A-6D40-4CA5-BC3C-0F9D67C72D51}"/>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End-to-end NLP methodology</a:t>
            </a:r>
          </a:p>
        </p:txBody>
      </p:sp>
      <p:sp>
        <p:nvSpPr>
          <p:cNvPr id="3" name="">
            <a:extLst xmlns:a="http://schemas.openxmlformats.org/drawingml/2006/main">
              <a:ext uri="{FF2B5EF4-FFF2-40B4-BE49-F238E27FC236}">
                <a16:creationId xmlns:a16="http://schemas.microsoft.com/office/drawing/2014/main" id="{3B2A22C5-0174-4F25-AAF8-2ACC7DB8A0D0}"/>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AACEAC-B017-4082-91F4-727A0F42372F}"/>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5E70-1C56-4ACB-A161-9AAEF0AECE0B}"/>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FB9D4C5A-D947-4EEB-936A-13B5434DD570}"/>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Bhargav   •   05 / 13</a:t>
            </a:r>
          </a:p>
        </p:txBody>
      </p:sp>
      <p:sp>
        <p:nvSpPr>
          <p:cNvPr id="7" name="">
            <a:extLst xmlns:a="http://schemas.openxmlformats.org/drawingml/2006/main">
              <a:ext uri="{FF2B5EF4-FFF2-40B4-BE49-F238E27FC236}">
                <a16:creationId xmlns:a16="http://schemas.microsoft.com/office/drawing/2014/main" id="{8D0BAF47-8E5B-43D2-AD0F-072C024807D7}"/>
              </a:ext>
            </a:extLst>
          </p:cNvPr>
          <p:cNvSpPr>
            <a:spLocks xmlns:a="http://schemas.openxmlformats.org/drawingml/2006/main" noGrp="1"/>
          </p:cNvSpPr>
          <p:nvPr/>
        </p:nvSpPr>
        <p:spPr>
          <a:xfrm xmlns:a="http://schemas.openxmlformats.org/drawingml/2006/main">
            <a:off x="514350" y="1581150"/>
            <a:ext cx="1733550" cy="57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CCA3CB-B94B-4AA2-B2B2-671DB5F679EC}"/>
              </a:ext>
            </a:extLst>
          </p:cNvPr>
          <p:cNvSpPr>
            <a:spLocks xmlns:a="http://schemas.openxmlformats.org/drawingml/2006/main" noGrp="1"/>
          </p:cNvSpPr>
          <p:nvPr/>
        </p:nvSpPr>
        <p:spPr>
          <a:xfrm xmlns:a="http://schemas.openxmlformats.org/drawingml/2006/main">
            <a:off x="51435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6A3C5026-B767-421E-93F3-6F3587DDFC55}"/>
              </a:ext>
            </a:extLst>
          </p:cNvPr>
          <p:cNvSpPr>
            <a:spLocks xmlns:a="http://schemas.openxmlformats.org/drawingml/2006/main" noGrp="1"/>
          </p:cNvSpPr>
          <p:nvPr/>
        </p:nvSpPr>
        <p:spPr>
          <a:xfrm xmlns:a="http://schemas.openxmlformats.org/drawingml/2006/main">
            <a:off x="51435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Pinned RST</a:t>
            </a:r>
          </a:p>
        </p:txBody>
      </p:sp>
      <p:sp>
        <p:nvSpPr>
          <p:cNvPr id="10" name="">
            <a:extLst xmlns:a="http://schemas.openxmlformats.org/drawingml/2006/main">
              <a:ext uri="{FF2B5EF4-FFF2-40B4-BE49-F238E27FC236}">
                <a16:creationId xmlns:a16="http://schemas.microsoft.com/office/drawing/2014/main" id="{37595E23-1F11-409A-9D1C-BAD5563A2330}"/>
              </a:ext>
            </a:extLst>
          </p:cNvPr>
          <p:cNvSpPr>
            <a:spLocks xmlns:a="http://schemas.openxmlformats.org/drawingml/2006/main" noGrp="1"/>
          </p:cNvSpPr>
          <p:nvPr/>
        </p:nvSpPr>
        <p:spPr>
          <a:xfrm xmlns:a="http://schemas.openxmlformats.org/drawingml/2006/main">
            <a:off x="51435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14 official Django</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source files</a:t>
            </a:r>
          </a:p>
        </p:txBody>
      </p:sp>
      <p:sp>
        <p:nvSpPr>
          <p:cNvPr id="11" name="">
            <a:extLst xmlns:a="http://schemas.openxmlformats.org/drawingml/2006/main">
              <a:ext uri="{FF2B5EF4-FFF2-40B4-BE49-F238E27FC236}">
                <a16:creationId xmlns:a16="http://schemas.microsoft.com/office/drawing/2014/main" id="{523B0925-4C3F-4E94-ADB7-51EB278E4C4B}"/>
              </a:ext>
            </a:extLst>
          </p:cNvPr>
          <p:cNvSpPr>
            <a:spLocks xmlns:a="http://schemas.openxmlformats.org/drawingml/2006/main" noGrp="1"/>
          </p:cNvSpPr>
          <p:nvPr/>
        </p:nvSpPr>
        <p:spPr>
          <a:xfrm xmlns:a="http://schemas.openxmlformats.org/drawingml/2006/main">
            <a:off x="2400300" y="1581150"/>
            <a:ext cx="1733550" cy="57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878DF7-5F3D-45C4-91F1-1747127B3FE6}"/>
              </a:ext>
            </a:extLst>
          </p:cNvPr>
          <p:cNvSpPr>
            <a:spLocks xmlns:a="http://schemas.openxmlformats.org/drawingml/2006/main" noGrp="1"/>
          </p:cNvSpPr>
          <p:nvPr/>
        </p:nvSpPr>
        <p:spPr>
          <a:xfrm xmlns:a="http://schemas.openxmlformats.org/drawingml/2006/main">
            <a:off x="240030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876ECF07-3351-4771-BBF8-79D8AEBE017C}"/>
              </a:ext>
            </a:extLst>
          </p:cNvPr>
          <p:cNvSpPr>
            <a:spLocks xmlns:a="http://schemas.openxmlformats.org/drawingml/2006/main" noGrp="1"/>
          </p:cNvSpPr>
          <p:nvPr/>
        </p:nvSpPr>
        <p:spPr>
          <a:xfrm xmlns:a="http://schemas.openxmlformats.org/drawingml/2006/main">
            <a:off x="240030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Extraction</a:t>
            </a:r>
          </a:p>
        </p:txBody>
      </p:sp>
      <p:sp>
        <p:nvSpPr>
          <p:cNvPr id="14" name="">
            <a:extLst xmlns:a="http://schemas.openxmlformats.org/drawingml/2006/main">
              <a:ext uri="{FF2B5EF4-FFF2-40B4-BE49-F238E27FC236}">
                <a16:creationId xmlns:a16="http://schemas.microsoft.com/office/drawing/2014/main" id="{732C3095-4443-4028-86A5-E3A31A8F42DB}"/>
              </a:ext>
            </a:extLst>
          </p:cNvPr>
          <p:cNvSpPr>
            <a:spLocks xmlns:a="http://schemas.openxmlformats.org/drawingml/2006/main" noGrp="1"/>
          </p:cNvSpPr>
          <p:nvPr/>
        </p:nvSpPr>
        <p:spPr>
          <a:xfrm xmlns:a="http://schemas.openxmlformats.org/drawingml/2006/main">
            <a:off x="240030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Clean entries, IDs,</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URLs and hashes</a:t>
            </a:r>
          </a:p>
        </p:txBody>
      </p:sp>
      <p:sp>
        <p:nvSpPr>
          <p:cNvPr id="15" name="">
            <a:extLst xmlns:a="http://schemas.openxmlformats.org/drawingml/2006/main">
              <a:ext uri="{FF2B5EF4-FFF2-40B4-BE49-F238E27FC236}">
                <a16:creationId xmlns:a16="http://schemas.microsoft.com/office/drawing/2014/main" id="{0BA5C15F-31ED-4417-8EEE-C11FC2EBFEAD}"/>
              </a:ext>
            </a:extLst>
          </p:cNvPr>
          <p:cNvSpPr>
            <a:spLocks xmlns:a="http://schemas.openxmlformats.org/drawingml/2006/main" noGrp="1"/>
          </p:cNvSpPr>
          <p:nvPr/>
        </p:nvSpPr>
        <p:spPr>
          <a:xfrm xmlns:a="http://schemas.openxmlformats.org/drawingml/2006/main">
            <a:off x="4286250" y="1581150"/>
            <a:ext cx="1733550" cy="57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E79454-3082-4F41-80F9-7F4120BB6CD1}"/>
              </a:ext>
            </a:extLst>
          </p:cNvPr>
          <p:cNvSpPr>
            <a:spLocks xmlns:a="http://schemas.openxmlformats.org/drawingml/2006/main" noGrp="1"/>
          </p:cNvSpPr>
          <p:nvPr/>
        </p:nvSpPr>
        <p:spPr>
          <a:xfrm xmlns:a="http://schemas.openxmlformats.org/drawingml/2006/main">
            <a:off x="428625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03</a:t>
            </a:r>
          </a:p>
        </p:txBody>
      </p:sp>
      <p:sp>
        <p:nvSpPr>
          <p:cNvPr id="17" name="">
            <a:extLst xmlns:a="http://schemas.openxmlformats.org/drawingml/2006/main">
              <a:ext uri="{FF2B5EF4-FFF2-40B4-BE49-F238E27FC236}">
                <a16:creationId xmlns:a16="http://schemas.microsoft.com/office/drawing/2014/main" id="{3743B525-94E2-4714-ACFE-44D678E91EA7}"/>
              </a:ext>
            </a:extLst>
          </p:cNvPr>
          <p:cNvSpPr>
            <a:spLocks xmlns:a="http://schemas.openxmlformats.org/drawingml/2006/main" noGrp="1"/>
          </p:cNvSpPr>
          <p:nvPr/>
        </p:nvSpPr>
        <p:spPr>
          <a:xfrm xmlns:a="http://schemas.openxmlformats.org/drawingml/2006/main">
            <a:off x="428625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Human review</a:t>
            </a:r>
          </a:p>
        </p:txBody>
      </p:sp>
      <p:sp>
        <p:nvSpPr>
          <p:cNvPr id="18" name="">
            <a:extLst xmlns:a="http://schemas.openxmlformats.org/drawingml/2006/main">
              <a:ext uri="{FF2B5EF4-FFF2-40B4-BE49-F238E27FC236}">
                <a16:creationId xmlns:a16="http://schemas.microsoft.com/office/drawing/2014/main" id="{43C2533E-22EC-4DBB-8E5B-1AE19873A2A3}"/>
              </a:ext>
            </a:extLst>
          </p:cNvPr>
          <p:cNvSpPr>
            <a:spLocks xmlns:a="http://schemas.openxmlformats.org/drawingml/2006/main" noGrp="1"/>
          </p:cNvSpPr>
          <p:nvPr/>
        </p:nvSpPr>
        <p:spPr>
          <a:xfrm xmlns:a="http://schemas.openxmlformats.org/drawingml/2006/main">
            <a:off x="428625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50 decisions,</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UNCLEAR separate</a:t>
            </a:r>
          </a:p>
        </p:txBody>
      </p:sp>
      <p:sp>
        <p:nvSpPr>
          <p:cNvPr id="19" name="">
            <a:extLst xmlns:a="http://schemas.openxmlformats.org/drawingml/2006/main">
              <a:ext uri="{FF2B5EF4-FFF2-40B4-BE49-F238E27FC236}">
                <a16:creationId xmlns:a16="http://schemas.microsoft.com/office/drawing/2014/main" id="{D33817E7-B6FC-4C0D-8864-048D61BA83E8}"/>
              </a:ext>
            </a:extLst>
          </p:cNvPr>
          <p:cNvSpPr>
            <a:spLocks xmlns:a="http://schemas.openxmlformats.org/drawingml/2006/main" noGrp="1"/>
          </p:cNvSpPr>
          <p:nvPr/>
        </p:nvSpPr>
        <p:spPr>
          <a:xfrm xmlns:a="http://schemas.openxmlformats.org/drawingml/2006/main">
            <a:off x="6172200" y="1581150"/>
            <a:ext cx="1733550" cy="57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01BAACF-D337-4F37-8052-F5636C81B533}"/>
              </a:ext>
            </a:extLst>
          </p:cNvPr>
          <p:cNvSpPr>
            <a:spLocks xmlns:a="http://schemas.openxmlformats.org/drawingml/2006/main" noGrp="1"/>
          </p:cNvSpPr>
          <p:nvPr/>
        </p:nvSpPr>
        <p:spPr>
          <a:xfrm xmlns:a="http://schemas.openxmlformats.org/drawingml/2006/main">
            <a:off x="617220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04</a:t>
            </a:r>
          </a:p>
        </p:txBody>
      </p:sp>
      <p:sp>
        <p:nvSpPr>
          <p:cNvPr id="21" name="">
            <a:extLst xmlns:a="http://schemas.openxmlformats.org/drawingml/2006/main">
              <a:ext uri="{FF2B5EF4-FFF2-40B4-BE49-F238E27FC236}">
                <a16:creationId xmlns:a16="http://schemas.microsoft.com/office/drawing/2014/main" id="{FEE26CBC-4AA1-445F-BF5A-595AD289439B}"/>
              </a:ext>
            </a:extLst>
          </p:cNvPr>
          <p:cNvSpPr>
            <a:spLocks xmlns:a="http://schemas.openxmlformats.org/drawingml/2006/main" noGrp="1"/>
          </p:cNvSpPr>
          <p:nvPr/>
        </p:nvSpPr>
        <p:spPr>
          <a:xfrm xmlns:a="http://schemas.openxmlformats.org/drawingml/2006/main">
            <a:off x="617220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Release split</a:t>
            </a:r>
          </a:p>
        </p:txBody>
      </p:sp>
      <p:sp>
        <p:nvSpPr>
          <p:cNvPr id="22" name="">
            <a:extLst xmlns:a="http://schemas.openxmlformats.org/drawingml/2006/main">
              <a:ext uri="{FF2B5EF4-FFF2-40B4-BE49-F238E27FC236}">
                <a16:creationId xmlns:a16="http://schemas.microsoft.com/office/drawing/2014/main" id="{160CEE65-2E97-49EC-B2C2-B432F42364A6}"/>
              </a:ext>
            </a:extLst>
          </p:cNvPr>
          <p:cNvSpPr>
            <a:spLocks xmlns:a="http://schemas.openxmlformats.org/drawingml/2006/main" noGrp="1"/>
          </p:cNvSpPr>
          <p:nvPr/>
        </p:nvSpPr>
        <p:spPr>
          <a:xfrm xmlns:a="http://schemas.openxmlformats.org/drawingml/2006/main">
            <a:off x="617220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Whole versions in</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train, dev or test</a:t>
            </a:r>
          </a:p>
        </p:txBody>
      </p:sp>
      <p:sp>
        <p:nvSpPr>
          <p:cNvPr id="23" name="">
            <a:extLst xmlns:a="http://schemas.openxmlformats.org/drawingml/2006/main">
              <a:ext uri="{FF2B5EF4-FFF2-40B4-BE49-F238E27FC236}">
                <a16:creationId xmlns:a16="http://schemas.microsoft.com/office/drawing/2014/main" id="{2EAC4344-E212-454F-8424-382714C5130B}"/>
              </a:ext>
            </a:extLst>
          </p:cNvPr>
          <p:cNvSpPr>
            <a:spLocks xmlns:a="http://schemas.openxmlformats.org/drawingml/2006/main" noGrp="1"/>
          </p:cNvSpPr>
          <p:nvPr/>
        </p:nvSpPr>
        <p:spPr>
          <a:xfrm xmlns:a="http://schemas.openxmlformats.org/drawingml/2006/main">
            <a:off x="8058150" y="1581150"/>
            <a:ext cx="1733550" cy="57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77188CF-1A13-4BE8-BACC-E1CBBC13F652}"/>
              </a:ext>
            </a:extLst>
          </p:cNvPr>
          <p:cNvSpPr>
            <a:spLocks xmlns:a="http://schemas.openxmlformats.org/drawingml/2006/main" noGrp="1"/>
          </p:cNvSpPr>
          <p:nvPr/>
        </p:nvSpPr>
        <p:spPr>
          <a:xfrm xmlns:a="http://schemas.openxmlformats.org/drawingml/2006/main">
            <a:off x="805815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05</a:t>
            </a:r>
          </a:p>
        </p:txBody>
      </p:sp>
      <p:sp>
        <p:nvSpPr>
          <p:cNvPr id="25" name="">
            <a:extLst xmlns:a="http://schemas.openxmlformats.org/drawingml/2006/main">
              <a:ext uri="{FF2B5EF4-FFF2-40B4-BE49-F238E27FC236}">
                <a16:creationId xmlns:a16="http://schemas.microsoft.com/office/drawing/2014/main" id="{4EBDCAC3-30DE-4DE3-9913-CBE0A7AF0AEF}"/>
              </a:ext>
            </a:extLst>
          </p:cNvPr>
          <p:cNvSpPr>
            <a:spLocks xmlns:a="http://schemas.openxmlformats.org/drawingml/2006/main" noGrp="1"/>
          </p:cNvSpPr>
          <p:nvPr/>
        </p:nvSpPr>
        <p:spPr>
          <a:xfrm xmlns:a="http://schemas.openxmlformats.org/drawingml/2006/main">
            <a:off x="805815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Text model</a:t>
            </a:r>
          </a:p>
        </p:txBody>
      </p:sp>
      <p:sp>
        <p:nvSpPr>
          <p:cNvPr id="26" name="">
            <a:extLst xmlns:a="http://schemas.openxmlformats.org/drawingml/2006/main">
              <a:ext uri="{FF2B5EF4-FFF2-40B4-BE49-F238E27FC236}">
                <a16:creationId xmlns:a16="http://schemas.microsoft.com/office/drawing/2014/main" id="{27169287-AE2A-4E98-A630-6219ABA22224}"/>
              </a:ext>
            </a:extLst>
          </p:cNvPr>
          <p:cNvSpPr>
            <a:spLocks xmlns:a="http://schemas.openxmlformats.org/drawingml/2006/main" noGrp="1"/>
          </p:cNvSpPr>
          <p:nvPr/>
        </p:nvSpPr>
        <p:spPr>
          <a:xfrm xmlns:a="http://schemas.openxmlformats.org/drawingml/2006/main">
            <a:off x="805815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Word + character</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TF-IDF, logistic LR</a:t>
            </a:r>
          </a:p>
        </p:txBody>
      </p:sp>
      <p:sp>
        <p:nvSpPr>
          <p:cNvPr id="27" name="">
            <a:extLst xmlns:a="http://schemas.openxmlformats.org/drawingml/2006/main">
              <a:ext uri="{FF2B5EF4-FFF2-40B4-BE49-F238E27FC236}">
                <a16:creationId xmlns:a16="http://schemas.microsoft.com/office/drawing/2014/main" id="{1263C5FA-9C1B-4880-9EA6-0E381B0B7AF7}"/>
              </a:ext>
            </a:extLst>
          </p:cNvPr>
          <p:cNvSpPr>
            <a:spLocks xmlns:a="http://schemas.openxmlformats.org/drawingml/2006/main" noGrp="1"/>
          </p:cNvSpPr>
          <p:nvPr/>
        </p:nvSpPr>
        <p:spPr>
          <a:xfrm xmlns:a="http://schemas.openxmlformats.org/drawingml/2006/main">
            <a:off x="9944100" y="1581150"/>
            <a:ext cx="1733550" cy="57150"/>
          </a:xfrm>
          <a:prstGeom xmlns:a="http://schemas.openxmlformats.org/drawingml/2006/main" prst="rect">
            <a:avLst/>
          </a:prstGeom>
          <a:solidFill xmlns:a="http://schemas.openxmlformats.org/drawingml/2006/main">
            <a:srgbClr val="20252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C5F6CE7-1D67-4F0E-A25E-997D5B5A6001}"/>
              </a:ext>
            </a:extLst>
          </p:cNvPr>
          <p:cNvSpPr>
            <a:spLocks xmlns:a="http://schemas.openxmlformats.org/drawingml/2006/main" noGrp="1"/>
          </p:cNvSpPr>
          <p:nvPr/>
        </p:nvSpPr>
        <p:spPr>
          <a:xfrm xmlns:a="http://schemas.openxmlformats.org/drawingml/2006/main">
            <a:off x="9944100" y="175260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BC171D"/>
                </a:solidFill>
                <a:latin typeface="Bahnschrift"/>
                <a:ea typeface="Bahnschrift"/>
                <a:cs typeface="Bahnschrift"/>
              </a:defRPr>
            </a:defPPr>
          </a:lstStyle>
          <a:p xmlns:a="http://schemas.openxmlformats.org/drawingml/2006/main">
            <a:pPr algn="l">
              <a:defRPr sz="2175" b="1">
                <a:solidFill>
                  <a:srgbClr val="BC171D"/>
                </a:solidFill>
                <a:latin typeface="Bahnschrift"/>
                <a:ea typeface="Bahnschrift"/>
                <a:cs typeface="Bahnschrift"/>
              </a:defRPr>
            </a:pPr>
            <a:r>
              <a:rPr sz="2175" b="1">
                <a:solidFill>
                  <a:srgbClr val="BC171D"/>
                </a:solidFill>
                <a:latin typeface="Bahnschrift"/>
                <a:ea typeface="Bahnschrift"/>
                <a:cs typeface="Bahnschrift"/>
              </a:rPr>
              <a:t>06</a:t>
            </a:r>
          </a:p>
        </p:txBody>
      </p:sp>
      <p:sp>
        <p:nvSpPr>
          <p:cNvPr id="29" name="">
            <a:extLst xmlns:a="http://schemas.openxmlformats.org/drawingml/2006/main">
              <a:ext uri="{FF2B5EF4-FFF2-40B4-BE49-F238E27FC236}">
                <a16:creationId xmlns:a16="http://schemas.microsoft.com/office/drawing/2014/main" id="{A0B47383-3071-46E6-9C1F-40670751E886}"/>
              </a:ext>
            </a:extLst>
          </p:cNvPr>
          <p:cNvSpPr>
            <a:spLocks xmlns:a="http://schemas.openxmlformats.org/drawingml/2006/main" noGrp="1"/>
          </p:cNvSpPr>
          <p:nvPr/>
        </p:nvSpPr>
        <p:spPr>
          <a:xfrm xmlns:a="http://schemas.openxmlformats.org/drawingml/2006/main">
            <a:off x="9944100" y="2200275"/>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Review output</a:t>
            </a:r>
          </a:p>
        </p:txBody>
      </p:sp>
      <p:sp>
        <p:nvSpPr>
          <p:cNvPr id="30" name="">
            <a:extLst xmlns:a="http://schemas.openxmlformats.org/drawingml/2006/main">
              <a:ext uri="{FF2B5EF4-FFF2-40B4-BE49-F238E27FC236}">
                <a16:creationId xmlns:a16="http://schemas.microsoft.com/office/drawing/2014/main" id="{80FD4153-4259-489C-8C4A-0A6B8B121452}"/>
              </a:ext>
            </a:extLst>
          </p:cNvPr>
          <p:cNvSpPr>
            <a:spLocks xmlns:a="http://schemas.openxmlformats.org/drawingml/2006/main" noGrp="1"/>
          </p:cNvSpPr>
          <p:nvPr/>
        </p:nvSpPr>
        <p:spPr>
          <a:xfrm xmlns:a="http://schemas.openxmlformats.org/drawingml/2006/main">
            <a:off x="9944100" y="2695575"/>
            <a:ext cx="1733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Suggested area,</a:t>
            </a:r>
          </a:p>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scores and errors</a:t>
            </a:r>
          </a:p>
        </p:txBody>
      </p:sp>
      <p:sp>
        <p:nvSpPr>
          <p:cNvPr id="31" name="">
            <a:extLst xmlns:a="http://schemas.openxmlformats.org/drawingml/2006/main">
              <a:ext uri="{FF2B5EF4-FFF2-40B4-BE49-F238E27FC236}">
                <a16:creationId xmlns:a16="http://schemas.microsoft.com/office/drawing/2014/main" id="{FC5CF75D-2558-43F0-BD4B-363C310AFBE5}"/>
              </a:ext>
            </a:extLst>
          </p:cNvPr>
          <p:cNvSpPr>
            <a:spLocks xmlns:a="http://schemas.openxmlformats.org/drawingml/2006/main" noGrp="1"/>
          </p:cNvSpPr>
          <p:nvPr/>
        </p:nvSpPr>
        <p:spPr>
          <a:xfrm xmlns:a="http://schemas.openxmlformats.org/drawingml/2006/main">
            <a:off x="514350" y="3810000"/>
            <a:ext cx="11163300" cy="19050"/>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AEFBA1E-CCBE-4E07-953D-E0E98515A131}"/>
              </a:ext>
            </a:extLst>
          </p:cNvPr>
          <p:cNvSpPr>
            <a:spLocks xmlns:a="http://schemas.openxmlformats.org/drawingml/2006/main" noGrp="1"/>
          </p:cNvSpPr>
          <p:nvPr/>
        </p:nvSpPr>
        <p:spPr>
          <a:xfrm xmlns:a="http://schemas.openxmlformats.org/drawingml/2006/main">
            <a:off x="514350" y="4048125"/>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CONTROLS THAT KEEP THE EXPERIMENT INTERPRETABLE</a:t>
            </a:r>
          </a:p>
        </p:txBody>
      </p:sp>
      <p:sp>
        <p:nvSpPr>
          <p:cNvPr id="33" name="">
            <a:extLst xmlns:a="http://schemas.openxmlformats.org/drawingml/2006/main">
              <a:ext uri="{FF2B5EF4-FFF2-40B4-BE49-F238E27FC236}">
                <a16:creationId xmlns:a16="http://schemas.microsoft.com/office/drawing/2014/main" id="{EAA37229-1C9D-46F3-9AEE-50C5A48C7982}"/>
              </a:ext>
            </a:extLst>
          </p:cNvPr>
          <p:cNvSpPr>
            <a:spLocks xmlns:a="http://schemas.openxmlformats.org/drawingml/2006/main" noGrp="1"/>
          </p:cNvSpPr>
          <p:nvPr/>
        </p:nvSpPr>
        <p:spPr>
          <a:xfrm xmlns:a="http://schemas.openxmlformats.org/drawingml/2006/main">
            <a:off x="514350" y="44291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Model input</a:t>
            </a:r>
          </a:p>
        </p:txBody>
      </p:sp>
      <p:sp>
        <p:nvSpPr>
          <p:cNvPr id="34" name="">
            <a:extLst xmlns:a="http://schemas.openxmlformats.org/drawingml/2006/main">
              <a:ext uri="{FF2B5EF4-FFF2-40B4-BE49-F238E27FC236}">
                <a16:creationId xmlns:a16="http://schemas.microsoft.com/office/drawing/2014/main" id="{46103094-2133-4638-BB23-0B1DFCA61E7E}"/>
              </a:ext>
            </a:extLst>
          </p:cNvPr>
          <p:cNvSpPr>
            <a:spLocks xmlns:a="http://schemas.openxmlformats.org/drawingml/2006/main" noGrp="1"/>
          </p:cNvSpPr>
          <p:nvPr/>
        </p:nvSpPr>
        <p:spPr>
          <a:xfrm xmlns:a="http://schemas.openxmlformats.org/drawingml/2006/main">
            <a:off x="2438400" y="442912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Cleaned note text only. No release or section heading.</a:t>
            </a:r>
          </a:p>
        </p:txBody>
      </p:sp>
      <p:sp>
        <p:nvSpPr>
          <p:cNvPr id="35" name="">
            <a:extLst xmlns:a="http://schemas.openxmlformats.org/drawingml/2006/main">
              <a:ext uri="{FF2B5EF4-FFF2-40B4-BE49-F238E27FC236}">
                <a16:creationId xmlns:a16="http://schemas.microsoft.com/office/drawing/2014/main" id="{29754508-2841-4CC1-8C12-E8BBD7CF33C0}"/>
              </a:ext>
            </a:extLst>
          </p:cNvPr>
          <p:cNvSpPr>
            <a:spLocks xmlns:a="http://schemas.openxmlformats.org/drawingml/2006/main" noGrp="1"/>
          </p:cNvSpPr>
          <p:nvPr/>
        </p:nvSpPr>
        <p:spPr>
          <a:xfrm xmlns:a="http://schemas.openxmlformats.org/drawingml/2006/main">
            <a:off x="6153150" y="44291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Training boundary</a:t>
            </a:r>
          </a:p>
        </p:txBody>
      </p:sp>
      <p:sp>
        <p:nvSpPr>
          <p:cNvPr id="36" name="">
            <a:extLst xmlns:a="http://schemas.openxmlformats.org/drawingml/2006/main">
              <a:ext uri="{FF2B5EF4-FFF2-40B4-BE49-F238E27FC236}">
                <a16:creationId xmlns:a16="http://schemas.microsoft.com/office/drawing/2014/main" id="{09AC64A6-BF22-4654-B27D-FD10E6789367}"/>
              </a:ext>
            </a:extLst>
          </p:cNvPr>
          <p:cNvSpPr>
            <a:spLocks xmlns:a="http://schemas.openxmlformats.org/drawingml/2006/main" noGrp="1"/>
          </p:cNvSpPr>
          <p:nvPr/>
        </p:nvSpPr>
        <p:spPr>
          <a:xfrm xmlns:a="http://schemas.openxmlformats.org/drawingml/2006/main">
            <a:off x="8077200" y="442912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Both TF-IDF vocabularies fit on train releases only.</a:t>
            </a:r>
          </a:p>
        </p:txBody>
      </p:sp>
      <p:sp>
        <p:nvSpPr>
          <p:cNvPr id="37" name="">
            <a:extLst xmlns:a="http://schemas.openxmlformats.org/drawingml/2006/main">
              <a:ext uri="{FF2B5EF4-FFF2-40B4-BE49-F238E27FC236}">
                <a16:creationId xmlns:a16="http://schemas.microsoft.com/office/drawing/2014/main" id="{1F074F68-4CE4-4357-8137-78EE64535781}"/>
              </a:ext>
            </a:extLst>
          </p:cNvPr>
          <p:cNvSpPr>
            <a:spLocks xmlns:a="http://schemas.openxmlformats.org/drawingml/2006/main" noGrp="1"/>
          </p:cNvSpPr>
          <p:nvPr/>
        </p:nvSpPr>
        <p:spPr>
          <a:xfrm xmlns:a="http://schemas.openxmlformats.org/drawingml/2006/main">
            <a:off x="514350" y="521017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Leakage audit</a:t>
            </a:r>
          </a:p>
        </p:txBody>
      </p:sp>
      <p:sp>
        <p:nvSpPr>
          <p:cNvPr id="38" name="">
            <a:extLst xmlns:a="http://schemas.openxmlformats.org/drawingml/2006/main">
              <a:ext uri="{FF2B5EF4-FFF2-40B4-BE49-F238E27FC236}">
                <a16:creationId xmlns:a16="http://schemas.microsoft.com/office/drawing/2014/main" id="{25E70D99-2582-4DB4-9B38-00AC6903566E}"/>
              </a:ext>
            </a:extLst>
          </p:cNvPr>
          <p:cNvSpPr>
            <a:spLocks xmlns:a="http://schemas.openxmlformats.org/drawingml/2006/main" noGrp="1"/>
          </p:cNvSpPr>
          <p:nvPr/>
        </p:nvSpPr>
        <p:spPr>
          <a:xfrm xmlns:a="http://schemas.openxmlformats.org/drawingml/2006/main">
            <a:off x="2438400" y="521017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Exact cross-split duplicates stop training; similar pairs are flagged.</a:t>
            </a:r>
          </a:p>
        </p:txBody>
      </p:sp>
      <p:sp>
        <p:nvSpPr>
          <p:cNvPr id="39" name="">
            <a:extLst xmlns:a="http://schemas.openxmlformats.org/drawingml/2006/main">
              <a:ext uri="{FF2B5EF4-FFF2-40B4-BE49-F238E27FC236}">
                <a16:creationId xmlns:a16="http://schemas.microsoft.com/office/drawing/2014/main" id="{E4A2E3FB-B930-4C62-93E9-5DB5D78266C0}"/>
              </a:ext>
            </a:extLst>
          </p:cNvPr>
          <p:cNvSpPr>
            <a:spLocks xmlns:a="http://schemas.openxmlformats.org/drawingml/2006/main" noGrp="1"/>
          </p:cNvSpPr>
          <p:nvPr/>
        </p:nvSpPr>
        <p:spPr>
          <a:xfrm xmlns:a="http://schemas.openxmlformats.org/drawingml/2006/main">
            <a:off x="6153150" y="521017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Evaluation</a:t>
            </a:r>
          </a:p>
        </p:txBody>
      </p:sp>
      <p:sp>
        <p:nvSpPr>
          <p:cNvPr id="40" name="">
            <a:extLst xmlns:a="http://schemas.openxmlformats.org/drawingml/2006/main">
              <a:ext uri="{FF2B5EF4-FFF2-40B4-BE49-F238E27FC236}">
                <a16:creationId xmlns:a16="http://schemas.microsoft.com/office/drawing/2014/main" id="{808D8E41-65BF-438E-A2FC-85FA08AF1997}"/>
              </a:ext>
            </a:extLst>
          </p:cNvPr>
          <p:cNvSpPr>
            <a:spLocks xmlns:a="http://schemas.openxmlformats.org/drawingml/2006/main" noGrp="1"/>
          </p:cNvSpPr>
          <p:nvPr/>
        </p:nvSpPr>
        <p:spPr>
          <a:xfrm xmlns:a="http://schemas.openxmlformats.org/drawingml/2006/main">
            <a:off x="8077200" y="521017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Majority and keyword baselines, macro-F1, per-class errors.</a:t>
            </a:r>
          </a:p>
        </p:txBody>
      </p:sp>
    </p:spTree>
    <p:extLst>
      <p:ext uri="{BB962C8B-B14F-4D97-AF65-F5344CB8AC3E}">
        <p14:creationId xmlns:p14="http://schemas.microsoft.com/office/powerpoint/2010/main" val="1995920509"/>
      </p:ext>
    </p:extLst>
  </p:cSld>
</p:sld>
</file>

<file path=ppt/slides/slide6.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254B45C-73F0-4B56-B5B0-E88D5CFDF66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6">
            <a:extLst xmlns:a="http://schemas.openxmlformats.org/drawingml/2006/main">
              <a:ext uri="{FF2B5EF4-FFF2-40B4-BE49-F238E27FC236}">
                <a16:creationId xmlns:a16="http://schemas.microsoft.com/office/drawing/2014/main" id="{920A09D2-8D99-4810-BE48-08C5A62F5A65}"/>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Technology stack and design choices</a:t>
            </a:r>
          </a:p>
        </p:txBody>
      </p:sp>
      <p:sp>
        <p:nvSpPr>
          <p:cNvPr id="3" name="">
            <a:extLst xmlns:a="http://schemas.openxmlformats.org/drawingml/2006/main">
              <a:ext uri="{FF2B5EF4-FFF2-40B4-BE49-F238E27FC236}">
                <a16:creationId xmlns:a16="http://schemas.microsoft.com/office/drawing/2014/main" id="{ABDDD76F-9507-4013-9AEA-A067C23FF653}"/>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BF4108-92D6-43B9-AC14-68642775F4F7}"/>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A8F404-9716-420B-9B5A-238C8B838BD5}"/>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6649C832-D8CB-4A48-8BC9-39DF39738BE4}"/>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06 / 13</a:t>
            </a:r>
          </a:p>
        </p:txBody>
      </p:sp>
      <p:sp>
        <p:nvSpPr>
          <p:cNvPr id="7" name="">
            <a:extLst xmlns:a="http://schemas.openxmlformats.org/drawingml/2006/main">
              <a:ext uri="{FF2B5EF4-FFF2-40B4-BE49-F238E27FC236}">
                <a16:creationId xmlns:a16="http://schemas.microsoft.com/office/drawing/2014/main" id="{81FC61D7-84CE-4AEA-B2C5-2032A94F638F}"/>
              </a:ext>
            </a:extLst>
          </p:cNvPr>
          <p:cNvSpPr>
            <a:spLocks xmlns:a="http://schemas.openxmlformats.org/drawingml/2006/main" noGrp="1"/>
          </p:cNvSpPr>
          <p:nvPr/>
        </p:nvSpPr>
        <p:spPr>
          <a:xfrm xmlns:a="http://schemas.openxmlformats.org/drawingml/2006/main">
            <a:off x="514350" y="1428750"/>
            <a:ext cx="11163300" cy="4381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4EFD0D-4036-40DD-80A3-88A3E7FAF34C}"/>
              </a:ext>
            </a:extLst>
          </p:cNvPr>
          <p:cNvSpPr>
            <a:spLocks xmlns:a="http://schemas.openxmlformats.org/drawingml/2006/main" noGrp="1"/>
          </p:cNvSpPr>
          <p:nvPr/>
        </p:nvSpPr>
        <p:spPr>
          <a:xfrm xmlns:a="http://schemas.openxmlformats.org/drawingml/2006/main">
            <a:off x="676275" y="15335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LAYER</a:t>
            </a:r>
          </a:p>
        </p:txBody>
      </p:sp>
      <p:sp>
        <p:nvSpPr>
          <p:cNvPr id="9" name="">
            <a:extLst xmlns:a="http://schemas.openxmlformats.org/drawingml/2006/main">
              <a:ext uri="{FF2B5EF4-FFF2-40B4-BE49-F238E27FC236}">
                <a16:creationId xmlns:a16="http://schemas.microsoft.com/office/drawing/2014/main" id="{099112CD-8158-4E94-AED2-1EC5EC0FD8AB}"/>
              </a:ext>
            </a:extLst>
          </p:cNvPr>
          <p:cNvSpPr>
            <a:spLocks xmlns:a="http://schemas.openxmlformats.org/drawingml/2006/main" noGrp="1"/>
          </p:cNvSpPr>
          <p:nvPr/>
        </p:nvSpPr>
        <p:spPr>
          <a:xfrm xmlns:a="http://schemas.openxmlformats.org/drawingml/2006/main">
            <a:off x="3314700" y="15335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CHOICE</a:t>
            </a:r>
          </a:p>
        </p:txBody>
      </p:sp>
      <p:sp>
        <p:nvSpPr>
          <p:cNvPr id="10" name="">
            <a:extLst xmlns:a="http://schemas.openxmlformats.org/drawingml/2006/main">
              <a:ext uri="{FF2B5EF4-FFF2-40B4-BE49-F238E27FC236}">
                <a16:creationId xmlns:a16="http://schemas.microsoft.com/office/drawing/2014/main" id="{6CEF91A8-F5BB-4CE3-9228-CB5F6F072E99}"/>
              </a:ext>
            </a:extLst>
          </p:cNvPr>
          <p:cNvSpPr>
            <a:spLocks xmlns:a="http://schemas.openxmlformats.org/drawingml/2006/main" noGrp="1"/>
          </p:cNvSpPr>
          <p:nvPr/>
        </p:nvSpPr>
        <p:spPr>
          <a:xfrm xmlns:a="http://schemas.openxmlformats.org/drawingml/2006/main">
            <a:off x="6762750" y="1533525"/>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REASON IN THIS MVP</a:t>
            </a:r>
          </a:p>
        </p:txBody>
      </p:sp>
      <p:sp>
        <p:nvSpPr>
          <p:cNvPr id="11" name="">
            <a:extLst xmlns:a="http://schemas.openxmlformats.org/drawingml/2006/main">
              <a:ext uri="{FF2B5EF4-FFF2-40B4-BE49-F238E27FC236}">
                <a16:creationId xmlns:a16="http://schemas.microsoft.com/office/drawing/2014/main" id="{5CC3E49B-893E-40C2-8A36-BEB60899F10E}"/>
              </a:ext>
            </a:extLst>
          </p:cNvPr>
          <p:cNvSpPr>
            <a:spLocks xmlns:a="http://schemas.openxmlformats.org/drawingml/2006/main" noGrp="1"/>
          </p:cNvSpPr>
          <p:nvPr/>
        </p:nvSpPr>
        <p:spPr>
          <a:xfrm xmlns:a="http://schemas.openxmlformats.org/drawingml/2006/main">
            <a:off x="514350" y="1866900"/>
            <a:ext cx="111633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983B39-A0B4-4B1B-975F-16B97A560EC3}"/>
              </a:ext>
            </a:extLst>
          </p:cNvPr>
          <p:cNvSpPr>
            <a:spLocks xmlns:a="http://schemas.openxmlformats.org/drawingml/2006/main" noGrp="1"/>
          </p:cNvSpPr>
          <p:nvPr/>
        </p:nvSpPr>
        <p:spPr>
          <a:xfrm xmlns:a="http://schemas.openxmlformats.org/drawingml/2006/main">
            <a:off x="666750" y="2028825"/>
            <a:ext cx="2286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Source processing</a:t>
            </a:r>
          </a:p>
        </p:txBody>
      </p:sp>
      <p:sp>
        <p:nvSpPr>
          <p:cNvPr id="13" name="">
            <a:extLst xmlns:a="http://schemas.openxmlformats.org/drawingml/2006/main">
              <a:ext uri="{FF2B5EF4-FFF2-40B4-BE49-F238E27FC236}">
                <a16:creationId xmlns:a16="http://schemas.microsoft.com/office/drawing/2014/main" id="{AE9C3F1F-060D-4A6E-BB45-2E868D349E54}"/>
              </a:ext>
            </a:extLst>
          </p:cNvPr>
          <p:cNvSpPr>
            <a:spLocks xmlns:a="http://schemas.openxmlformats.org/drawingml/2006/main" noGrp="1"/>
          </p:cNvSpPr>
          <p:nvPr/>
        </p:nvSpPr>
        <p:spPr>
          <a:xfrm xmlns:a="http://schemas.openxmlformats.org/drawingml/2006/main">
            <a:off x="3314700" y="2028825"/>
            <a:ext cx="287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Python standard library</a:t>
            </a:r>
          </a:p>
        </p:txBody>
      </p:sp>
      <p:sp>
        <p:nvSpPr>
          <p:cNvPr id="14" name="">
            <a:extLst xmlns:a="http://schemas.openxmlformats.org/drawingml/2006/main">
              <a:ext uri="{FF2B5EF4-FFF2-40B4-BE49-F238E27FC236}">
                <a16:creationId xmlns:a16="http://schemas.microsoft.com/office/drawing/2014/main" id="{CD805945-6980-48CC-8B2C-783C8ED8A497}"/>
              </a:ext>
            </a:extLst>
          </p:cNvPr>
          <p:cNvSpPr>
            <a:spLocks xmlns:a="http://schemas.openxmlformats.org/drawingml/2006/main" noGrp="1"/>
          </p:cNvSpPr>
          <p:nvPr/>
        </p:nvSpPr>
        <p:spPr>
          <a:xfrm xmlns:a="http://schemas.openxmlformats.org/drawingml/2006/main">
            <a:off x="6762750" y="2028825"/>
            <a:ext cx="460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RST parsing, CSV, hashes and pinned source URLs</a:t>
            </a:r>
          </a:p>
        </p:txBody>
      </p:sp>
      <p:sp>
        <p:nvSpPr>
          <p:cNvPr id="15" name="">
            <a:extLst xmlns:a="http://schemas.openxmlformats.org/drawingml/2006/main">
              <a:ext uri="{FF2B5EF4-FFF2-40B4-BE49-F238E27FC236}">
                <a16:creationId xmlns:a16="http://schemas.microsoft.com/office/drawing/2014/main" id="{2288AADF-DDD2-4E5A-A6EA-D4DB0551E1B4}"/>
              </a:ext>
            </a:extLst>
          </p:cNvPr>
          <p:cNvSpPr>
            <a:spLocks xmlns:a="http://schemas.openxmlformats.org/drawingml/2006/main" noGrp="1"/>
          </p:cNvSpPr>
          <p:nvPr/>
        </p:nvSpPr>
        <p:spPr>
          <a:xfrm xmlns:a="http://schemas.openxmlformats.org/drawingml/2006/main">
            <a:off x="514350" y="25431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8A856B7-F6E1-40AD-B5DF-54833FA2013E}"/>
              </a:ext>
            </a:extLst>
          </p:cNvPr>
          <p:cNvSpPr>
            <a:spLocks xmlns:a="http://schemas.openxmlformats.org/drawingml/2006/main" noGrp="1"/>
          </p:cNvSpPr>
          <p:nvPr/>
        </p:nvSpPr>
        <p:spPr>
          <a:xfrm xmlns:a="http://schemas.openxmlformats.org/drawingml/2006/main">
            <a:off x="666750" y="2714625"/>
            <a:ext cx="2286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Model and metrics</a:t>
            </a:r>
          </a:p>
        </p:txBody>
      </p:sp>
      <p:sp>
        <p:nvSpPr>
          <p:cNvPr id="17" name="">
            <a:extLst xmlns:a="http://schemas.openxmlformats.org/drawingml/2006/main">
              <a:ext uri="{FF2B5EF4-FFF2-40B4-BE49-F238E27FC236}">
                <a16:creationId xmlns:a16="http://schemas.microsoft.com/office/drawing/2014/main" id="{9615A79E-E9C9-4116-843B-E3D91EDAC8B2}"/>
              </a:ext>
            </a:extLst>
          </p:cNvPr>
          <p:cNvSpPr>
            <a:spLocks xmlns:a="http://schemas.openxmlformats.org/drawingml/2006/main" noGrp="1"/>
          </p:cNvSpPr>
          <p:nvPr/>
        </p:nvSpPr>
        <p:spPr>
          <a:xfrm xmlns:a="http://schemas.openxmlformats.org/drawingml/2006/main">
            <a:off x="3314700" y="2714625"/>
            <a:ext cx="287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scikit-learn + NumPy</a:t>
            </a:r>
          </a:p>
        </p:txBody>
      </p:sp>
      <p:sp>
        <p:nvSpPr>
          <p:cNvPr id="18" name="">
            <a:extLst xmlns:a="http://schemas.openxmlformats.org/drawingml/2006/main">
              <a:ext uri="{FF2B5EF4-FFF2-40B4-BE49-F238E27FC236}">
                <a16:creationId xmlns:a16="http://schemas.microsoft.com/office/drawing/2014/main" id="{8D3EE231-5785-4FD0-988E-E57A455FB594}"/>
              </a:ext>
            </a:extLst>
          </p:cNvPr>
          <p:cNvSpPr>
            <a:spLocks xmlns:a="http://schemas.openxmlformats.org/drawingml/2006/main" noGrp="1"/>
          </p:cNvSpPr>
          <p:nvPr/>
        </p:nvSpPr>
        <p:spPr>
          <a:xfrm xmlns:a="http://schemas.openxmlformats.org/drawingml/2006/main">
            <a:off x="6762750" y="2714625"/>
            <a:ext cx="460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TF-IDF, logistic regression, baselines and F1</a:t>
            </a:r>
          </a:p>
        </p:txBody>
      </p:sp>
      <p:sp>
        <p:nvSpPr>
          <p:cNvPr id="19" name="">
            <a:extLst xmlns:a="http://schemas.openxmlformats.org/drawingml/2006/main">
              <a:ext uri="{FF2B5EF4-FFF2-40B4-BE49-F238E27FC236}">
                <a16:creationId xmlns:a16="http://schemas.microsoft.com/office/drawing/2014/main" id="{A6FE173A-4986-4386-BEAB-535314D2B686}"/>
              </a:ext>
            </a:extLst>
          </p:cNvPr>
          <p:cNvSpPr>
            <a:spLocks xmlns:a="http://schemas.openxmlformats.org/drawingml/2006/main" noGrp="1"/>
          </p:cNvSpPr>
          <p:nvPr/>
        </p:nvSpPr>
        <p:spPr>
          <a:xfrm xmlns:a="http://schemas.openxmlformats.org/drawingml/2006/main">
            <a:off x="514350" y="32289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13FD78-342A-428D-8C34-A89187E7FF3A}"/>
              </a:ext>
            </a:extLst>
          </p:cNvPr>
          <p:cNvSpPr>
            <a:spLocks xmlns:a="http://schemas.openxmlformats.org/drawingml/2006/main" noGrp="1"/>
          </p:cNvSpPr>
          <p:nvPr/>
        </p:nvSpPr>
        <p:spPr>
          <a:xfrm xmlns:a="http://schemas.openxmlformats.org/drawingml/2006/main">
            <a:off x="514350" y="3238500"/>
            <a:ext cx="111633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3C7802-A35E-4D80-B979-621D9D71D86E}"/>
              </a:ext>
            </a:extLst>
          </p:cNvPr>
          <p:cNvSpPr>
            <a:spLocks xmlns:a="http://schemas.openxmlformats.org/drawingml/2006/main" noGrp="1"/>
          </p:cNvSpPr>
          <p:nvPr/>
        </p:nvSpPr>
        <p:spPr>
          <a:xfrm xmlns:a="http://schemas.openxmlformats.org/drawingml/2006/main">
            <a:off x="666750" y="3400425"/>
            <a:ext cx="2286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Review interface</a:t>
            </a:r>
          </a:p>
        </p:txBody>
      </p:sp>
      <p:sp>
        <p:nvSpPr>
          <p:cNvPr id="22" name="">
            <a:extLst xmlns:a="http://schemas.openxmlformats.org/drawingml/2006/main">
              <a:ext uri="{FF2B5EF4-FFF2-40B4-BE49-F238E27FC236}">
                <a16:creationId xmlns:a16="http://schemas.microsoft.com/office/drawing/2014/main" id="{E35BEB3F-FB68-49EC-BEDD-BDE72E4F1CA5}"/>
              </a:ext>
            </a:extLst>
          </p:cNvPr>
          <p:cNvSpPr>
            <a:spLocks xmlns:a="http://schemas.openxmlformats.org/drawingml/2006/main" noGrp="1"/>
          </p:cNvSpPr>
          <p:nvPr/>
        </p:nvSpPr>
        <p:spPr>
          <a:xfrm xmlns:a="http://schemas.openxmlformats.org/drawingml/2006/main">
            <a:off x="3314700" y="3400425"/>
            <a:ext cx="287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Streamlit</a:t>
            </a:r>
          </a:p>
        </p:txBody>
      </p:sp>
      <p:sp>
        <p:nvSpPr>
          <p:cNvPr id="23" name="">
            <a:extLst xmlns:a="http://schemas.openxmlformats.org/drawingml/2006/main">
              <a:ext uri="{FF2B5EF4-FFF2-40B4-BE49-F238E27FC236}">
                <a16:creationId xmlns:a16="http://schemas.microsoft.com/office/drawing/2014/main" id="{FA8DEC78-27AD-4E6B-ADC1-6DFA476D9F11}"/>
              </a:ext>
            </a:extLst>
          </p:cNvPr>
          <p:cNvSpPr>
            <a:spLocks xmlns:a="http://schemas.openxmlformats.org/drawingml/2006/main" noGrp="1"/>
          </p:cNvSpPr>
          <p:nvPr/>
        </p:nvSpPr>
        <p:spPr>
          <a:xfrm xmlns:a="http://schemas.openxmlformats.org/drawingml/2006/main">
            <a:off x="6762750" y="3400425"/>
            <a:ext cx="460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Guided labels and a guarded prediction screen</a:t>
            </a:r>
          </a:p>
        </p:txBody>
      </p:sp>
      <p:sp>
        <p:nvSpPr>
          <p:cNvPr id="24" name="">
            <a:extLst xmlns:a="http://schemas.openxmlformats.org/drawingml/2006/main">
              <a:ext uri="{FF2B5EF4-FFF2-40B4-BE49-F238E27FC236}">
                <a16:creationId xmlns:a16="http://schemas.microsoft.com/office/drawing/2014/main" id="{C8A24F7B-7E6E-4CCD-AFB0-0199AD111899}"/>
              </a:ext>
            </a:extLst>
          </p:cNvPr>
          <p:cNvSpPr>
            <a:spLocks xmlns:a="http://schemas.openxmlformats.org/drawingml/2006/main" noGrp="1"/>
          </p:cNvSpPr>
          <p:nvPr/>
        </p:nvSpPr>
        <p:spPr>
          <a:xfrm xmlns:a="http://schemas.openxmlformats.org/drawingml/2006/main">
            <a:off x="514350" y="39147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B9C008-F45F-4EE1-B8E1-FC0EEFE307A8}"/>
              </a:ext>
            </a:extLst>
          </p:cNvPr>
          <p:cNvSpPr>
            <a:spLocks xmlns:a="http://schemas.openxmlformats.org/drawingml/2006/main" noGrp="1"/>
          </p:cNvSpPr>
          <p:nvPr/>
        </p:nvSpPr>
        <p:spPr>
          <a:xfrm xmlns:a="http://schemas.openxmlformats.org/drawingml/2006/main">
            <a:off x="666750" y="4086225"/>
            <a:ext cx="2286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Model artifact</a:t>
            </a:r>
          </a:p>
        </p:txBody>
      </p:sp>
      <p:sp>
        <p:nvSpPr>
          <p:cNvPr id="26" name="">
            <a:extLst xmlns:a="http://schemas.openxmlformats.org/drawingml/2006/main">
              <a:ext uri="{FF2B5EF4-FFF2-40B4-BE49-F238E27FC236}">
                <a16:creationId xmlns:a16="http://schemas.microsoft.com/office/drawing/2014/main" id="{6FBC67F8-3AE5-4D95-8975-6212E228FAF0}"/>
              </a:ext>
            </a:extLst>
          </p:cNvPr>
          <p:cNvSpPr>
            <a:spLocks xmlns:a="http://schemas.openxmlformats.org/drawingml/2006/main" noGrp="1"/>
          </p:cNvSpPr>
          <p:nvPr/>
        </p:nvSpPr>
        <p:spPr>
          <a:xfrm xmlns:a="http://schemas.openxmlformats.org/drawingml/2006/main">
            <a:off x="3314700" y="4086225"/>
            <a:ext cx="287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joblib</a:t>
            </a:r>
          </a:p>
        </p:txBody>
      </p:sp>
      <p:sp>
        <p:nvSpPr>
          <p:cNvPr id="27" name="">
            <a:extLst xmlns:a="http://schemas.openxmlformats.org/drawingml/2006/main">
              <a:ext uri="{FF2B5EF4-FFF2-40B4-BE49-F238E27FC236}">
                <a16:creationId xmlns:a16="http://schemas.microsoft.com/office/drawing/2014/main" id="{172AE7A8-3B48-451C-B4A9-E7D9DE05BC66}"/>
              </a:ext>
            </a:extLst>
          </p:cNvPr>
          <p:cNvSpPr>
            <a:spLocks xmlns:a="http://schemas.openxmlformats.org/drawingml/2006/main" noGrp="1"/>
          </p:cNvSpPr>
          <p:nvPr/>
        </p:nvSpPr>
        <p:spPr>
          <a:xfrm xmlns:a="http://schemas.openxmlformats.org/drawingml/2006/main">
            <a:off x="6762750" y="4086225"/>
            <a:ext cx="460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Local trained pipeline loaded for the demo</a:t>
            </a:r>
          </a:p>
        </p:txBody>
      </p:sp>
      <p:sp>
        <p:nvSpPr>
          <p:cNvPr id="28" name="">
            <a:extLst xmlns:a="http://schemas.openxmlformats.org/drawingml/2006/main">
              <a:ext uri="{FF2B5EF4-FFF2-40B4-BE49-F238E27FC236}">
                <a16:creationId xmlns:a16="http://schemas.microsoft.com/office/drawing/2014/main" id="{07B7874D-48F8-44BF-BFBE-44C9286893CD}"/>
              </a:ext>
            </a:extLst>
          </p:cNvPr>
          <p:cNvSpPr>
            <a:spLocks xmlns:a="http://schemas.openxmlformats.org/drawingml/2006/main" noGrp="1"/>
          </p:cNvSpPr>
          <p:nvPr/>
        </p:nvSpPr>
        <p:spPr>
          <a:xfrm xmlns:a="http://schemas.openxmlformats.org/drawingml/2006/main">
            <a:off x="514350" y="46005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0F3EDAC-84B6-47E3-A332-C14A1976BCE0}"/>
              </a:ext>
            </a:extLst>
          </p:cNvPr>
          <p:cNvSpPr>
            <a:spLocks xmlns:a="http://schemas.openxmlformats.org/drawingml/2006/main" noGrp="1"/>
          </p:cNvSpPr>
          <p:nvPr/>
        </p:nvSpPr>
        <p:spPr>
          <a:xfrm xmlns:a="http://schemas.openxmlformats.org/drawingml/2006/main">
            <a:off x="514350" y="4610100"/>
            <a:ext cx="111633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327ACE4-9C4C-401D-837A-E9EDA1C87D9D}"/>
              </a:ext>
            </a:extLst>
          </p:cNvPr>
          <p:cNvSpPr>
            <a:spLocks xmlns:a="http://schemas.openxmlformats.org/drawingml/2006/main" noGrp="1"/>
          </p:cNvSpPr>
          <p:nvPr/>
        </p:nvSpPr>
        <p:spPr>
          <a:xfrm xmlns:a="http://schemas.openxmlformats.org/drawingml/2006/main">
            <a:off x="666750" y="4772025"/>
            <a:ext cx="2286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Quality gate</a:t>
            </a:r>
          </a:p>
        </p:txBody>
      </p:sp>
      <p:sp>
        <p:nvSpPr>
          <p:cNvPr id="31" name="">
            <a:extLst xmlns:a="http://schemas.openxmlformats.org/drawingml/2006/main">
              <a:ext uri="{FF2B5EF4-FFF2-40B4-BE49-F238E27FC236}">
                <a16:creationId xmlns:a16="http://schemas.microsoft.com/office/drawing/2014/main" id="{E1951B48-35D3-4EBD-B5A6-B07461DBB1AA}"/>
              </a:ext>
            </a:extLst>
          </p:cNvPr>
          <p:cNvSpPr>
            <a:spLocks xmlns:a="http://schemas.openxmlformats.org/drawingml/2006/main" noGrp="1"/>
          </p:cNvSpPr>
          <p:nvPr/>
        </p:nvSpPr>
        <p:spPr>
          <a:xfrm xmlns:a="http://schemas.openxmlformats.org/drawingml/2006/main">
            <a:off x="3314700" y="4772025"/>
            <a:ext cx="287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pytest + Git</a:t>
            </a:r>
          </a:p>
        </p:txBody>
      </p:sp>
      <p:sp>
        <p:nvSpPr>
          <p:cNvPr id="32" name="">
            <a:extLst xmlns:a="http://schemas.openxmlformats.org/drawingml/2006/main">
              <a:ext uri="{FF2B5EF4-FFF2-40B4-BE49-F238E27FC236}">
                <a16:creationId xmlns:a16="http://schemas.microsoft.com/office/drawing/2014/main" id="{874CAA27-1040-4962-B311-247DF31FA5C4}"/>
              </a:ext>
            </a:extLst>
          </p:cNvPr>
          <p:cNvSpPr>
            <a:spLocks xmlns:a="http://schemas.openxmlformats.org/drawingml/2006/main" noGrp="1"/>
          </p:cNvSpPr>
          <p:nvPr/>
        </p:nvSpPr>
        <p:spPr>
          <a:xfrm xmlns:a="http://schemas.openxmlformats.org/drawingml/2006/main">
            <a:off x="6762750" y="4772025"/>
            <a:ext cx="460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23 passing tests, reproducible commits</a:t>
            </a:r>
          </a:p>
        </p:txBody>
      </p:sp>
      <p:sp>
        <p:nvSpPr>
          <p:cNvPr id="33" name="">
            <a:extLst xmlns:a="http://schemas.openxmlformats.org/drawingml/2006/main">
              <a:ext uri="{FF2B5EF4-FFF2-40B4-BE49-F238E27FC236}">
                <a16:creationId xmlns:a16="http://schemas.microsoft.com/office/drawing/2014/main" id="{6FE7C72C-032A-43B1-BDC8-133566739F40}"/>
              </a:ext>
            </a:extLst>
          </p:cNvPr>
          <p:cNvSpPr>
            <a:spLocks xmlns:a="http://schemas.openxmlformats.org/drawingml/2006/main" noGrp="1"/>
          </p:cNvSpPr>
          <p:nvPr/>
        </p:nvSpPr>
        <p:spPr>
          <a:xfrm xmlns:a="http://schemas.openxmlformats.org/drawingml/2006/main">
            <a:off x="514350" y="52863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F31A34C-E564-49F0-A504-985FBF2D043D}"/>
              </a:ext>
            </a:extLst>
          </p:cNvPr>
          <p:cNvSpPr>
            <a:spLocks xmlns:a="http://schemas.openxmlformats.org/drawingml/2006/main" noGrp="1"/>
          </p:cNvSpPr>
          <p:nvPr/>
        </p:nvSpPr>
        <p:spPr>
          <a:xfrm xmlns:a="http://schemas.openxmlformats.org/drawingml/2006/main">
            <a:off x="514350" y="5514975"/>
            <a:ext cx="11163300" cy="561975"/>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3076700-1922-4F14-A62E-0FA16768A29E}"/>
              </a:ext>
            </a:extLst>
          </p:cNvPr>
          <p:cNvSpPr>
            <a:spLocks xmlns:a="http://schemas.openxmlformats.org/drawingml/2006/main" noGrp="1"/>
          </p:cNvSpPr>
          <p:nvPr/>
        </p:nvSpPr>
        <p:spPr>
          <a:xfrm xmlns:a="http://schemas.openxmlformats.org/drawingml/2006/main">
            <a:off x="685800" y="5648325"/>
            <a:ext cx="10715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Execution profile: local, CPU-only, no credentials required for the committed offline demo.</a:t>
            </a:r>
          </a:p>
        </p:txBody>
      </p:sp>
    </p:spTree>
    <p:extLst>
      <p:ext uri="{BB962C8B-B14F-4D97-AF65-F5344CB8AC3E}">
        <p14:creationId xmlns:p14="http://schemas.microsoft.com/office/powerpoint/2010/main" val="1280586725"/>
      </p:ext>
    </p:extLst>
  </p:cSld>
</p:sld>
</file>

<file path=ppt/slides/slide7.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125AF41-0DB5-4CAA-94CF-EB08E62A66B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7">
            <a:extLst xmlns:a="http://schemas.openxmlformats.org/drawingml/2006/main">
              <a:ext uri="{FF2B5EF4-FFF2-40B4-BE49-F238E27FC236}">
                <a16:creationId xmlns:a16="http://schemas.microsoft.com/office/drawing/2014/main" id="{66841732-5AAC-4665-9E4B-3990297C187D}"/>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VS Code walkthrough: repository map</a:t>
            </a:r>
          </a:p>
        </p:txBody>
      </p:sp>
      <p:sp>
        <p:nvSpPr>
          <p:cNvPr id="3" name="">
            <a:extLst xmlns:a="http://schemas.openxmlformats.org/drawingml/2006/main">
              <a:ext uri="{FF2B5EF4-FFF2-40B4-BE49-F238E27FC236}">
                <a16:creationId xmlns:a16="http://schemas.microsoft.com/office/drawing/2014/main" id="{7CA7B273-4A85-4E5A-AB7D-25D80302B7DF}"/>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6458B7-604B-4A90-BC83-FD6E3CABFD09}"/>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E152D0-7060-4DAA-8E6B-D1388B1159E5}"/>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9CB4B581-75EA-48C9-87D9-AE5A0708AAD6}"/>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07 / 13</a:t>
            </a:r>
          </a:p>
        </p:txBody>
      </p:sp>
      <p:sp>
        <p:nvSpPr>
          <p:cNvPr id="7" name="">
            <a:extLst xmlns:a="http://schemas.openxmlformats.org/drawingml/2006/main">
              <a:ext uri="{FF2B5EF4-FFF2-40B4-BE49-F238E27FC236}">
                <a16:creationId xmlns:a16="http://schemas.microsoft.com/office/drawing/2014/main" id="{93385D82-2566-4B6E-8102-CC0A16303206}"/>
              </a:ext>
            </a:extLst>
          </p:cNvPr>
          <p:cNvSpPr>
            <a:spLocks xmlns:a="http://schemas.openxmlformats.org/drawingml/2006/main" noGrp="1"/>
          </p:cNvSpPr>
          <p:nvPr/>
        </p:nvSpPr>
        <p:spPr>
          <a:xfrm xmlns:a="http://schemas.openxmlformats.org/drawingml/2006/main">
            <a:off x="514350" y="1428750"/>
            <a:ext cx="5048250" cy="4171950"/>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AF6F01-5934-479D-BC2B-D8EEE6EA85B2}"/>
              </a:ext>
            </a:extLst>
          </p:cNvPr>
          <p:cNvSpPr>
            <a:spLocks xmlns:a="http://schemas.openxmlformats.org/drawingml/2006/main" noGrp="1"/>
          </p:cNvSpPr>
          <p:nvPr/>
        </p:nvSpPr>
        <p:spPr>
          <a:xfrm xmlns:a="http://schemas.openxmlformats.org/drawingml/2006/main">
            <a:off x="514350" y="1428750"/>
            <a:ext cx="47625" cy="41719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EAE05E-D3A1-4146-A99A-E83C13B6C81E}"/>
              </a:ext>
            </a:extLst>
          </p:cNvPr>
          <p:cNvSpPr>
            <a:spLocks xmlns:a="http://schemas.openxmlformats.org/drawingml/2006/main" noGrp="1"/>
          </p:cNvSpPr>
          <p:nvPr/>
        </p:nvSpPr>
        <p:spPr>
          <a:xfrm xmlns:a="http://schemas.openxmlformats.org/drawingml/2006/main">
            <a:off x="704850" y="1552575"/>
            <a:ext cx="4714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FILES TO OPEN</a:t>
            </a:r>
          </a:p>
        </p:txBody>
      </p:sp>
      <p:sp>
        <p:nvSpPr>
          <p:cNvPr id="10" name="">
            <a:extLst xmlns:a="http://schemas.openxmlformats.org/drawingml/2006/main">
              <a:ext uri="{FF2B5EF4-FFF2-40B4-BE49-F238E27FC236}">
                <a16:creationId xmlns:a16="http://schemas.microsoft.com/office/drawing/2014/main" id="{B78E71A5-8170-438B-8C70-184BEDCB2B33}"/>
              </a:ext>
            </a:extLst>
          </p:cNvPr>
          <p:cNvSpPr>
            <a:spLocks xmlns:a="http://schemas.openxmlformats.org/drawingml/2006/main" noGrp="1"/>
          </p:cNvSpPr>
          <p:nvPr/>
        </p:nvSpPr>
        <p:spPr>
          <a:xfrm xmlns:a="http://schemas.openxmlformats.org/drawingml/2006/main">
            <a:off x="704850" y="1876425"/>
            <a:ext cx="4695825" cy="3600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Consolas"/>
                <a:ea typeface="Consolas"/>
                <a:cs typeface="Consolas"/>
              </a:defRPr>
            </a:defPPr>
          </a:lstStyle>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PatchProbe/</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app.py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src/patchprobe/</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ingest.py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annotation.py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model.py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inference.py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scripts/</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build_dataset.py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train_model.py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 audit_near_duplicates.py</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data/processed/</a:t>
            </a:r>
          </a:p>
        </p:txBody>
      </p:sp>
      <p:sp>
        <p:nvSpPr>
          <p:cNvPr id="11" name="">
            <a:extLst xmlns:a="http://schemas.openxmlformats.org/drawingml/2006/main">
              <a:ext uri="{FF2B5EF4-FFF2-40B4-BE49-F238E27FC236}">
                <a16:creationId xmlns:a16="http://schemas.microsoft.com/office/drawing/2014/main" id="{9CE9E89F-B881-4E40-89CF-500EB6B9600E}"/>
              </a:ext>
            </a:extLst>
          </p:cNvPr>
          <p:cNvSpPr>
            <a:spLocks xmlns:a="http://schemas.openxmlformats.org/drawingml/2006/main" noGrp="1"/>
          </p:cNvSpPr>
          <p:nvPr/>
        </p:nvSpPr>
        <p:spPr>
          <a:xfrm xmlns:a="http://schemas.openxmlformats.org/drawingml/2006/main">
            <a:off x="5972175" y="1476375"/>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FOLLOW ONE ENTRY THROUGH THE CODE</a:t>
            </a:r>
          </a:p>
        </p:txBody>
      </p:sp>
      <p:sp>
        <p:nvSpPr>
          <p:cNvPr id="12" name="">
            <a:extLst xmlns:a="http://schemas.openxmlformats.org/drawingml/2006/main">
              <a:ext uri="{FF2B5EF4-FFF2-40B4-BE49-F238E27FC236}">
                <a16:creationId xmlns:a16="http://schemas.microsoft.com/office/drawing/2014/main" id="{1B09D0AB-C52C-4A4F-A828-26F4234FCC44}"/>
              </a:ext>
            </a:extLst>
          </p:cNvPr>
          <p:cNvSpPr>
            <a:spLocks xmlns:a="http://schemas.openxmlformats.org/drawingml/2006/main" noGrp="1"/>
          </p:cNvSpPr>
          <p:nvPr/>
        </p:nvSpPr>
        <p:spPr>
          <a:xfrm xmlns:a="http://schemas.openxmlformats.org/drawingml/2006/main">
            <a:off x="5972175" y="1895475"/>
            <a:ext cx="557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1  build_dataset.py</a:t>
            </a:r>
          </a:p>
        </p:txBody>
      </p:sp>
      <p:sp>
        <p:nvSpPr>
          <p:cNvPr id="13" name="">
            <a:extLst xmlns:a="http://schemas.openxmlformats.org/drawingml/2006/main">
              <a:ext uri="{FF2B5EF4-FFF2-40B4-BE49-F238E27FC236}">
                <a16:creationId xmlns:a16="http://schemas.microsoft.com/office/drawing/2014/main" id="{D5FAE30F-2639-4BF5-AE93-48AF7FE32016}"/>
              </a:ext>
            </a:extLst>
          </p:cNvPr>
          <p:cNvSpPr>
            <a:spLocks xmlns:a="http://schemas.openxmlformats.org/drawingml/2006/main" noGrp="1"/>
          </p:cNvSpPr>
          <p:nvPr/>
        </p:nvSpPr>
        <p:spPr>
          <a:xfrm xmlns:a="http://schemas.openxmlformats.org/drawingml/2006/main">
            <a:off x="5972175" y="2228850"/>
            <a:ext cx="5448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Fetch pinned RST and write source-linked entries.</a:t>
            </a:r>
          </a:p>
        </p:txBody>
      </p:sp>
      <p:sp>
        <p:nvSpPr>
          <p:cNvPr id="14" name="">
            <a:extLst xmlns:a="http://schemas.openxmlformats.org/drawingml/2006/main">
              <a:ext uri="{FF2B5EF4-FFF2-40B4-BE49-F238E27FC236}">
                <a16:creationId xmlns:a16="http://schemas.microsoft.com/office/drawing/2014/main" id="{5BC9E80C-0360-4A77-A734-EDC9D922B630}"/>
              </a:ext>
            </a:extLst>
          </p:cNvPr>
          <p:cNvSpPr>
            <a:spLocks xmlns:a="http://schemas.openxmlformats.org/drawingml/2006/main" noGrp="1"/>
          </p:cNvSpPr>
          <p:nvPr/>
        </p:nvSpPr>
        <p:spPr>
          <a:xfrm xmlns:a="http://schemas.openxmlformats.org/drawingml/2006/main">
            <a:off x="5972175" y="2743200"/>
            <a:ext cx="5476875"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74B960-0DDB-4B48-A258-4DAA8099460D}"/>
              </a:ext>
            </a:extLst>
          </p:cNvPr>
          <p:cNvSpPr>
            <a:spLocks xmlns:a="http://schemas.openxmlformats.org/drawingml/2006/main" noGrp="1"/>
          </p:cNvSpPr>
          <p:nvPr/>
        </p:nvSpPr>
        <p:spPr>
          <a:xfrm xmlns:a="http://schemas.openxmlformats.org/drawingml/2006/main">
            <a:off x="5972175" y="2857500"/>
            <a:ext cx="557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2  annotation.py + app.py</a:t>
            </a:r>
          </a:p>
        </p:txBody>
      </p:sp>
      <p:sp>
        <p:nvSpPr>
          <p:cNvPr id="16" name="">
            <a:extLst xmlns:a="http://schemas.openxmlformats.org/drawingml/2006/main">
              <a:ext uri="{FF2B5EF4-FFF2-40B4-BE49-F238E27FC236}">
                <a16:creationId xmlns:a16="http://schemas.microsoft.com/office/drawing/2014/main" id="{0A82D182-FB5F-4338-978D-18B5275E1CD6}"/>
              </a:ext>
            </a:extLst>
          </p:cNvPr>
          <p:cNvSpPr>
            <a:spLocks xmlns:a="http://schemas.openxmlformats.org/drawingml/2006/main" noGrp="1"/>
          </p:cNvSpPr>
          <p:nvPr/>
        </p:nvSpPr>
        <p:spPr>
          <a:xfrm xmlns:a="http://schemas.openxmlformats.org/drawingml/2006/main">
            <a:off x="5972175" y="3190875"/>
            <a:ext cx="5448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Validate and save a reviewer decision.</a:t>
            </a:r>
          </a:p>
        </p:txBody>
      </p:sp>
      <p:sp>
        <p:nvSpPr>
          <p:cNvPr id="17" name="">
            <a:extLst xmlns:a="http://schemas.openxmlformats.org/drawingml/2006/main">
              <a:ext uri="{FF2B5EF4-FFF2-40B4-BE49-F238E27FC236}">
                <a16:creationId xmlns:a16="http://schemas.microsoft.com/office/drawing/2014/main" id="{A0BDB846-3FB3-4A18-ACA7-AF3FC2AB1E39}"/>
              </a:ext>
            </a:extLst>
          </p:cNvPr>
          <p:cNvSpPr>
            <a:spLocks xmlns:a="http://schemas.openxmlformats.org/drawingml/2006/main" noGrp="1"/>
          </p:cNvSpPr>
          <p:nvPr/>
        </p:nvSpPr>
        <p:spPr>
          <a:xfrm xmlns:a="http://schemas.openxmlformats.org/drawingml/2006/main">
            <a:off x="5972175" y="3705225"/>
            <a:ext cx="5476875"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F625F5-3AF8-46FD-B1AF-55A6503878A3}"/>
              </a:ext>
            </a:extLst>
          </p:cNvPr>
          <p:cNvSpPr>
            <a:spLocks xmlns:a="http://schemas.openxmlformats.org/drawingml/2006/main" noGrp="1"/>
          </p:cNvSpPr>
          <p:nvPr/>
        </p:nvSpPr>
        <p:spPr>
          <a:xfrm xmlns:a="http://schemas.openxmlformats.org/drawingml/2006/main">
            <a:off x="5972175" y="3819525"/>
            <a:ext cx="557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3  train_model.py + model.py</a:t>
            </a:r>
          </a:p>
        </p:txBody>
      </p:sp>
      <p:sp>
        <p:nvSpPr>
          <p:cNvPr id="19" name="">
            <a:extLst xmlns:a="http://schemas.openxmlformats.org/drawingml/2006/main">
              <a:ext uri="{FF2B5EF4-FFF2-40B4-BE49-F238E27FC236}">
                <a16:creationId xmlns:a16="http://schemas.microsoft.com/office/drawing/2014/main" id="{1B6D083D-1553-446B-8E20-F44275C978D2}"/>
              </a:ext>
            </a:extLst>
          </p:cNvPr>
          <p:cNvSpPr>
            <a:spLocks xmlns:a="http://schemas.openxmlformats.org/drawingml/2006/main" noGrp="1"/>
          </p:cNvSpPr>
          <p:nvPr/>
        </p:nvSpPr>
        <p:spPr>
          <a:xfrm xmlns:a="http://schemas.openxmlformats.org/drawingml/2006/main">
            <a:off x="5972175" y="4152900"/>
            <a:ext cx="5448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Join labels, split by release, fit, evaluate.</a:t>
            </a:r>
          </a:p>
        </p:txBody>
      </p:sp>
      <p:sp>
        <p:nvSpPr>
          <p:cNvPr id="20" name="">
            <a:extLst xmlns:a="http://schemas.openxmlformats.org/drawingml/2006/main">
              <a:ext uri="{FF2B5EF4-FFF2-40B4-BE49-F238E27FC236}">
                <a16:creationId xmlns:a16="http://schemas.microsoft.com/office/drawing/2014/main" id="{477215F4-5E7A-48B5-8183-BA1BC3C94611}"/>
              </a:ext>
            </a:extLst>
          </p:cNvPr>
          <p:cNvSpPr>
            <a:spLocks xmlns:a="http://schemas.openxmlformats.org/drawingml/2006/main" noGrp="1"/>
          </p:cNvSpPr>
          <p:nvPr/>
        </p:nvSpPr>
        <p:spPr>
          <a:xfrm xmlns:a="http://schemas.openxmlformats.org/drawingml/2006/main">
            <a:off x="5972175" y="4667250"/>
            <a:ext cx="5476875"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E3A62EF-2777-4AB0-B321-20B3E218A996}"/>
              </a:ext>
            </a:extLst>
          </p:cNvPr>
          <p:cNvSpPr>
            <a:spLocks xmlns:a="http://schemas.openxmlformats.org/drawingml/2006/main" noGrp="1"/>
          </p:cNvSpPr>
          <p:nvPr/>
        </p:nvSpPr>
        <p:spPr>
          <a:xfrm xmlns:a="http://schemas.openxmlformats.org/drawingml/2006/main">
            <a:off x="5972175" y="4781550"/>
            <a:ext cx="557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4  inference.py + app.py</a:t>
            </a:r>
          </a:p>
        </p:txBody>
      </p:sp>
      <p:sp>
        <p:nvSpPr>
          <p:cNvPr id="22" name="">
            <a:extLst xmlns:a="http://schemas.openxmlformats.org/drawingml/2006/main">
              <a:ext uri="{FF2B5EF4-FFF2-40B4-BE49-F238E27FC236}">
                <a16:creationId xmlns:a16="http://schemas.microsoft.com/office/drawing/2014/main" id="{4843479B-E28E-4341-B942-D814C4F2E5C3}"/>
              </a:ext>
            </a:extLst>
          </p:cNvPr>
          <p:cNvSpPr>
            <a:spLocks xmlns:a="http://schemas.openxmlformats.org/drawingml/2006/main" noGrp="1"/>
          </p:cNvSpPr>
          <p:nvPr/>
        </p:nvSpPr>
        <p:spPr>
          <a:xfrm xmlns:a="http://schemas.openxmlformats.org/drawingml/2006/main">
            <a:off x="5972175" y="5114925"/>
            <a:ext cx="5448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6973"/>
                </a:solidFill>
                <a:latin typeface="Segoe UI"/>
                <a:ea typeface="Segoe UI"/>
                <a:cs typeface="Segoe UI"/>
              </a:defRPr>
            </a:defPPr>
          </a:lstStyle>
          <a:p xmlns:a="http://schemas.openxmlformats.org/drawingml/2006/main">
            <a:pPr algn="l">
              <a:defRPr sz="1350" b="0">
                <a:solidFill>
                  <a:srgbClr val="5F6973"/>
                </a:solidFill>
                <a:latin typeface="Segoe UI"/>
                <a:ea typeface="Segoe UI"/>
                <a:cs typeface="Segoe UI"/>
              </a:defRPr>
            </a:pPr>
            <a:r>
              <a:rPr sz="1350" b="0">
                <a:solidFill>
                  <a:srgbClr val="5F6973"/>
                </a:solidFill>
                <a:latin typeface="Segoe UI"/>
                <a:ea typeface="Segoe UI"/>
                <a:cs typeface="Segoe UI"/>
              </a:rPr>
              <a:t>Load the local artifact and show a suggestion.</a:t>
            </a:r>
          </a:p>
        </p:txBody>
      </p:sp>
      <p:sp>
        <p:nvSpPr>
          <p:cNvPr id="23" name="">
            <a:extLst xmlns:a="http://schemas.openxmlformats.org/drawingml/2006/main">
              <a:ext uri="{FF2B5EF4-FFF2-40B4-BE49-F238E27FC236}">
                <a16:creationId xmlns:a16="http://schemas.microsoft.com/office/drawing/2014/main" id="{C3E513FB-29B5-4120-B6CD-21C748E7D385}"/>
              </a:ext>
            </a:extLst>
          </p:cNvPr>
          <p:cNvSpPr>
            <a:spLocks xmlns:a="http://schemas.openxmlformats.org/drawingml/2006/main" noGrp="1"/>
          </p:cNvSpPr>
          <p:nvPr/>
        </p:nvSpPr>
        <p:spPr>
          <a:xfrm xmlns:a="http://schemas.openxmlformats.org/drawingml/2006/main">
            <a:off x="5972175" y="5791200"/>
            <a:ext cx="542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BC171D"/>
                </a:solidFill>
                <a:latin typeface="Segoe UI"/>
                <a:ea typeface="Segoe UI"/>
                <a:cs typeface="Segoe UI"/>
              </a:defRPr>
            </a:defPPr>
          </a:lstStyle>
          <a:p xmlns:a="http://schemas.openxmlformats.org/drawingml/2006/main">
            <a:pPr algn="l">
              <a:defRPr sz="1275" b="1">
                <a:solidFill>
                  <a:srgbClr val="BC171D"/>
                </a:solidFill>
                <a:latin typeface="Segoe UI"/>
                <a:ea typeface="Segoe UI"/>
                <a:cs typeface="Segoe UI"/>
              </a:defRPr>
            </a:pPr>
            <a:r>
              <a:rPr sz="1275" b="1">
                <a:solidFill>
                  <a:srgbClr val="BC171D"/>
                </a:solidFill>
                <a:latin typeface="Segoe UI"/>
                <a:ea typeface="Segoe UI"/>
                <a:cs typeface="Segoe UI"/>
              </a:rPr>
              <a:t>Keep this slide visible while switching from PowerPoint to VS Code.</a:t>
            </a:r>
          </a:p>
        </p:txBody>
      </p:sp>
    </p:spTree>
    <p:extLst>
      <p:ext uri="{BB962C8B-B14F-4D97-AF65-F5344CB8AC3E}">
        <p14:creationId xmlns:p14="http://schemas.microsoft.com/office/powerpoint/2010/main" val="2085324172"/>
      </p:ext>
    </p:extLst>
  </p:cSld>
</p:sld>
</file>

<file path=ppt/slides/slide8.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60E9BE-877F-4E50-906B-990F9D619DF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8">
            <a:extLst xmlns:a="http://schemas.openxmlformats.org/drawingml/2006/main">
              <a:ext uri="{FF2B5EF4-FFF2-40B4-BE49-F238E27FC236}">
                <a16:creationId xmlns:a16="http://schemas.microsoft.com/office/drawing/2014/main" id="{EEC544E5-1037-49F3-87F5-33D940D77134}"/>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VS Code walkthrough: extraction and review</a:t>
            </a:r>
          </a:p>
        </p:txBody>
      </p:sp>
      <p:sp>
        <p:nvSpPr>
          <p:cNvPr id="3" name="">
            <a:extLst xmlns:a="http://schemas.openxmlformats.org/drawingml/2006/main">
              <a:ext uri="{FF2B5EF4-FFF2-40B4-BE49-F238E27FC236}">
                <a16:creationId xmlns:a16="http://schemas.microsoft.com/office/drawing/2014/main" id="{6C8FB207-9D73-4AFB-8763-03BF4173B51A}"/>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1106E9-3FCE-4682-8BBD-F9069EF1B206}"/>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2EFD95-2953-4F5E-84AE-D41744A2222F}"/>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AA53CE7F-7C4F-492D-8997-CF0A9C9A1878}"/>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08 / 13</a:t>
            </a:r>
          </a:p>
        </p:txBody>
      </p:sp>
      <p:sp>
        <p:nvSpPr>
          <p:cNvPr id="7" name="">
            <a:extLst xmlns:a="http://schemas.openxmlformats.org/drawingml/2006/main">
              <a:ext uri="{FF2B5EF4-FFF2-40B4-BE49-F238E27FC236}">
                <a16:creationId xmlns:a16="http://schemas.microsoft.com/office/drawing/2014/main" id="{8EA9358D-DA19-45D5-BB60-C6E4EA701DBD}"/>
              </a:ext>
            </a:extLst>
          </p:cNvPr>
          <p:cNvSpPr>
            <a:spLocks xmlns:a="http://schemas.openxmlformats.org/drawingml/2006/main" noGrp="1"/>
          </p:cNvSpPr>
          <p:nvPr/>
        </p:nvSpPr>
        <p:spPr>
          <a:xfrm xmlns:a="http://schemas.openxmlformats.org/drawingml/2006/main">
            <a:off x="514350" y="1438275"/>
            <a:ext cx="11163300" cy="2295525"/>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404FEC-9C3B-4313-98DB-F21372E875A1}"/>
              </a:ext>
            </a:extLst>
          </p:cNvPr>
          <p:cNvSpPr>
            <a:spLocks xmlns:a="http://schemas.openxmlformats.org/drawingml/2006/main" noGrp="1"/>
          </p:cNvSpPr>
          <p:nvPr/>
        </p:nvSpPr>
        <p:spPr>
          <a:xfrm xmlns:a="http://schemas.openxmlformats.org/drawingml/2006/main">
            <a:off x="514350" y="1438275"/>
            <a:ext cx="47625" cy="22955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6AA1A22-A84F-44C7-8B3B-3332D392C143}"/>
              </a:ext>
            </a:extLst>
          </p:cNvPr>
          <p:cNvSpPr>
            <a:spLocks xmlns:a="http://schemas.openxmlformats.org/drawingml/2006/main" noGrp="1"/>
          </p:cNvSpPr>
          <p:nvPr/>
        </p:nvSpPr>
        <p:spPr>
          <a:xfrm xmlns:a="http://schemas.openxmlformats.org/drawingml/2006/main">
            <a:off x="704850" y="1562100"/>
            <a:ext cx="10829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scripts/build_dataset.py + src/patchprobe/ingest.py  |  abridged</a:t>
            </a:r>
          </a:p>
        </p:txBody>
      </p:sp>
      <p:sp>
        <p:nvSpPr>
          <p:cNvPr id="10" name="">
            <a:extLst xmlns:a="http://schemas.openxmlformats.org/drawingml/2006/main">
              <a:ext uri="{FF2B5EF4-FFF2-40B4-BE49-F238E27FC236}">
                <a16:creationId xmlns:a16="http://schemas.microsoft.com/office/drawing/2014/main" id="{E2FA896B-95E1-4FC3-B095-7328AC46E10B}"/>
              </a:ext>
            </a:extLst>
          </p:cNvPr>
          <p:cNvSpPr>
            <a:spLocks xmlns:a="http://schemas.openxmlformats.org/drawingml/2006/main" noGrp="1"/>
          </p:cNvSpPr>
          <p:nvPr/>
        </p:nvSpPr>
        <p:spPr>
          <a:xfrm xmlns:a="http://schemas.openxmlformats.org/drawingml/2006/main">
            <a:off x="704850" y="1885950"/>
            <a:ext cx="10810875" cy="1724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Consolas"/>
                <a:ea typeface="Consolas"/>
                <a:cs typeface="Consolas"/>
              </a:defRPr>
            </a:defPPr>
          </a:lstStyle>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for tag, revision, releases in SOURCE_GROUPS:</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for release in releases:</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source = fetch_release(revision, release, cache_root)</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entries = parse_release_notes(source, release, revision)</a:t>
            </a:r>
          </a:p>
          <a:p xmlns:a="http://schemas.openxmlformats.org/drawingml/2006/main">
            <a:r>
              <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entries, exact_duplicates = deduplicate_exact(all_entries)</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pilot = select_pilot(entries, size=50)</a:t>
            </a:r>
          </a:p>
        </p:txBody>
      </p:sp>
      <p:sp>
        <p:nvSpPr>
          <p:cNvPr id="11" name="">
            <a:extLst xmlns:a="http://schemas.openxmlformats.org/drawingml/2006/main">
              <a:ext uri="{FF2B5EF4-FFF2-40B4-BE49-F238E27FC236}">
                <a16:creationId xmlns:a16="http://schemas.microsoft.com/office/drawing/2014/main" id="{140A0946-57C9-4ED8-8DAE-AD1B14C69580}"/>
              </a:ext>
            </a:extLst>
          </p:cNvPr>
          <p:cNvSpPr>
            <a:spLocks xmlns:a="http://schemas.openxmlformats.org/drawingml/2006/main" noGrp="1"/>
          </p:cNvSpPr>
          <p:nvPr/>
        </p:nvSpPr>
        <p:spPr>
          <a:xfrm xmlns:a="http://schemas.openxmlformats.org/drawingml/2006/main">
            <a:off x="514350" y="3905250"/>
            <a:ext cx="11163300" cy="1847850"/>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CC6765-5BF8-460D-BA18-4EAA69923437}"/>
              </a:ext>
            </a:extLst>
          </p:cNvPr>
          <p:cNvSpPr>
            <a:spLocks xmlns:a="http://schemas.openxmlformats.org/drawingml/2006/main" noGrp="1"/>
          </p:cNvSpPr>
          <p:nvPr/>
        </p:nvSpPr>
        <p:spPr>
          <a:xfrm xmlns:a="http://schemas.openxmlformats.org/drawingml/2006/main">
            <a:off x="514350" y="3905250"/>
            <a:ext cx="47625" cy="18478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ED527D-177E-457A-AACF-A25F780F5FB1}"/>
              </a:ext>
            </a:extLst>
          </p:cNvPr>
          <p:cNvSpPr>
            <a:spLocks xmlns:a="http://schemas.openxmlformats.org/drawingml/2006/main" noGrp="1"/>
          </p:cNvSpPr>
          <p:nvPr/>
        </p:nvSpPr>
        <p:spPr>
          <a:xfrm xmlns:a="http://schemas.openxmlformats.org/drawingml/2006/main">
            <a:off x="704850" y="4029075"/>
            <a:ext cx="10829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src/patchprobe/annotation.py  |  validation + atomic save</a:t>
            </a:r>
          </a:p>
        </p:txBody>
      </p:sp>
      <p:sp>
        <p:nvSpPr>
          <p:cNvPr id="14" name="">
            <a:extLst xmlns:a="http://schemas.openxmlformats.org/drawingml/2006/main">
              <a:ext uri="{FF2B5EF4-FFF2-40B4-BE49-F238E27FC236}">
                <a16:creationId xmlns:a16="http://schemas.microsoft.com/office/drawing/2014/main" id="{36B77015-DEA3-44C9-96B9-F54342D0A5C1}"/>
              </a:ext>
            </a:extLst>
          </p:cNvPr>
          <p:cNvSpPr>
            <a:spLocks xmlns:a="http://schemas.openxmlformats.org/drawingml/2006/main" noGrp="1"/>
          </p:cNvSpPr>
          <p:nvPr/>
        </p:nvSpPr>
        <p:spPr>
          <a:xfrm xmlns:a="http://schemas.openxmlformats.org/drawingml/2006/main">
            <a:off x="704850" y="4352925"/>
            <a:ext cx="1081087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Consolas"/>
                <a:ea typeface="Consolas"/>
                <a:cs typeface="Consolas"/>
              </a:defRPr>
            </a:defPPr>
          </a:lstStyle>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if entry_id not in valid_entry_ids: raise AnnotationError(...)</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if label == UNCLEAR and not review_note.strip():</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raise AnnotationError(...)</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labels[entry_id] = {"label": label, "annotator": annotator, ...}</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os.replace(temporary_path, path)</a:t>
            </a:r>
          </a:p>
        </p:txBody>
      </p:sp>
      <p:sp>
        <p:nvSpPr>
          <p:cNvPr id="15" name="">
            <a:extLst xmlns:a="http://schemas.openxmlformats.org/drawingml/2006/main">
              <a:ext uri="{FF2B5EF4-FFF2-40B4-BE49-F238E27FC236}">
                <a16:creationId xmlns:a16="http://schemas.microsoft.com/office/drawing/2014/main" id="{77B11B5B-F843-4C62-8B59-BCC8F34B2883}"/>
              </a:ext>
            </a:extLst>
          </p:cNvPr>
          <p:cNvSpPr>
            <a:spLocks xmlns:a="http://schemas.openxmlformats.org/drawingml/2006/main" noGrp="1"/>
          </p:cNvSpPr>
          <p:nvPr/>
        </p:nvSpPr>
        <p:spPr>
          <a:xfrm xmlns:a="http://schemas.openxmlformats.org/drawingml/2006/main">
            <a:off x="514350" y="5857875"/>
            <a:ext cx="10953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C171D"/>
                </a:solidFill>
                <a:latin typeface="Segoe UI"/>
                <a:ea typeface="Segoe UI"/>
                <a:cs typeface="Segoe UI"/>
              </a:defRPr>
            </a:defPPr>
          </a:lstStyle>
          <a:p xmlns:a="http://schemas.openxmlformats.org/drawingml/2006/main">
            <a:pPr algn="l">
              <a:defRPr sz="1350" b="1">
                <a:solidFill>
                  <a:srgbClr val="BC171D"/>
                </a:solidFill>
                <a:latin typeface="Segoe UI"/>
                <a:ea typeface="Segoe UI"/>
                <a:cs typeface="Segoe UI"/>
              </a:defRPr>
            </a:pPr>
            <a:r>
              <a:rPr sz="1350" b="1">
                <a:solidFill>
                  <a:srgbClr val="BC171D"/>
                </a:solidFill>
                <a:latin typeface="Segoe UI"/>
                <a:ea typeface="Segoe UI"/>
                <a:cs typeface="Segoe UI"/>
              </a:rPr>
              <a:t>Provenance retained per row: release, exact source URL, source revision, raw RST and cleaned model text.</a:t>
            </a:r>
          </a:p>
        </p:txBody>
      </p:sp>
    </p:spTree>
    <p:extLst>
      <p:ext uri="{BB962C8B-B14F-4D97-AF65-F5344CB8AC3E}">
        <p14:creationId xmlns:p14="http://schemas.microsoft.com/office/powerpoint/2010/main" val="1487944656"/>
      </p:ext>
    </p:extLst>
  </p:cSld>
</p:sld>
</file>

<file path=ppt/slides/slide9.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DF2CEA-A548-4491-A157-B6C9009D1F4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9">
            <a:extLst xmlns:a="http://schemas.openxmlformats.org/drawingml/2006/main">
              <a:ext uri="{FF2B5EF4-FFF2-40B4-BE49-F238E27FC236}">
                <a16:creationId xmlns:a16="http://schemas.microsoft.com/office/drawing/2014/main" id="{B3E461F8-113E-4E88-A59F-B7B5F007713A}"/>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VS Code walkthrough: training and inference</a:t>
            </a:r>
          </a:p>
        </p:txBody>
      </p:sp>
      <p:sp>
        <p:nvSpPr>
          <p:cNvPr id="3" name="">
            <a:extLst xmlns:a="http://schemas.openxmlformats.org/drawingml/2006/main">
              <a:ext uri="{FF2B5EF4-FFF2-40B4-BE49-F238E27FC236}">
                <a16:creationId xmlns:a16="http://schemas.microsoft.com/office/drawing/2014/main" id="{172BD341-E2D2-4395-B47C-1D4B1A44CC36}"/>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EDF944-4887-4340-B8C5-3ABEFDC23990}"/>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00AA9D-B776-4662-AC1A-815EADC38DFB}"/>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3674ECD0-0AE7-43AE-B6F0-008D42C4D037}"/>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09 / 13</a:t>
            </a:r>
          </a:p>
        </p:txBody>
      </p:sp>
      <p:sp>
        <p:nvSpPr>
          <p:cNvPr id="7" name="">
            <a:extLst xmlns:a="http://schemas.openxmlformats.org/drawingml/2006/main">
              <a:ext uri="{FF2B5EF4-FFF2-40B4-BE49-F238E27FC236}">
                <a16:creationId xmlns:a16="http://schemas.microsoft.com/office/drawing/2014/main" id="{59A4525E-BB2A-4064-80AC-BBAF6F7F895E}"/>
              </a:ext>
            </a:extLst>
          </p:cNvPr>
          <p:cNvSpPr>
            <a:spLocks xmlns:a="http://schemas.openxmlformats.org/drawingml/2006/main" noGrp="1"/>
          </p:cNvSpPr>
          <p:nvPr/>
        </p:nvSpPr>
        <p:spPr>
          <a:xfrm xmlns:a="http://schemas.openxmlformats.org/drawingml/2006/main">
            <a:off x="514350" y="1428750"/>
            <a:ext cx="6953250" cy="2809875"/>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845094-B4AE-43B6-8C85-1A83B9A184F9}"/>
              </a:ext>
            </a:extLst>
          </p:cNvPr>
          <p:cNvSpPr>
            <a:spLocks xmlns:a="http://schemas.openxmlformats.org/drawingml/2006/main" noGrp="1"/>
          </p:cNvSpPr>
          <p:nvPr/>
        </p:nvSpPr>
        <p:spPr>
          <a:xfrm xmlns:a="http://schemas.openxmlformats.org/drawingml/2006/main">
            <a:off x="514350" y="1428750"/>
            <a:ext cx="47625" cy="28098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083EB94-3B97-4394-9275-196B52CA13FE}"/>
              </a:ext>
            </a:extLst>
          </p:cNvPr>
          <p:cNvSpPr>
            <a:spLocks xmlns:a="http://schemas.openxmlformats.org/drawingml/2006/main" noGrp="1"/>
          </p:cNvSpPr>
          <p:nvPr/>
        </p:nvSpPr>
        <p:spPr>
          <a:xfrm xmlns:a="http://schemas.openxmlformats.org/drawingml/2006/main">
            <a:off x="704850" y="1552575"/>
            <a:ext cx="6619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src/patchprobe/model.py  |  abridged</a:t>
            </a:r>
          </a:p>
        </p:txBody>
      </p:sp>
      <p:sp>
        <p:nvSpPr>
          <p:cNvPr id="10" name="">
            <a:extLst xmlns:a="http://schemas.openxmlformats.org/drawingml/2006/main">
              <a:ext uri="{FF2B5EF4-FFF2-40B4-BE49-F238E27FC236}">
                <a16:creationId xmlns:a16="http://schemas.microsoft.com/office/drawing/2014/main" id="{AA95191F-B48B-4099-91BB-7E4B801420FE}"/>
              </a:ext>
            </a:extLst>
          </p:cNvPr>
          <p:cNvSpPr>
            <a:spLocks xmlns:a="http://schemas.openxmlformats.org/drawingml/2006/main" noGrp="1"/>
          </p:cNvSpPr>
          <p:nvPr/>
        </p:nvSpPr>
        <p:spPr>
          <a:xfrm xmlns:a="http://schemas.openxmlformats.org/drawingml/2006/main">
            <a:off x="704850" y="1876425"/>
            <a:ext cx="6600825"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Consolas"/>
                <a:ea typeface="Consolas"/>
                <a:cs typeface="Consolas"/>
              </a:defRPr>
            </a:defPPr>
          </a:lstStyle>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features = FeatureUnion([</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("word", TfidfVectorizer(ngram_range=(1, 2))),</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("char", TfidfVectorizer(analyzer="char_wb",</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ngram_range=(3, 5))),</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model = Pipeline([("tfidf", features),</a:t>
            </a:r>
          </a:p>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  ("classifier", LogisticRegression(class_weight="balanced"))])</a:t>
            </a:r>
          </a:p>
        </p:txBody>
      </p:sp>
      <p:sp>
        <p:nvSpPr>
          <p:cNvPr id="11" name="">
            <a:extLst xmlns:a="http://schemas.openxmlformats.org/drawingml/2006/main">
              <a:ext uri="{FF2B5EF4-FFF2-40B4-BE49-F238E27FC236}">
                <a16:creationId xmlns:a16="http://schemas.microsoft.com/office/drawing/2014/main" id="{8A99F598-0AB7-412D-96BA-3393050DC976}"/>
              </a:ext>
            </a:extLst>
          </p:cNvPr>
          <p:cNvSpPr>
            <a:spLocks xmlns:a="http://schemas.openxmlformats.org/drawingml/2006/main" noGrp="1"/>
          </p:cNvSpPr>
          <p:nvPr/>
        </p:nvSpPr>
        <p:spPr>
          <a:xfrm xmlns:a="http://schemas.openxmlformats.org/drawingml/2006/main">
            <a:off x="7772400" y="1485900"/>
            <a:ext cx="3667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GUARDS WORTH EXPLAINING</a:t>
            </a:r>
          </a:p>
        </p:txBody>
      </p:sp>
      <p:sp>
        <p:nvSpPr>
          <p:cNvPr id="12" name="">
            <a:extLst xmlns:a="http://schemas.openxmlformats.org/drawingml/2006/main">
              <a:ext uri="{FF2B5EF4-FFF2-40B4-BE49-F238E27FC236}">
                <a16:creationId xmlns:a16="http://schemas.microsoft.com/office/drawing/2014/main" id="{ABD1A2E1-A619-4ED1-B62D-40FB1D24CED5}"/>
              </a:ext>
            </a:extLst>
          </p:cNvPr>
          <p:cNvSpPr>
            <a:spLocks xmlns:a="http://schemas.openxmlformats.org/drawingml/2006/main" noGrp="1"/>
          </p:cNvSpPr>
          <p:nvPr/>
        </p:nvSpPr>
        <p:spPr>
          <a:xfrm xmlns:a="http://schemas.openxmlformats.org/drawingml/2006/main">
            <a:off x="7772400" y="1847850"/>
            <a:ext cx="3638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Release-group split</a:t>
            </a:r>
          </a:p>
        </p:txBody>
      </p:sp>
      <p:sp>
        <p:nvSpPr>
          <p:cNvPr id="13" name="">
            <a:extLst xmlns:a="http://schemas.openxmlformats.org/drawingml/2006/main">
              <a:ext uri="{FF2B5EF4-FFF2-40B4-BE49-F238E27FC236}">
                <a16:creationId xmlns:a16="http://schemas.microsoft.com/office/drawing/2014/main" id="{A4F5506C-2DF1-45E3-B5EC-52F46BADD2BA}"/>
              </a:ext>
            </a:extLst>
          </p:cNvPr>
          <p:cNvSpPr>
            <a:spLocks xmlns:a="http://schemas.openxmlformats.org/drawingml/2006/main" noGrp="1"/>
          </p:cNvSpPr>
          <p:nvPr/>
        </p:nvSpPr>
        <p:spPr>
          <a:xfrm xmlns:a="http://schemas.openxmlformats.org/drawingml/2006/main">
            <a:off x="7772400" y="2181225"/>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One release appears in only one split.</a:t>
            </a:r>
          </a:p>
        </p:txBody>
      </p:sp>
      <p:sp>
        <p:nvSpPr>
          <p:cNvPr id="14" name="">
            <a:extLst xmlns:a="http://schemas.openxmlformats.org/drawingml/2006/main">
              <a:ext uri="{FF2B5EF4-FFF2-40B4-BE49-F238E27FC236}">
                <a16:creationId xmlns:a16="http://schemas.microsoft.com/office/drawing/2014/main" id="{6361884E-6070-4FBE-809C-6FAF2ACD5C00}"/>
              </a:ext>
            </a:extLst>
          </p:cNvPr>
          <p:cNvSpPr>
            <a:spLocks xmlns:a="http://schemas.openxmlformats.org/drawingml/2006/main" noGrp="1"/>
          </p:cNvSpPr>
          <p:nvPr/>
        </p:nvSpPr>
        <p:spPr>
          <a:xfrm xmlns:a="http://schemas.openxmlformats.org/drawingml/2006/main">
            <a:off x="7772400" y="2886075"/>
            <a:ext cx="3638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Train-only fitting</a:t>
            </a:r>
          </a:p>
        </p:txBody>
      </p:sp>
      <p:sp>
        <p:nvSpPr>
          <p:cNvPr id="15" name="">
            <a:extLst xmlns:a="http://schemas.openxmlformats.org/drawingml/2006/main">
              <a:ext uri="{FF2B5EF4-FFF2-40B4-BE49-F238E27FC236}">
                <a16:creationId xmlns:a16="http://schemas.microsoft.com/office/drawing/2014/main" id="{4DB63CBD-06EA-4E4F-AA73-AFC790EEE996}"/>
              </a:ext>
            </a:extLst>
          </p:cNvPr>
          <p:cNvSpPr>
            <a:spLocks xmlns:a="http://schemas.openxmlformats.org/drawingml/2006/main" noGrp="1"/>
          </p:cNvSpPr>
          <p:nvPr/>
        </p:nvSpPr>
        <p:spPr>
          <a:xfrm xmlns:a="http://schemas.openxmlformats.org/drawingml/2006/main">
            <a:off x="7772400" y="3219450"/>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The TF-IDF vocabulary is learned on training rows.</a:t>
            </a:r>
          </a:p>
        </p:txBody>
      </p:sp>
      <p:sp>
        <p:nvSpPr>
          <p:cNvPr id="16" name="">
            <a:extLst xmlns:a="http://schemas.openxmlformats.org/drawingml/2006/main">
              <a:ext uri="{FF2B5EF4-FFF2-40B4-BE49-F238E27FC236}">
                <a16:creationId xmlns:a16="http://schemas.microsoft.com/office/drawing/2014/main" id="{C661CC42-8A37-4957-8E5D-3E02BFDF9E5B}"/>
              </a:ext>
            </a:extLst>
          </p:cNvPr>
          <p:cNvSpPr>
            <a:spLocks xmlns:a="http://schemas.openxmlformats.org/drawingml/2006/main" noGrp="1"/>
          </p:cNvSpPr>
          <p:nvPr/>
        </p:nvSpPr>
        <p:spPr>
          <a:xfrm xmlns:a="http://schemas.openxmlformats.org/drawingml/2006/main">
            <a:off x="7772400" y="3924300"/>
            <a:ext cx="3638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0252B"/>
                </a:solidFill>
                <a:latin typeface="Segoe UI"/>
                <a:ea typeface="Segoe UI"/>
                <a:cs typeface="Segoe UI"/>
              </a:defRPr>
            </a:defPPr>
          </a:lstStyle>
          <a:p xmlns:a="http://schemas.openxmlformats.org/drawingml/2006/main">
            <a:pPr algn="l">
              <a:defRPr sz="1425" b="1">
                <a:solidFill>
                  <a:srgbClr val="20252B"/>
                </a:solidFill>
                <a:latin typeface="Segoe UI"/>
                <a:ea typeface="Segoe UI"/>
                <a:cs typeface="Segoe UI"/>
              </a:defRPr>
            </a:pPr>
            <a:r>
              <a:rPr sz="1425" b="1">
                <a:solidFill>
                  <a:srgbClr val="20252B"/>
                </a:solidFill>
                <a:latin typeface="Segoe UI"/>
                <a:ea typeface="Segoe UI"/>
                <a:cs typeface="Segoe UI"/>
              </a:rPr>
              <a:t>Inference gate</a:t>
            </a:r>
          </a:p>
        </p:txBody>
      </p:sp>
      <p:sp>
        <p:nvSpPr>
          <p:cNvPr id="17" name="">
            <a:extLst xmlns:a="http://schemas.openxmlformats.org/drawingml/2006/main">
              <a:ext uri="{FF2B5EF4-FFF2-40B4-BE49-F238E27FC236}">
                <a16:creationId xmlns:a16="http://schemas.microsoft.com/office/drawing/2014/main" id="{DD48354A-0C5B-415D-9C85-F1FB680C61E9}"/>
              </a:ext>
            </a:extLst>
          </p:cNvPr>
          <p:cNvSpPr>
            <a:spLocks xmlns:a="http://schemas.openxmlformats.org/drawingml/2006/main" noGrp="1"/>
          </p:cNvSpPr>
          <p:nvPr/>
        </p:nvSpPr>
        <p:spPr>
          <a:xfrm xmlns:a="http://schemas.openxmlformats.org/drawingml/2006/main">
            <a:off x="7772400" y="4257675"/>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Needs model.joblib plus matching metrics.json.</a:t>
            </a:r>
          </a:p>
        </p:txBody>
      </p:sp>
      <p:sp>
        <p:nvSpPr>
          <p:cNvPr id="18" name="">
            <a:extLst xmlns:a="http://schemas.openxmlformats.org/drawingml/2006/main">
              <a:ext uri="{FF2B5EF4-FFF2-40B4-BE49-F238E27FC236}">
                <a16:creationId xmlns:a16="http://schemas.microsoft.com/office/drawing/2014/main" id="{33DDA43E-C4D6-4AB1-AC69-E13C6F04BAF1}"/>
              </a:ext>
            </a:extLst>
          </p:cNvPr>
          <p:cNvSpPr>
            <a:spLocks xmlns:a="http://schemas.openxmlformats.org/drawingml/2006/main" noGrp="1"/>
          </p:cNvSpPr>
          <p:nvPr/>
        </p:nvSpPr>
        <p:spPr>
          <a:xfrm xmlns:a="http://schemas.openxmlformats.org/drawingml/2006/main">
            <a:off x="514350" y="4791075"/>
            <a:ext cx="11163300" cy="11144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71B390-12FD-4466-9337-5E087E73C203}"/>
              </a:ext>
            </a:extLst>
          </p:cNvPr>
          <p:cNvSpPr>
            <a:spLocks xmlns:a="http://schemas.openxmlformats.org/drawingml/2006/main" noGrp="1"/>
          </p:cNvSpPr>
          <p:nvPr/>
        </p:nvSpPr>
        <p:spPr>
          <a:xfrm xmlns:a="http://schemas.openxmlformats.org/drawingml/2006/main">
            <a:off x="514350" y="4791075"/>
            <a:ext cx="57150" cy="11144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A3D97D3-FCFA-4C93-A4A5-18CAB238AF17}"/>
              </a:ext>
            </a:extLst>
          </p:cNvPr>
          <p:cNvSpPr>
            <a:spLocks xmlns:a="http://schemas.openxmlformats.org/drawingml/2006/main" noGrp="1"/>
          </p:cNvSpPr>
          <p:nvPr/>
        </p:nvSpPr>
        <p:spPr>
          <a:xfrm xmlns:a="http://schemas.openxmlformats.org/drawingml/2006/main">
            <a:off x="723900" y="49339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20252B"/>
                </a:solidFill>
                <a:latin typeface="Segoe UI"/>
                <a:ea typeface="Segoe UI"/>
                <a:cs typeface="Segoe UI"/>
              </a:defRPr>
            </a:defPPr>
          </a:lstStyle>
          <a:p xmlns:a="http://schemas.openxmlformats.org/drawingml/2006/main">
            <a:pPr algn="l">
              <a:defRPr sz="1575" b="1">
                <a:solidFill>
                  <a:srgbClr val="20252B"/>
                </a:solidFill>
                <a:latin typeface="Segoe UI"/>
                <a:ea typeface="Segoe UI"/>
                <a:cs typeface="Segoe UI"/>
              </a:defRPr>
            </a:pPr>
            <a:r>
              <a:rPr sz="1575" b="1">
                <a:solidFill>
                  <a:srgbClr val="20252B"/>
                </a:solidFill>
                <a:latin typeface="Segoe UI"/>
                <a:ea typeface="Segoe UI"/>
                <a:cs typeface="Segoe UI"/>
              </a:rPr>
              <a:t>What the trained artifact contains</a:t>
            </a:r>
          </a:p>
        </p:txBody>
      </p:sp>
      <p:sp>
        <p:nvSpPr>
          <p:cNvPr id="21" name="">
            <a:extLst xmlns:a="http://schemas.openxmlformats.org/drawingml/2006/main">
              <a:ext uri="{FF2B5EF4-FFF2-40B4-BE49-F238E27FC236}">
                <a16:creationId xmlns:a16="http://schemas.microsoft.com/office/drawing/2014/main" id="{C3E30B96-6D7D-4005-9924-DB88CFD68CB3}"/>
              </a:ext>
            </a:extLst>
          </p:cNvPr>
          <p:cNvSpPr>
            <a:spLocks xmlns:a="http://schemas.openxmlformats.org/drawingml/2006/main" noGrp="1"/>
          </p:cNvSpPr>
          <p:nvPr/>
        </p:nvSpPr>
        <p:spPr>
          <a:xfrm xmlns:a="http://schemas.openxmlformats.org/drawingml/2006/main">
            <a:off x="723900" y="5276850"/>
            <a:ext cx="10439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F6973"/>
                </a:solidFill>
                <a:latin typeface="Segoe UI"/>
                <a:ea typeface="Segoe UI"/>
                <a:cs typeface="Segoe UI"/>
              </a:defRPr>
            </a:defPPr>
          </a:lstStyle>
          <a:p xmlns:a="http://schemas.openxmlformats.org/drawingml/2006/main">
            <a:pPr algn="l">
              <a:defRPr sz="1425" b="0">
                <a:solidFill>
                  <a:srgbClr val="5F6973"/>
                </a:solidFill>
                <a:latin typeface="Segoe UI"/>
                <a:ea typeface="Segoe UI"/>
                <a:cs typeface="Segoe UI"/>
              </a:defRPr>
            </a:pPr>
            <a:r>
              <a:rPr sz="1425" b="0">
                <a:solidFill>
                  <a:srgbClr val="5F6973"/>
                </a:solidFill>
                <a:latin typeface="Segoe UI"/>
                <a:ea typeface="Segoe UI"/>
                <a:cs typeface="Segoe UI"/>
              </a:rPr>
              <a:t>A word + character TF-IDF transformer and a balanced logistic-regression classifier. The pilot vocabulary has 5,838 sparse features. Missing training classes display “Not trained in this pilot.”</a:t>
            </a:r>
          </a:p>
        </p:txBody>
      </p:sp>
    </p:spTree>
    <p:extLst>
      <p:ext uri="{BB962C8B-B14F-4D97-AF65-F5344CB8AC3E}">
        <p14:creationId xmlns:p14="http://schemas.microsoft.com/office/powerpoint/2010/main" val="303041645"/>
      </p:ext>
    </p:extLst>
  </p:cSld>
</p:sld>
</file>

<file path=ppt/slides/slide10.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601AF6-3C26-4B4F-82D1-118FE4EA3D5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10">
            <a:extLst xmlns:a="http://schemas.openxmlformats.org/drawingml/2006/main">
              <a:ext uri="{FF2B5EF4-FFF2-40B4-BE49-F238E27FC236}">
                <a16:creationId xmlns:a16="http://schemas.microsoft.com/office/drawing/2014/main" id="{C5919873-6BA8-44BD-BF61-82E73D0BA968}"/>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Pilot evaluation and baseline comparison</a:t>
            </a:r>
          </a:p>
        </p:txBody>
      </p:sp>
      <p:sp>
        <p:nvSpPr>
          <p:cNvPr id="3" name="">
            <a:extLst xmlns:a="http://schemas.openxmlformats.org/drawingml/2006/main">
              <a:ext uri="{FF2B5EF4-FFF2-40B4-BE49-F238E27FC236}">
                <a16:creationId xmlns:a16="http://schemas.microsoft.com/office/drawing/2014/main" id="{08A8F010-D678-4C44-B865-F86E40718623}"/>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230A0D-4C29-4273-A0A9-AFFB3D4DB79E}"/>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CE589A-BB2A-4452-B033-A1F078BE75AA}"/>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EF749EC2-5666-48FD-BF0A-01463964BF01}"/>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Om   •   10 / 13</a:t>
            </a:r>
          </a:p>
        </p:txBody>
      </p:sp>
      <p:sp>
        <p:nvSpPr>
          <p:cNvPr id="7" name="">
            <a:extLst xmlns:a="http://schemas.openxmlformats.org/drawingml/2006/main">
              <a:ext uri="{FF2B5EF4-FFF2-40B4-BE49-F238E27FC236}">
                <a16:creationId xmlns:a16="http://schemas.microsoft.com/office/drawing/2014/main" id="{CC6EE8EA-D490-4567-8D45-98CC40484ADC}"/>
              </a:ext>
            </a:extLst>
          </p:cNvPr>
          <p:cNvSpPr>
            <a:spLocks xmlns:a="http://schemas.openxmlformats.org/drawingml/2006/main" noGrp="1"/>
          </p:cNvSpPr>
          <p:nvPr/>
        </p:nvSpPr>
        <p:spPr>
          <a:xfrm xmlns:a="http://schemas.openxmlformats.org/drawingml/2006/main">
            <a:off x="514350" y="1381125"/>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HELD-OUT DJANGO 6.0  |  10 TEST ENTRIES</a:t>
            </a:r>
          </a:p>
        </p:txBody>
      </p:sp>
      <p:graphicFrame>
        <p:nvGraphicFramePr>
          <p:cNvPr id="8" name="Chart">
            <a:extLst xmlns:a="http://schemas.openxmlformats.org/drawingml/2006/main">
              <a:ext uri="{FF2B5EF4-FFF2-40B4-BE49-F238E27FC236}">
                <a16:creationId xmlns:a16="http://schemas.microsoft.com/office/drawing/2014/main" id="{0E3426D3-C139-4711-9E3F-17A1727812B8}"/>
              </a:ext>
            </a:extLst>
          </p:cNvPr>
          <p:cNvGraphicFramePr/>
          <p:nvPr/>
        </p:nvGraphicFramePr>
        <p:xfrm>
          <a:off xmlns:a="http://schemas.openxmlformats.org/drawingml/2006/main" x="514350" y="1752600"/>
          <a:ext xmlns:a="http://schemas.openxmlformats.org/drawingml/2006/main" cx="7372350" cy="3238500"/>
        </p:xfrm>
        <a:graphic xmlns:a="http://schemas.openxmlformats.org/drawingml/2006/main">
          <a:graphicData uri="http://schemas.openxmlformats.org/drawingml/2006/chart">
            <c:chart xmlns:r="http://schemas.openxmlformats.org/officeDocument/2006/relationships" xmlns:c="http://schemas.openxmlformats.org/drawingml/2006/chart" r:id="Re08307a670da4d7a"/>
          </a:graphicData>
        </a:graphic>
      </p:graphicFrame>
      <p:sp>
        <p:nvSpPr>
          <p:cNvPr id="9" name="">
            <a:extLst xmlns:a="http://schemas.openxmlformats.org/drawingml/2006/main">
              <a:ext uri="{FF2B5EF4-FFF2-40B4-BE49-F238E27FC236}">
                <a16:creationId xmlns:a16="http://schemas.microsoft.com/office/drawing/2014/main" id="{67BDE971-7F3C-4BCA-B9F1-E7BC320D7DB6}"/>
              </a:ext>
            </a:extLst>
          </p:cNvPr>
          <p:cNvSpPr>
            <a:spLocks xmlns:a="http://schemas.openxmlformats.org/drawingml/2006/main" noGrp="1"/>
          </p:cNvSpPr>
          <p:nvPr/>
        </p:nvSpPr>
        <p:spPr>
          <a:xfrm xmlns:a="http://schemas.openxmlformats.org/drawingml/2006/main">
            <a:off x="8201025" y="1752600"/>
            <a:ext cx="3476625" cy="32480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4EB9A8-B8A3-48B6-BB27-2417113B097D}"/>
              </a:ext>
            </a:extLst>
          </p:cNvPr>
          <p:cNvSpPr>
            <a:spLocks xmlns:a="http://schemas.openxmlformats.org/drawingml/2006/main" noGrp="1"/>
          </p:cNvSpPr>
          <p:nvPr/>
        </p:nvSpPr>
        <p:spPr>
          <a:xfrm xmlns:a="http://schemas.openxmlformats.org/drawingml/2006/main">
            <a:off x="8201025" y="1752600"/>
            <a:ext cx="47625" cy="32480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3D299D-772E-4E37-8BCF-9DA779B196DF}"/>
              </a:ext>
            </a:extLst>
          </p:cNvPr>
          <p:cNvSpPr>
            <a:spLocks xmlns:a="http://schemas.openxmlformats.org/drawingml/2006/main" noGrp="1"/>
          </p:cNvSpPr>
          <p:nvPr/>
        </p:nvSpPr>
        <p:spPr>
          <a:xfrm xmlns:a="http://schemas.openxmlformats.org/drawingml/2006/main">
            <a:off x="8420100" y="1971675"/>
            <a:ext cx="2952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Split and support</a:t>
            </a:r>
          </a:p>
        </p:txBody>
      </p:sp>
      <p:sp>
        <p:nvSpPr>
          <p:cNvPr id="12" name="">
            <a:extLst xmlns:a="http://schemas.openxmlformats.org/drawingml/2006/main">
              <a:ext uri="{FF2B5EF4-FFF2-40B4-BE49-F238E27FC236}">
                <a16:creationId xmlns:a16="http://schemas.microsoft.com/office/drawing/2014/main" id="{D4A5C4CD-589E-4150-8D86-1BAC47E9147B}"/>
              </a:ext>
            </a:extLst>
          </p:cNvPr>
          <p:cNvSpPr>
            <a:spLocks xmlns:a="http://schemas.openxmlformats.org/drawingml/2006/main" noGrp="1"/>
          </p:cNvSpPr>
          <p:nvPr/>
        </p:nvSpPr>
        <p:spPr>
          <a:xfrm xmlns:a="http://schemas.openxmlformats.org/drawingml/2006/main">
            <a:off x="8420100" y="24479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BC171D"/>
                </a:solidFill>
                <a:latin typeface="Segoe UI"/>
                <a:ea typeface="Segoe UI"/>
                <a:cs typeface="Segoe UI"/>
              </a:defRPr>
            </a:defPPr>
          </a:lstStyle>
          <a:p xmlns:a="http://schemas.openxmlformats.org/drawingml/2006/main">
            <a:pPr algn="l">
              <a:defRPr sz="1650" b="1">
                <a:solidFill>
                  <a:srgbClr val="BC171D"/>
                </a:solidFill>
                <a:latin typeface="Segoe UI"/>
                <a:ea typeface="Segoe UI"/>
                <a:cs typeface="Segoe UI"/>
              </a:defRPr>
            </a:pPr>
            <a:r>
              <a:rPr sz="1650" b="1">
                <a:solidFill>
                  <a:srgbClr val="BC171D"/>
                </a:solidFill>
                <a:latin typeface="Segoe UI"/>
                <a:ea typeface="Segoe UI"/>
                <a:cs typeface="Segoe UI"/>
              </a:rPr>
              <a:t>Train  30  |  Dev  9  |  Test  10</a:t>
            </a:r>
          </a:p>
        </p:txBody>
      </p:sp>
      <p:sp>
        <p:nvSpPr>
          <p:cNvPr id="13" name="">
            <a:extLst xmlns:a="http://schemas.openxmlformats.org/drawingml/2006/main">
              <a:ext uri="{FF2B5EF4-FFF2-40B4-BE49-F238E27FC236}">
                <a16:creationId xmlns:a16="http://schemas.microsoft.com/office/drawing/2014/main" id="{38D2CA51-8F6B-4077-AC3E-9CFE3A38B0BC}"/>
              </a:ext>
            </a:extLst>
          </p:cNvPr>
          <p:cNvSpPr>
            <a:spLocks xmlns:a="http://schemas.openxmlformats.org/drawingml/2006/main" noGrp="1"/>
          </p:cNvSpPr>
          <p:nvPr/>
        </p:nvSpPr>
        <p:spPr>
          <a:xfrm xmlns:a="http://schemas.openxmlformats.org/drawingml/2006/main">
            <a:off x="8420100" y="3105150"/>
            <a:ext cx="2952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0252B"/>
                </a:solidFill>
                <a:latin typeface="Segoe UI"/>
                <a:ea typeface="Segoe UI"/>
                <a:cs typeface="Segoe UI"/>
              </a:defRPr>
            </a:defPPr>
          </a:lstStyle>
          <a:p xmlns:a="http://schemas.openxmlformats.org/drawingml/2006/main">
            <a:pPr algn="l">
              <a:defRPr sz="1425" b="0">
                <a:solidFill>
                  <a:srgbClr val="20252B"/>
                </a:solidFill>
                <a:latin typeface="Segoe UI"/>
                <a:ea typeface="Segoe UI"/>
                <a:cs typeface="Segoe UI"/>
              </a:defRPr>
            </a:pPr>
            <a:r>
              <a:rPr sz="1425" b="0">
                <a:solidFill>
                  <a:srgbClr val="20252B"/>
                </a:solidFill>
                <a:latin typeface="Segoe UI"/>
                <a:ea typeface="Segoe UI"/>
                <a:cs typeface="Segoe UI"/>
              </a:rPr>
              <a:t>49 usable labels across four observed classes. “No targeted check stated” has zero examples.</a:t>
            </a:r>
          </a:p>
        </p:txBody>
      </p:sp>
      <p:sp>
        <p:nvSpPr>
          <p:cNvPr id="14" name="">
            <a:extLst xmlns:a="http://schemas.openxmlformats.org/drawingml/2006/main">
              <a:ext uri="{FF2B5EF4-FFF2-40B4-BE49-F238E27FC236}">
                <a16:creationId xmlns:a16="http://schemas.microsoft.com/office/drawing/2014/main" id="{989F34AA-A93B-4A4B-A057-A8006F6EF06D}"/>
              </a:ext>
            </a:extLst>
          </p:cNvPr>
          <p:cNvSpPr>
            <a:spLocks xmlns:a="http://schemas.openxmlformats.org/drawingml/2006/main" noGrp="1"/>
          </p:cNvSpPr>
          <p:nvPr/>
        </p:nvSpPr>
        <p:spPr>
          <a:xfrm xmlns:a="http://schemas.openxmlformats.org/drawingml/2006/main">
            <a:off x="8420100" y="43815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Segoe UI"/>
                <a:ea typeface="Segoe UI"/>
                <a:cs typeface="Segoe UI"/>
              </a:defRPr>
            </a:defPPr>
          </a:lstStyle>
          <a:p xmlns:a="http://schemas.openxmlformats.org/drawingml/2006/main">
            <a:pPr algn="l">
              <a:defRPr sz="1500" b="1">
                <a:solidFill>
                  <a:srgbClr val="BC171D"/>
                </a:solidFill>
                <a:latin typeface="Segoe UI"/>
                <a:ea typeface="Segoe UI"/>
                <a:cs typeface="Segoe UI"/>
              </a:defRPr>
            </a:pPr>
            <a:r>
              <a:rPr sz="1500" b="1">
                <a:solidFill>
                  <a:srgbClr val="BC171D"/>
                </a:solidFill>
                <a:latin typeface="Segoe UI"/>
                <a:ea typeface="Segoe UI"/>
                <a:cs typeface="Segoe UI"/>
              </a:rPr>
              <a:t>Result status: pilot</a:t>
            </a:r>
          </a:p>
        </p:txBody>
      </p:sp>
      <p:sp>
        <p:nvSpPr>
          <p:cNvPr id="15" name="">
            <a:extLst xmlns:a="http://schemas.openxmlformats.org/drawingml/2006/main">
              <a:ext uri="{FF2B5EF4-FFF2-40B4-BE49-F238E27FC236}">
                <a16:creationId xmlns:a16="http://schemas.microsoft.com/office/drawing/2014/main" id="{2789ACA4-0B9C-4D4F-86D2-FBAAE52532D9}"/>
              </a:ext>
            </a:extLst>
          </p:cNvPr>
          <p:cNvSpPr>
            <a:spLocks xmlns:a="http://schemas.openxmlformats.org/drawingml/2006/main" noGrp="1"/>
          </p:cNvSpPr>
          <p:nvPr/>
        </p:nvSpPr>
        <p:spPr>
          <a:xfrm xmlns:a="http://schemas.openxmlformats.org/drawingml/2006/main">
            <a:off x="514350" y="5314950"/>
            <a:ext cx="11096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0252B"/>
                </a:solidFill>
                <a:latin typeface="Segoe UI"/>
                <a:ea typeface="Segoe UI"/>
                <a:cs typeface="Segoe UI"/>
              </a:defRPr>
            </a:defPPr>
          </a:lstStyle>
          <a:p xmlns:a="http://schemas.openxmlformats.org/drawingml/2006/main">
            <a:pPr algn="l">
              <a:defRPr sz="1725" b="1">
                <a:solidFill>
                  <a:srgbClr val="20252B"/>
                </a:solidFill>
                <a:latin typeface="Segoe UI"/>
                <a:ea typeface="Segoe UI"/>
                <a:cs typeface="Segoe UI"/>
              </a:defRPr>
            </a:pPr>
            <a:r>
              <a:rPr sz="1725" b="1">
                <a:solidFill>
                  <a:srgbClr val="20252B"/>
                </a:solidFill>
                <a:latin typeface="Segoe UI"/>
                <a:ea typeface="Segoe UI"/>
                <a:cs typeface="Segoe UI"/>
              </a:rPr>
              <a:t>The trained model does not beat the keyword baseline on macro-F1.</a:t>
            </a:r>
          </a:p>
        </p:txBody>
      </p:sp>
      <p:sp>
        <p:nvSpPr>
          <p:cNvPr id="16" name="">
            <a:extLst xmlns:a="http://schemas.openxmlformats.org/drawingml/2006/main">
              <a:ext uri="{FF2B5EF4-FFF2-40B4-BE49-F238E27FC236}">
                <a16:creationId xmlns:a16="http://schemas.microsoft.com/office/drawing/2014/main" id="{C086AC27-9071-4428-9DF2-29D7009A88F2}"/>
              </a:ext>
            </a:extLst>
          </p:cNvPr>
          <p:cNvSpPr>
            <a:spLocks xmlns:a="http://schemas.openxmlformats.org/drawingml/2006/main" noGrp="1"/>
          </p:cNvSpPr>
          <p:nvPr/>
        </p:nvSpPr>
        <p:spPr>
          <a:xfrm xmlns:a="http://schemas.openxmlformats.org/drawingml/2006/main">
            <a:off x="514350" y="5791200"/>
            <a:ext cx="1109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Scores measure agreement with reviewed labels. They do not prove upgrade safety or generalization.</a:t>
            </a:r>
          </a:p>
        </p:txBody>
      </p:sp>
    </p:spTree>
    <p:extLst>
      <p:ext uri="{BB962C8B-B14F-4D97-AF65-F5344CB8AC3E}">
        <p14:creationId xmlns:p14="http://schemas.microsoft.com/office/powerpoint/2010/main" val="12557460"/>
      </p:ext>
    </p:extLst>
  </p:cSld>
</p:sld>
</file>

<file path=ppt/slides/slide11.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4A9C76C-89DC-405F-A2DB-9AA5668A92D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11">
            <a:extLst xmlns:a="http://schemas.openxmlformats.org/drawingml/2006/main">
              <a:ext uri="{FF2B5EF4-FFF2-40B4-BE49-F238E27FC236}">
                <a16:creationId xmlns:a16="http://schemas.microsoft.com/office/drawing/2014/main" id="{BAD47519-D69D-4C8C-8E10-2E359B561718}"/>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Live MVP demonstration</a:t>
            </a:r>
          </a:p>
        </p:txBody>
      </p:sp>
      <p:sp>
        <p:nvSpPr>
          <p:cNvPr id="3" name="">
            <a:extLst xmlns:a="http://schemas.openxmlformats.org/drawingml/2006/main">
              <a:ext uri="{FF2B5EF4-FFF2-40B4-BE49-F238E27FC236}">
                <a16:creationId xmlns:a16="http://schemas.microsoft.com/office/drawing/2014/main" id="{CFD46250-7723-4C00-BE39-A34055F574E0}"/>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8289A5-A586-44B7-B101-2A102F0FC60E}"/>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A1C17E-6BC9-439B-96EE-A7C7303ECC94}"/>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39D0BB1E-E81F-49B8-BF52-A001DB568C82}"/>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11 / 13</a:t>
            </a:r>
          </a:p>
        </p:txBody>
      </p:sp>
      <p:sp>
        <p:nvSpPr>
          <p:cNvPr id="7" name="">
            <a:extLst xmlns:a="http://schemas.openxmlformats.org/drawingml/2006/main">
              <a:ext uri="{FF2B5EF4-FFF2-40B4-BE49-F238E27FC236}">
                <a16:creationId xmlns:a16="http://schemas.microsoft.com/office/drawing/2014/main" id="{91E653DF-B534-42D1-B22E-2829A680AF81}"/>
              </a:ext>
            </a:extLst>
          </p:cNvPr>
          <p:cNvSpPr>
            <a:spLocks xmlns:a="http://schemas.openxmlformats.org/drawingml/2006/main" noGrp="1"/>
          </p:cNvSpPr>
          <p:nvPr/>
        </p:nvSpPr>
        <p:spPr>
          <a:xfrm xmlns:a="http://schemas.openxmlformats.org/drawingml/2006/main">
            <a:off x="514350" y="1428750"/>
            <a:ext cx="11163300" cy="1057275"/>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085AA5F-354C-45B9-BD46-7F59A706B329}"/>
              </a:ext>
            </a:extLst>
          </p:cNvPr>
          <p:cNvSpPr>
            <a:spLocks xmlns:a="http://schemas.openxmlformats.org/drawingml/2006/main" noGrp="1"/>
          </p:cNvSpPr>
          <p:nvPr/>
        </p:nvSpPr>
        <p:spPr>
          <a:xfrm xmlns:a="http://schemas.openxmlformats.org/drawingml/2006/main">
            <a:off x="514350" y="1428750"/>
            <a:ext cx="47625" cy="10572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498536-B0D4-4FCB-960D-A6D44213EAE8}"/>
              </a:ext>
            </a:extLst>
          </p:cNvPr>
          <p:cNvSpPr>
            <a:spLocks xmlns:a="http://schemas.openxmlformats.org/drawingml/2006/main" noGrp="1"/>
          </p:cNvSpPr>
          <p:nvPr/>
        </p:nvSpPr>
        <p:spPr>
          <a:xfrm xmlns:a="http://schemas.openxmlformats.org/drawingml/2006/main">
            <a:off x="704850" y="1552575"/>
            <a:ext cx="10829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START FROM THE PROJECT ROOT</a:t>
            </a:r>
          </a:p>
        </p:txBody>
      </p:sp>
      <p:sp>
        <p:nvSpPr>
          <p:cNvPr id="10" name="">
            <a:extLst xmlns:a="http://schemas.openxmlformats.org/drawingml/2006/main">
              <a:ext uri="{FF2B5EF4-FFF2-40B4-BE49-F238E27FC236}">
                <a16:creationId xmlns:a16="http://schemas.microsoft.com/office/drawing/2014/main" id="{C9DFD69B-64A6-4F78-BCB3-B5131779283F}"/>
              </a:ext>
            </a:extLst>
          </p:cNvPr>
          <p:cNvSpPr>
            <a:spLocks xmlns:a="http://schemas.openxmlformats.org/drawingml/2006/main" noGrp="1"/>
          </p:cNvSpPr>
          <p:nvPr/>
        </p:nvSpPr>
        <p:spPr>
          <a:xfrm xmlns:a="http://schemas.openxmlformats.org/drawingml/2006/main">
            <a:off x="704850" y="1876425"/>
            <a:ext cx="10810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0252B"/>
                </a:solidFill>
                <a:latin typeface="Consolas"/>
                <a:ea typeface="Consolas"/>
                <a:cs typeface="Consolas"/>
              </a:defRPr>
            </a:defPPr>
          </a:lstStyle>
          <a:p xmlns:a="http://schemas.openxmlformats.org/drawingml/2006/main">
            <a:pPr algn="l">
              <a:defRPr sz="1275" b="0">
                <a:solidFill>
                  <a:srgbClr val="20252B"/>
                </a:solidFill>
                <a:latin typeface="Consolas"/>
                <a:ea typeface="Consolas"/>
                <a:cs typeface="Consolas"/>
              </a:defRPr>
            </a:pPr>
            <a:r>
              <a:rPr sz="1275" b="0">
                <a:solidFill>
                  <a:srgbClr val="20252B"/>
                </a:solidFill>
                <a:latin typeface="Consolas"/>
                <a:ea typeface="Consolas"/>
                <a:cs typeface="Consolas"/>
              </a:rPr>
              <a:t>.\.venv\Scripts\python.exe -m streamlit run app.py</a:t>
            </a:r>
          </a:p>
        </p:txBody>
      </p:sp>
      <p:sp>
        <p:nvSpPr>
          <p:cNvPr id="11" name="">
            <a:extLst xmlns:a="http://schemas.openxmlformats.org/drawingml/2006/main">
              <a:ext uri="{FF2B5EF4-FFF2-40B4-BE49-F238E27FC236}">
                <a16:creationId xmlns:a16="http://schemas.microsoft.com/office/drawing/2014/main" id="{4E0B35AD-74DE-4057-BD85-2DE19D226101}"/>
              </a:ext>
            </a:extLst>
          </p:cNvPr>
          <p:cNvSpPr>
            <a:spLocks xmlns:a="http://schemas.openxmlformats.org/drawingml/2006/main" noGrp="1"/>
          </p:cNvSpPr>
          <p:nvPr/>
        </p:nvSpPr>
        <p:spPr>
          <a:xfrm xmlns:a="http://schemas.openxmlformats.org/drawingml/2006/main">
            <a:off x="514350" y="2771775"/>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C171D"/>
                </a:solidFill>
                <a:latin typeface="Bahnschrift"/>
                <a:ea typeface="Bahnschrift"/>
                <a:cs typeface="Bahnschrift"/>
              </a:defRPr>
            </a:defPPr>
          </a:lstStyle>
          <a:p xmlns:a="http://schemas.openxmlformats.org/drawingml/2006/main">
            <a:pPr algn="l">
              <a:defRPr sz="2550" b="1">
                <a:solidFill>
                  <a:srgbClr val="BC171D"/>
                </a:solidFill>
                <a:latin typeface="Bahnschrift"/>
                <a:ea typeface="Bahnschrift"/>
                <a:cs typeface="Bahnschrift"/>
              </a:defRPr>
            </a:pPr>
            <a:r>
              <a:rPr sz="2550" b="1">
                <a:solidFill>
                  <a:srgbClr val="BC171D"/>
                </a:solidFill>
                <a:latin typeface="Bahnschrift"/>
                <a:ea typeface="Bahnschrift"/>
                <a:cs typeface="Bahnschrift"/>
              </a:rPr>
              <a:t>1</a:t>
            </a:r>
          </a:p>
        </p:txBody>
      </p:sp>
      <p:sp>
        <p:nvSpPr>
          <p:cNvPr id="12" name="">
            <a:extLst xmlns:a="http://schemas.openxmlformats.org/drawingml/2006/main">
              <a:ext uri="{FF2B5EF4-FFF2-40B4-BE49-F238E27FC236}">
                <a16:creationId xmlns:a16="http://schemas.microsoft.com/office/drawing/2014/main" id="{B42631C3-DD8E-4C74-9493-3A85E3543BDA}"/>
              </a:ext>
            </a:extLst>
          </p:cNvPr>
          <p:cNvSpPr>
            <a:spLocks xmlns:a="http://schemas.openxmlformats.org/drawingml/2006/main" noGrp="1"/>
          </p:cNvSpPr>
          <p:nvPr/>
        </p:nvSpPr>
        <p:spPr>
          <a:xfrm xmlns:a="http://schemas.openxmlformats.org/drawingml/2006/main">
            <a:off x="1143000" y="2790825"/>
            <a:ext cx="2762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Guided annotation</a:t>
            </a:r>
          </a:p>
        </p:txBody>
      </p:sp>
      <p:sp>
        <p:nvSpPr>
          <p:cNvPr id="13" name="">
            <a:extLst xmlns:a="http://schemas.openxmlformats.org/drawingml/2006/main">
              <a:ext uri="{FF2B5EF4-FFF2-40B4-BE49-F238E27FC236}">
                <a16:creationId xmlns:a16="http://schemas.microsoft.com/office/drawing/2014/main" id="{21DD4273-6011-428C-8175-1D857C3F87EE}"/>
              </a:ext>
            </a:extLst>
          </p:cNvPr>
          <p:cNvSpPr>
            <a:spLocks xmlns:a="http://schemas.openxmlformats.org/drawingml/2006/main" noGrp="1"/>
          </p:cNvSpPr>
          <p:nvPr/>
        </p:nvSpPr>
        <p:spPr>
          <a:xfrm xmlns:a="http://schemas.openxmlformats.org/drawingml/2006/main">
            <a:off x="3952875" y="278130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F6973"/>
                </a:solidFill>
                <a:latin typeface="Segoe UI"/>
                <a:ea typeface="Segoe UI"/>
                <a:cs typeface="Segoe UI"/>
              </a:defRPr>
            </a:defPPr>
          </a:lstStyle>
          <a:p xmlns:a="http://schemas.openxmlformats.org/drawingml/2006/main">
            <a:pPr algn="l">
              <a:defRPr sz="1425" b="0">
                <a:solidFill>
                  <a:srgbClr val="5F6973"/>
                </a:solidFill>
                <a:latin typeface="Segoe UI"/>
                <a:ea typeface="Segoe UI"/>
                <a:cs typeface="Segoe UI"/>
              </a:defRPr>
            </a:pPr>
            <a:r>
              <a:rPr sz="1425" b="0">
                <a:solidFill>
                  <a:srgbClr val="5F6973"/>
                </a:solidFill>
                <a:latin typeface="Segoe UI"/>
                <a:ea typeface="Segoe UI"/>
                <a:cs typeface="Segoe UI"/>
              </a:rPr>
              <a:t>Show 50 / 50 reviewed and revisit one saved note.</a:t>
            </a:r>
          </a:p>
        </p:txBody>
      </p:sp>
      <p:sp>
        <p:nvSpPr>
          <p:cNvPr id="14" name="">
            <a:extLst xmlns:a="http://schemas.openxmlformats.org/drawingml/2006/main">
              <a:ext uri="{FF2B5EF4-FFF2-40B4-BE49-F238E27FC236}">
                <a16:creationId xmlns:a16="http://schemas.microsoft.com/office/drawing/2014/main" id="{F0CD4AC7-1FE8-492B-9052-F876986363CA}"/>
              </a:ext>
            </a:extLst>
          </p:cNvPr>
          <p:cNvSpPr>
            <a:spLocks xmlns:a="http://schemas.openxmlformats.org/drawingml/2006/main" noGrp="1"/>
          </p:cNvSpPr>
          <p:nvPr/>
        </p:nvSpPr>
        <p:spPr>
          <a:xfrm xmlns:a="http://schemas.openxmlformats.org/drawingml/2006/main">
            <a:off x="514350" y="353377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4D8BE2-89D7-4183-B94B-3B559CF9D041}"/>
              </a:ext>
            </a:extLst>
          </p:cNvPr>
          <p:cNvSpPr>
            <a:spLocks xmlns:a="http://schemas.openxmlformats.org/drawingml/2006/main" noGrp="1"/>
          </p:cNvSpPr>
          <p:nvPr/>
        </p:nvSpPr>
        <p:spPr>
          <a:xfrm xmlns:a="http://schemas.openxmlformats.org/drawingml/2006/main">
            <a:off x="514350" y="3667125"/>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C171D"/>
                </a:solidFill>
                <a:latin typeface="Bahnschrift"/>
                <a:ea typeface="Bahnschrift"/>
                <a:cs typeface="Bahnschrift"/>
              </a:defRPr>
            </a:defPPr>
          </a:lstStyle>
          <a:p xmlns:a="http://schemas.openxmlformats.org/drawingml/2006/main">
            <a:pPr algn="l">
              <a:defRPr sz="2550" b="1">
                <a:solidFill>
                  <a:srgbClr val="BC171D"/>
                </a:solidFill>
                <a:latin typeface="Bahnschrift"/>
                <a:ea typeface="Bahnschrift"/>
                <a:cs typeface="Bahnschrift"/>
              </a:defRPr>
            </a:pPr>
            <a:r>
              <a:rPr sz="2550" b="1">
                <a:solidFill>
                  <a:srgbClr val="BC171D"/>
                </a:solidFill>
                <a:latin typeface="Bahnschrift"/>
                <a:ea typeface="Bahnschrift"/>
                <a:cs typeface="Bahnschrift"/>
              </a:rPr>
              <a:t>2</a:t>
            </a:r>
          </a:p>
        </p:txBody>
      </p:sp>
      <p:sp>
        <p:nvSpPr>
          <p:cNvPr id="16" name="">
            <a:extLst xmlns:a="http://schemas.openxmlformats.org/drawingml/2006/main">
              <a:ext uri="{FF2B5EF4-FFF2-40B4-BE49-F238E27FC236}">
                <a16:creationId xmlns:a16="http://schemas.microsoft.com/office/drawing/2014/main" id="{71480E74-F62A-4EF3-B1B9-372CF4887C98}"/>
              </a:ext>
            </a:extLst>
          </p:cNvPr>
          <p:cNvSpPr>
            <a:spLocks xmlns:a="http://schemas.openxmlformats.org/drawingml/2006/main" noGrp="1"/>
          </p:cNvSpPr>
          <p:nvPr/>
        </p:nvSpPr>
        <p:spPr>
          <a:xfrm xmlns:a="http://schemas.openxmlformats.org/drawingml/2006/main">
            <a:off x="1143000" y="3686175"/>
            <a:ext cx="2762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Prediction review</a:t>
            </a:r>
          </a:p>
        </p:txBody>
      </p:sp>
      <p:sp>
        <p:nvSpPr>
          <p:cNvPr id="17" name="">
            <a:extLst xmlns:a="http://schemas.openxmlformats.org/drawingml/2006/main">
              <a:ext uri="{FF2B5EF4-FFF2-40B4-BE49-F238E27FC236}">
                <a16:creationId xmlns:a16="http://schemas.microsoft.com/office/drawing/2014/main" id="{AC19B82A-990F-4A44-9B30-E7F9BD725F3B}"/>
              </a:ext>
            </a:extLst>
          </p:cNvPr>
          <p:cNvSpPr>
            <a:spLocks xmlns:a="http://schemas.openxmlformats.org/drawingml/2006/main" noGrp="1"/>
          </p:cNvSpPr>
          <p:nvPr/>
        </p:nvSpPr>
        <p:spPr>
          <a:xfrm xmlns:a="http://schemas.openxmlformats.org/drawingml/2006/main">
            <a:off x="3952875" y="367665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F6973"/>
                </a:solidFill>
                <a:latin typeface="Segoe UI"/>
                <a:ea typeface="Segoe UI"/>
                <a:cs typeface="Segoe UI"/>
              </a:defRPr>
            </a:defPPr>
          </a:lstStyle>
          <a:p xmlns:a="http://schemas.openxmlformats.org/drawingml/2006/main">
            <a:pPr algn="l">
              <a:defRPr sz="1425" b="0">
                <a:solidFill>
                  <a:srgbClr val="5F6973"/>
                </a:solidFill>
                <a:latin typeface="Segoe UI"/>
                <a:ea typeface="Segoe UI"/>
                <a:cs typeface="Segoe UI"/>
              </a:defRPr>
            </a:pPr>
            <a:r>
              <a:rPr sz="1425" b="0">
                <a:solidFill>
                  <a:srgbClr val="5F6973"/>
                </a:solidFill>
                <a:latin typeface="Segoe UI"/>
                <a:ea typeface="Segoe UI"/>
                <a:cs typeface="Segoe UI"/>
              </a:rPr>
              <a:t>Paste the SQLite minimum-version sentence.</a:t>
            </a:r>
          </a:p>
        </p:txBody>
      </p:sp>
      <p:sp>
        <p:nvSpPr>
          <p:cNvPr id="18" name="">
            <a:extLst xmlns:a="http://schemas.openxmlformats.org/drawingml/2006/main">
              <a:ext uri="{FF2B5EF4-FFF2-40B4-BE49-F238E27FC236}">
                <a16:creationId xmlns:a16="http://schemas.microsoft.com/office/drawing/2014/main" id="{3E5469AA-AF06-4783-B723-BF5663854C7D}"/>
              </a:ext>
            </a:extLst>
          </p:cNvPr>
          <p:cNvSpPr>
            <a:spLocks xmlns:a="http://schemas.openxmlformats.org/drawingml/2006/main" noGrp="1"/>
          </p:cNvSpPr>
          <p:nvPr/>
        </p:nvSpPr>
        <p:spPr>
          <a:xfrm xmlns:a="http://schemas.openxmlformats.org/drawingml/2006/main">
            <a:off x="514350" y="4429125"/>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9D6A5CE-8B02-42F0-9B40-B1E244CE82FF}"/>
              </a:ext>
            </a:extLst>
          </p:cNvPr>
          <p:cNvSpPr>
            <a:spLocks xmlns:a="http://schemas.openxmlformats.org/drawingml/2006/main" noGrp="1"/>
          </p:cNvSpPr>
          <p:nvPr/>
        </p:nvSpPr>
        <p:spPr>
          <a:xfrm xmlns:a="http://schemas.openxmlformats.org/drawingml/2006/main">
            <a:off x="514350" y="4562475"/>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C171D"/>
                </a:solidFill>
                <a:latin typeface="Bahnschrift"/>
                <a:ea typeface="Bahnschrift"/>
                <a:cs typeface="Bahnschrift"/>
              </a:defRPr>
            </a:defPPr>
          </a:lstStyle>
          <a:p xmlns:a="http://schemas.openxmlformats.org/drawingml/2006/main">
            <a:pPr algn="l">
              <a:defRPr sz="2550" b="1">
                <a:solidFill>
                  <a:srgbClr val="BC171D"/>
                </a:solidFill>
                <a:latin typeface="Bahnschrift"/>
                <a:ea typeface="Bahnschrift"/>
                <a:cs typeface="Bahnschrift"/>
              </a:defRPr>
            </a:pPr>
            <a:r>
              <a:rPr sz="2550" b="1">
                <a:solidFill>
                  <a:srgbClr val="BC171D"/>
                </a:solidFill>
                <a:latin typeface="Bahnschrift"/>
                <a:ea typeface="Bahnschrift"/>
                <a:cs typeface="Bahnschrift"/>
              </a:rPr>
              <a:t>3</a:t>
            </a:r>
          </a:p>
        </p:txBody>
      </p:sp>
      <p:sp>
        <p:nvSpPr>
          <p:cNvPr id="20" name="">
            <a:extLst xmlns:a="http://schemas.openxmlformats.org/drawingml/2006/main">
              <a:ext uri="{FF2B5EF4-FFF2-40B4-BE49-F238E27FC236}">
                <a16:creationId xmlns:a16="http://schemas.microsoft.com/office/drawing/2014/main" id="{C1767521-3D63-496C-9A1F-4FEDAA71E111}"/>
              </a:ext>
            </a:extLst>
          </p:cNvPr>
          <p:cNvSpPr>
            <a:spLocks xmlns:a="http://schemas.openxmlformats.org/drawingml/2006/main" noGrp="1"/>
          </p:cNvSpPr>
          <p:nvPr/>
        </p:nvSpPr>
        <p:spPr>
          <a:xfrm xmlns:a="http://schemas.openxmlformats.org/drawingml/2006/main">
            <a:off x="1143000" y="4581525"/>
            <a:ext cx="2762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0252B"/>
                </a:solidFill>
                <a:latin typeface="Segoe UI"/>
                <a:ea typeface="Segoe UI"/>
                <a:cs typeface="Segoe UI"/>
              </a:defRPr>
            </a:defPPr>
          </a:lstStyle>
          <a:p xmlns:a="http://schemas.openxmlformats.org/drawingml/2006/main">
            <a:pPr algn="l">
              <a:defRPr sz="1650" b="1">
                <a:solidFill>
                  <a:srgbClr val="20252B"/>
                </a:solidFill>
                <a:latin typeface="Segoe UI"/>
                <a:ea typeface="Segoe UI"/>
                <a:cs typeface="Segoe UI"/>
              </a:defRPr>
            </a:pPr>
            <a:r>
              <a:rPr sz="1650" b="1">
                <a:solidFill>
                  <a:srgbClr val="20252B"/>
                </a:solidFill>
                <a:latin typeface="Segoe UI"/>
                <a:ea typeface="Segoe UI"/>
                <a:cs typeface="Segoe UI"/>
              </a:rPr>
              <a:t>Read the result</a:t>
            </a:r>
          </a:p>
        </p:txBody>
      </p:sp>
      <p:sp>
        <p:nvSpPr>
          <p:cNvPr id="21" name="">
            <a:extLst xmlns:a="http://schemas.openxmlformats.org/drawingml/2006/main">
              <a:ext uri="{FF2B5EF4-FFF2-40B4-BE49-F238E27FC236}">
                <a16:creationId xmlns:a16="http://schemas.microsoft.com/office/drawing/2014/main" id="{1187477A-7B96-4B8A-83AD-1070C0794C1D}"/>
              </a:ext>
            </a:extLst>
          </p:cNvPr>
          <p:cNvSpPr>
            <a:spLocks xmlns:a="http://schemas.openxmlformats.org/drawingml/2006/main" noGrp="1"/>
          </p:cNvSpPr>
          <p:nvPr/>
        </p:nvSpPr>
        <p:spPr>
          <a:xfrm xmlns:a="http://schemas.openxmlformats.org/drawingml/2006/main">
            <a:off x="3952875" y="457200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F6973"/>
                </a:solidFill>
                <a:latin typeface="Segoe UI"/>
                <a:ea typeface="Segoe UI"/>
                <a:cs typeface="Segoe UI"/>
              </a:defRPr>
            </a:defPPr>
          </a:lstStyle>
          <a:p xmlns:a="http://schemas.openxmlformats.org/drawingml/2006/main">
            <a:pPr algn="l">
              <a:defRPr sz="1425" b="0">
                <a:solidFill>
                  <a:srgbClr val="5F6973"/>
                </a:solidFill>
                <a:latin typeface="Segoe UI"/>
                <a:ea typeface="Segoe UI"/>
                <a:cs typeface="Segoe UI"/>
              </a:defRPr>
            </a:pPr>
            <a:r>
              <a:rPr sz="1425" b="0">
                <a:solidFill>
                  <a:srgbClr val="5F6973"/>
                </a:solidFill>
                <a:latin typeface="Segoe UI"/>
                <a:ea typeface="Segoe UI"/>
                <a:cs typeface="Segoe UI"/>
              </a:rPr>
              <a:t>Suggested area: Configuration/deployment. Show the pilot warning and untrained fifth class.</a:t>
            </a:r>
          </a:p>
        </p:txBody>
      </p:sp>
      <p:sp>
        <p:nvSpPr>
          <p:cNvPr id="22" name="">
            <a:extLst xmlns:a="http://schemas.openxmlformats.org/drawingml/2006/main">
              <a:ext uri="{FF2B5EF4-FFF2-40B4-BE49-F238E27FC236}">
                <a16:creationId xmlns:a16="http://schemas.microsoft.com/office/drawing/2014/main" id="{8837E011-46DD-4F25-A1DB-F2646D60989C}"/>
              </a:ext>
            </a:extLst>
          </p:cNvPr>
          <p:cNvSpPr>
            <a:spLocks xmlns:a="http://schemas.openxmlformats.org/drawingml/2006/main" noGrp="1"/>
          </p:cNvSpPr>
          <p:nvPr/>
        </p:nvSpPr>
        <p:spPr>
          <a:xfrm xmlns:a="http://schemas.openxmlformats.org/drawingml/2006/main">
            <a:off x="514350" y="5562600"/>
            <a:ext cx="11163300" cy="552450"/>
          </a:xfrm>
          <a:prstGeom xmlns:a="http://schemas.openxmlformats.org/drawingml/2006/main" prst="rect">
            <a:avLst/>
          </a:prstGeom>
          <a:solidFill xmlns:a="http://schemas.openxmlformats.org/drawingml/2006/main">
            <a:srgbClr val="EEE9E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8B242A-F3DA-4827-8262-884C51567DFF}"/>
              </a:ext>
            </a:extLst>
          </p:cNvPr>
          <p:cNvSpPr>
            <a:spLocks xmlns:a="http://schemas.openxmlformats.org/drawingml/2006/main" noGrp="1"/>
          </p:cNvSpPr>
          <p:nvPr/>
        </p:nvSpPr>
        <p:spPr>
          <a:xfrm xmlns:a="http://schemas.openxmlformats.org/drawingml/2006/main">
            <a:off x="685800" y="56959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0252B"/>
                </a:solidFill>
                <a:latin typeface="Segoe UI"/>
                <a:ea typeface="Segoe UI"/>
                <a:cs typeface="Segoe UI"/>
              </a:defRPr>
            </a:defPPr>
          </a:lstStyle>
          <a:p xmlns:a="http://schemas.openxmlformats.org/drawingml/2006/main">
            <a:pPr algn="l">
              <a:defRPr sz="1350" b="1">
                <a:solidFill>
                  <a:srgbClr val="20252B"/>
                </a:solidFill>
                <a:latin typeface="Segoe UI"/>
                <a:ea typeface="Segoe UI"/>
                <a:cs typeface="Segoe UI"/>
              </a:defRPr>
            </a:pPr>
            <a:r>
              <a:rPr sz="1350" b="1">
                <a:solidFill>
                  <a:srgbClr val="20252B"/>
                </a:solidFill>
                <a:latin typeface="Segoe UI"/>
                <a:ea typeface="Segoe UI"/>
                <a:cs typeface="Segoe UI"/>
              </a:rPr>
              <a:t>If Prediction review is absent: run scripts/train_model.py with data/processed/pilot_reviewed_labels.csv.</a:t>
            </a:r>
          </a:p>
        </p:txBody>
      </p:sp>
    </p:spTree>
    <p:extLst>
      <p:ext uri="{BB962C8B-B14F-4D97-AF65-F5344CB8AC3E}">
        <p14:creationId xmlns:p14="http://schemas.microsoft.com/office/powerpoint/2010/main" val="1590202264"/>
      </p:ext>
    </p:extLst>
  </p:cSld>
</p:sld>
</file>

<file path=ppt/slides/slide12.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635FD50-B44A-4C1E-9177-5CE8C5F5520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12">
            <a:extLst xmlns:a="http://schemas.openxmlformats.org/drawingml/2006/main">
              <a:ext uri="{FF2B5EF4-FFF2-40B4-BE49-F238E27FC236}">
                <a16:creationId xmlns:a16="http://schemas.microsoft.com/office/drawing/2014/main" id="{BCBB7D30-51BF-45DA-91AB-864758BD54A1}"/>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Current limits and roadmap</a:t>
            </a:r>
          </a:p>
        </p:txBody>
      </p:sp>
      <p:sp>
        <p:nvSpPr>
          <p:cNvPr id="3" name="">
            <a:extLst xmlns:a="http://schemas.openxmlformats.org/drawingml/2006/main">
              <a:ext uri="{FF2B5EF4-FFF2-40B4-BE49-F238E27FC236}">
                <a16:creationId xmlns:a16="http://schemas.microsoft.com/office/drawing/2014/main" id="{3C2E24BC-B9A1-43CE-96F2-693FB43D81B5}"/>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AB5D16-010A-4AAD-A4B6-36D3D6E4D1A6}"/>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A35D5A-FA4E-47B3-A018-E89A3C9AF377}"/>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A0C72D50-6EE3-4631-9D77-2B9BEC455A8D}"/>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Om   •   12 / 13</a:t>
            </a:r>
          </a:p>
        </p:txBody>
      </p:sp>
      <p:sp>
        <p:nvSpPr>
          <p:cNvPr id="7" name="">
            <a:extLst xmlns:a="http://schemas.openxmlformats.org/drawingml/2006/main">
              <a:ext uri="{FF2B5EF4-FFF2-40B4-BE49-F238E27FC236}">
                <a16:creationId xmlns:a16="http://schemas.microsoft.com/office/drawing/2014/main" id="{7E7E2913-BDB0-461E-A009-7D2357294B6A}"/>
              </a:ext>
            </a:extLst>
          </p:cNvPr>
          <p:cNvSpPr>
            <a:spLocks xmlns:a="http://schemas.openxmlformats.org/drawingml/2006/main" noGrp="1"/>
          </p:cNvSpPr>
          <p:nvPr/>
        </p:nvSpPr>
        <p:spPr>
          <a:xfrm xmlns:a="http://schemas.openxmlformats.org/drawingml/2006/main">
            <a:off x="514350" y="141922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OBSERVED IN THE PILOT</a:t>
            </a:r>
          </a:p>
        </p:txBody>
      </p:sp>
      <p:sp>
        <p:nvSpPr>
          <p:cNvPr id="8" name="">
            <a:extLst xmlns:a="http://schemas.openxmlformats.org/drawingml/2006/main">
              <a:ext uri="{FF2B5EF4-FFF2-40B4-BE49-F238E27FC236}">
                <a16:creationId xmlns:a16="http://schemas.microsoft.com/office/drawing/2014/main" id="{62BB5561-F99A-47A7-BECE-FB436C09A358}"/>
              </a:ext>
            </a:extLst>
          </p:cNvPr>
          <p:cNvSpPr>
            <a:spLocks xmlns:a="http://schemas.openxmlformats.org/drawingml/2006/main" noGrp="1"/>
          </p:cNvSpPr>
          <p:nvPr/>
        </p:nvSpPr>
        <p:spPr>
          <a:xfrm xmlns:a="http://schemas.openxmlformats.org/drawingml/2006/main">
            <a:off x="6219825" y="141922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NEXT EVALUATION STEPS</a:t>
            </a:r>
          </a:p>
        </p:txBody>
      </p:sp>
      <p:sp>
        <p:nvSpPr>
          <p:cNvPr id="9" name="">
            <a:extLst xmlns:a="http://schemas.openxmlformats.org/drawingml/2006/main">
              <a:ext uri="{FF2B5EF4-FFF2-40B4-BE49-F238E27FC236}">
                <a16:creationId xmlns:a16="http://schemas.microsoft.com/office/drawing/2014/main" id="{AE948137-4830-4E5A-972D-635C36D184CB}"/>
              </a:ext>
            </a:extLst>
          </p:cNvPr>
          <p:cNvSpPr>
            <a:spLocks xmlns:a="http://schemas.openxmlformats.org/drawingml/2006/main" noGrp="1"/>
          </p:cNvSpPr>
          <p:nvPr/>
        </p:nvSpPr>
        <p:spPr>
          <a:xfrm xmlns:a="http://schemas.openxmlformats.org/drawingml/2006/main">
            <a:off x="5934075" y="1428750"/>
            <a:ext cx="19050" cy="4476750"/>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5821FF-9AD3-4CD2-8373-643BE898BBD9}"/>
              </a:ext>
            </a:extLst>
          </p:cNvPr>
          <p:cNvSpPr>
            <a:spLocks xmlns:a="http://schemas.openxmlformats.org/drawingml/2006/main" noGrp="1"/>
          </p:cNvSpPr>
          <p:nvPr/>
        </p:nvSpPr>
        <p:spPr>
          <a:xfrm xmlns:a="http://schemas.openxmlformats.org/drawingml/2006/main">
            <a:off x="514350" y="18764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Class support</a:t>
            </a:r>
          </a:p>
        </p:txBody>
      </p:sp>
      <p:sp>
        <p:nvSpPr>
          <p:cNvPr id="11" name="">
            <a:extLst xmlns:a="http://schemas.openxmlformats.org/drawingml/2006/main">
              <a:ext uri="{FF2B5EF4-FFF2-40B4-BE49-F238E27FC236}">
                <a16:creationId xmlns:a16="http://schemas.microsoft.com/office/drawing/2014/main" id="{7BE3A777-CA87-4C9C-9DF7-CC23C986A1DA}"/>
              </a:ext>
            </a:extLst>
          </p:cNvPr>
          <p:cNvSpPr>
            <a:spLocks xmlns:a="http://schemas.openxmlformats.org/drawingml/2006/main" noGrp="1"/>
          </p:cNvSpPr>
          <p:nvPr/>
        </p:nvSpPr>
        <p:spPr>
          <a:xfrm xmlns:a="http://schemas.openxmlformats.org/drawingml/2006/main">
            <a:off x="514350" y="220980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29 of 49 usable rows are API/code; one target class is absent.</a:t>
            </a:r>
          </a:p>
        </p:txBody>
      </p:sp>
      <p:sp>
        <p:nvSpPr>
          <p:cNvPr id="12" name="">
            <a:extLst xmlns:a="http://schemas.openxmlformats.org/drawingml/2006/main">
              <a:ext uri="{FF2B5EF4-FFF2-40B4-BE49-F238E27FC236}">
                <a16:creationId xmlns:a16="http://schemas.microsoft.com/office/drawing/2014/main" id="{C5652AED-5B23-465A-A85E-8D8FFEA5FE66}"/>
              </a:ext>
            </a:extLst>
          </p:cNvPr>
          <p:cNvSpPr>
            <a:spLocks xmlns:a="http://schemas.openxmlformats.org/drawingml/2006/main" noGrp="1"/>
          </p:cNvSpPr>
          <p:nvPr/>
        </p:nvSpPr>
        <p:spPr>
          <a:xfrm xmlns:a="http://schemas.openxmlformats.org/drawingml/2006/main">
            <a:off x="514350" y="2876550"/>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Small test</a:t>
            </a:r>
          </a:p>
        </p:txBody>
      </p:sp>
      <p:sp>
        <p:nvSpPr>
          <p:cNvPr id="13" name="">
            <a:extLst xmlns:a="http://schemas.openxmlformats.org/drawingml/2006/main">
              <a:ext uri="{FF2B5EF4-FFF2-40B4-BE49-F238E27FC236}">
                <a16:creationId xmlns:a16="http://schemas.microsoft.com/office/drawing/2014/main" id="{11DCF7A6-F7D4-48F9-8C15-34BEBFA62433}"/>
              </a:ext>
            </a:extLst>
          </p:cNvPr>
          <p:cNvSpPr>
            <a:spLocks xmlns:a="http://schemas.openxmlformats.org/drawingml/2006/main" noGrp="1"/>
          </p:cNvSpPr>
          <p:nvPr/>
        </p:nvSpPr>
        <p:spPr>
          <a:xfrm xmlns:a="http://schemas.openxmlformats.org/drawingml/2006/main">
            <a:off x="514350" y="320992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Only 10 held-out entries from one Django release.</a:t>
            </a:r>
          </a:p>
        </p:txBody>
      </p:sp>
      <p:sp>
        <p:nvSpPr>
          <p:cNvPr id="14" name="">
            <a:extLst xmlns:a="http://schemas.openxmlformats.org/drawingml/2006/main">
              <a:ext uri="{FF2B5EF4-FFF2-40B4-BE49-F238E27FC236}">
                <a16:creationId xmlns:a16="http://schemas.microsoft.com/office/drawing/2014/main" id="{681E4E56-3FC8-4780-A74E-F64C088BE90C}"/>
              </a:ext>
            </a:extLst>
          </p:cNvPr>
          <p:cNvSpPr>
            <a:spLocks xmlns:a="http://schemas.openxmlformats.org/drawingml/2006/main" noGrp="1"/>
          </p:cNvSpPr>
          <p:nvPr/>
        </p:nvSpPr>
        <p:spPr>
          <a:xfrm xmlns:a="http://schemas.openxmlformats.org/drawingml/2006/main">
            <a:off x="514350" y="387667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Near duplicates</a:t>
            </a:r>
          </a:p>
        </p:txBody>
      </p:sp>
      <p:sp>
        <p:nvSpPr>
          <p:cNvPr id="15" name="">
            <a:extLst xmlns:a="http://schemas.openxmlformats.org/drawingml/2006/main">
              <a:ext uri="{FF2B5EF4-FFF2-40B4-BE49-F238E27FC236}">
                <a16:creationId xmlns:a16="http://schemas.microsoft.com/office/drawing/2014/main" id="{E3B81F56-E13F-432A-8995-CE7552902652}"/>
              </a:ext>
            </a:extLst>
          </p:cNvPr>
          <p:cNvSpPr>
            <a:spLocks xmlns:a="http://schemas.openxmlformats.org/drawingml/2006/main" noGrp="1"/>
          </p:cNvSpPr>
          <p:nvPr/>
        </p:nvSpPr>
        <p:spPr>
          <a:xfrm xmlns:a="http://schemas.openxmlformats.org/drawingml/2006/main">
            <a:off x="514350" y="421005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One similar deprecation/removal pair crosses dev and test.</a:t>
            </a:r>
          </a:p>
        </p:txBody>
      </p:sp>
      <p:sp>
        <p:nvSpPr>
          <p:cNvPr id="16" name="">
            <a:extLst xmlns:a="http://schemas.openxmlformats.org/drawingml/2006/main">
              <a:ext uri="{FF2B5EF4-FFF2-40B4-BE49-F238E27FC236}">
                <a16:creationId xmlns:a16="http://schemas.microsoft.com/office/drawing/2014/main" id="{31A751FE-82BB-4B55-8C95-2BAD42652E75}"/>
              </a:ext>
            </a:extLst>
          </p:cNvPr>
          <p:cNvSpPr>
            <a:spLocks xmlns:a="http://schemas.openxmlformats.org/drawingml/2006/main" noGrp="1"/>
          </p:cNvSpPr>
          <p:nvPr/>
        </p:nvSpPr>
        <p:spPr>
          <a:xfrm xmlns:a="http://schemas.openxmlformats.org/drawingml/2006/main">
            <a:off x="514350" y="4876800"/>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Decision quality</a:t>
            </a:r>
          </a:p>
        </p:txBody>
      </p:sp>
      <p:sp>
        <p:nvSpPr>
          <p:cNvPr id="17" name="">
            <a:extLst xmlns:a="http://schemas.openxmlformats.org/drawingml/2006/main">
              <a:ext uri="{FF2B5EF4-FFF2-40B4-BE49-F238E27FC236}">
                <a16:creationId xmlns:a16="http://schemas.microsoft.com/office/drawing/2014/main" id="{2CB64719-7916-4AC6-9EEB-688BDCFAF377}"/>
              </a:ext>
            </a:extLst>
          </p:cNvPr>
          <p:cNvSpPr>
            <a:spLocks xmlns:a="http://schemas.openxmlformats.org/drawingml/2006/main" noGrp="1"/>
          </p:cNvSpPr>
          <p:nvPr/>
        </p:nvSpPr>
        <p:spPr>
          <a:xfrm xmlns:a="http://schemas.openxmlformats.org/drawingml/2006/main">
            <a:off x="514350" y="52101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Independent second review and score calibration remain open.</a:t>
            </a:r>
          </a:p>
        </p:txBody>
      </p:sp>
      <p:sp>
        <p:nvSpPr>
          <p:cNvPr id="18" name="">
            <a:extLst xmlns:a="http://schemas.openxmlformats.org/drawingml/2006/main">
              <a:ext uri="{FF2B5EF4-FFF2-40B4-BE49-F238E27FC236}">
                <a16:creationId xmlns:a16="http://schemas.microsoft.com/office/drawing/2014/main" id="{C1E3D53E-DEFC-45D7-840E-DB4FCB46F383}"/>
              </a:ext>
            </a:extLst>
          </p:cNvPr>
          <p:cNvSpPr>
            <a:spLocks xmlns:a="http://schemas.openxmlformats.org/drawingml/2006/main" noGrp="1"/>
          </p:cNvSpPr>
          <p:nvPr/>
        </p:nvSpPr>
        <p:spPr>
          <a:xfrm xmlns:a="http://schemas.openxmlformats.org/drawingml/2006/main">
            <a:off x="6219825" y="1876425"/>
            <a:ext cx="5248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1  Independent review</a:t>
            </a:r>
          </a:p>
        </p:txBody>
      </p:sp>
      <p:sp>
        <p:nvSpPr>
          <p:cNvPr id="19" name="">
            <a:extLst xmlns:a="http://schemas.openxmlformats.org/drawingml/2006/main">
              <a:ext uri="{FF2B5EF4-FFF2-40B4-BE49-F238E27FC236}">
                <a16:creationId xmlns:a16="http://schemas.microsoft.com/office/drawing/2014/main" id="{1EE4820F-CB82-44EE-A885-3D9D550D9157}"/>
              </a:ext>
            </a:extLst>
          </p:cNvPr>
          <p:cNvSpPr>
            <a:spLocks xmlns:a="http://schemas.openxmlformats.org/drawingml/2006/main" noGrp="1"/>
          </p:cNvSpPr>
          <p:nvPr/>
        </p:nvSpPr>
        <p:spPr>
          <a:xfrm xmlns:a="http://schemas.openxmlformats.org/drawingml/2006/main">
            <a:off x="6219825" y="2209800"/>
            <a:ext cx="524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Assign 12–13 pilot entries to each teammate for a second pass.</a:t>
            </a:r>
          </a:p>
        </p:txBody>
      </p:sp>
      <p:sp>
        <p:nvSpPr>
          <p:cNvPr id="20" name="">
            <a:extLst xmlns:a="http://schemas.openxmlformats.org/drawingml/2006/main">
              <a:ext uri="{FF2B5EF4-FFF2-40B4-BE49-F238E27FC236}">
                <a16:creationId xmlns:a16="http://schemas.microsoft.com/office/drawing/2014/main" id="{BAD8E9E4-269E-4B54-842D-7C16E69F608F}"/>
              </a:ext>
            </a:extLst>
          </p:cNvPr>
          <p:cNvSpPr>
            <a:spLocks xmlns:a="http://schemas.openxmlformats.org/drawingml/2006/main" noGrp="1"/>
          </p:cNvSpPr>
          <p:nvPr/>
        </p:nvSpPr>
        <p:spPr>
          <a:xfrm xmlns:a="http://schemas.openxmlformats.org/drawingml/2006/main">
            <a:off x="6219825" y="2876550"/>
            <a:ext cx="5248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2  Class coverage</a:t>
            </a:r>
          </a:p>
        </p:txBody>
      </p:sp>
      <p:sp>
        <p:nvSpPr>
          <p:cNvPr id="21" name="">
            <a:extLst xmlns:a="http://schemas.openxmlformats.org/drawingml/2006/main">
              <a:ext uri="{FF2B5EF4-FFF2-40B4-BE49-F238E27FC236}">
                <a16:creationId xmlns:a16="http://schemas.microsoft.com/office/drawing/2014/main" id="{EBAA37B7-5A98-4224-A47F-C6F7944C14A9}"/>
              </a:ext>
            </a:extLst>
          </p:cNvPr>
          <p:cNvSpPr>
            <a:spLocks xmlns:a="http://schemas.openxmlformats.org/drawingml/2006/main" noGrp="1"/>
          </p:cNvSpPr>
          <p:nvPr/>
        </p:nvSpPr>
        <p:spPr>
          <a:xfrm xmlns:a="http://schemas.openxmlformats.org/drawingml/2006/main">
            <a:off x="6219825" y="3209925"/>
            <a:ext cx="524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Sample more likely minority and no-targeted-check notes.</a:t>
            </a:r>
          </a:p>
        </p:txBody>
      </p:sp>
      <p:sp>
        <p:nvSpPr>
          <p:cNvPr id="22" name="">
            <a:extLst xmlns:a="http://schemas.openxmlformats.org/drawingml/2006/main">
              <a:ext uri="{FF2B5EF4-FFF2-40B4-BE49-F238E27FC236}">
                <a16:creationId xmlns:a16="http://schemas.microsoft.com/office/drawing/2014/main" id="{3423C8A5-7B18-4260-B8CC-4068D80DB365}"/>
              </a:ext>
            </a:extLst>
          </p:cNvPr>
          <p:cNvSpPr>
            <a:spLocks xmlns:a="http://schemas.openxmlformats.org/drawingml/2006/main" noGrp="1"/>
          </p:cNvSpPr>
          <p:nvPr/>
        </p:nvSpPr>
        <p:spPr>
          <a:xfrm xmlns:a="http://schemas.openxmlformats.org/drawingml/2006/main">
            <a:off x="6219825" y="3876675"/>
            <a:ext cx="5248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3  Stronger evaluation</a:t>
            </a:r>
          </a:p>
        </p:txBody>
      </p:sp>
      <p:sp>
        <p:nvSpPr>
          <p:cNvPr id="23" name="">
            <a:extLst xmlns:a="http://schemas.openxmlformats.org/drawingml/2006/main">
              <a:ext uri="{FF2B5EF4-FFF2-40B4-BE49-F238E27FC236}">
                <a16:creationId xmlns:a16="http://schemas.microsoft.com/office/drawing/2014/main" id="{158ED5D7-C1DC-4720-B5E6-647FEE770EB3}"/>
              </a:ext>
            </a:extLst>
          </p:cNvPr>
          <p:cNvSpPr>
            <a:spLocks xmlns:a="http://schemas.openxmlformats.org/drawingml/2006/main" noGrp="1"/>
          </p:cNvSpPr>
          <p:nvPr/>
        </p:nvSpPr>
        <p:spPr>
          <a:xfrm xmlns:a="http://schemas.openxmlformats.org/drawingml/2006/main">
            <a:off x="6219825" y="4210050"/>
            <a:ext cx="524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Set a duplicate-family policy, freeze a larger split, review per-class errors.</a:t>
            </a:r>
          </a:p>
        </p:txBody>
      </p:sp>
      <p:sp>
        <p:nvSpPr>
          <p:cNvPr id="24" name="">
            <a:extLst xmlns:a="http://schemas.openxmlformats.org/drawingml/2006/main">
              <a:ext uri="{FF2B5EF4-FFF2-40B4-BE49-F238E27FC236}">
                <a16:creationId xmlns:a16="http://schemas.microsoft.com/office/drawing/2014/main" id="{A74DAC22-8084-4207-A6FB-DFD3D9FE2908}"/>
              </a:ext>
            </a:extLst>
          </p:cNvPr>
          <p:cNvSpPr>
            <a:spLocks xmlns:a="http://schemas.openxmlformats.org/drawingml/2006/main" noGrp="1"/>
          </p:cNvSpPr>
          <p:nvPr/>
        </p:nvSpPr>
        <p:spPr>
          <a:xfrm xmlns:a="http://schemas.openxmlformats.org/drawingml/2006/main">
            <a:off x="6219825" y="4876800"/>
            <a:ext cx="5248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0252B"/>
                </a:solidFill>
                <a:latin typeface="Segoe UI"/>
                <a:ea typeface="Segoe UI"/>
                <a:cs typeface="Segoe UI"/>
              </a:defRPr>
            </a:defPPr>
          </a:lstStyle>
          <a:p xmlns:a="http://schemas.openxmlformats.org/drawingml/2006/main">
            <a:pPr algn="l">
              <a:defRPr sz="1500" b="1">
                <a:solidFill>
                  <a:srgbClr val="20252B"/>
                </a:solidFill>
                <a:latin typeface="Segoe UI"/>
                <a:ea typeface="Segoe UI"/>
                <a:cs typeface="Segoe UI"/>
              </a:defRPr>
            </a:pPr>
            <a:r>
              <a:rPr sz="1500" b="1">
                <a:solidFill>
                  <a:srgbClr val="20252B"/>
                </a:solidFill>
                <a:latin typeface="Segoe UI"/>
                <a:ea typeface="Segoe UI"/>
                <a:cs typeface="Segoe UI"/>
              </a:rPr>
              <a:t>4  Product extension</a:t>
            </a:r>
          </a:p>
        </p:txBody>
      </p:sp>
      <p:sp>
        <p:nvSpPr>
          <p:cNvPr id="25" name="">
            <a:extLst xmlns:a="http://schemas.openxmlformats.org/drawingml/2006/main">
              <a:ext uri="{FF2B5EF4-FFF2-40B4-BE49-F238E27FC236}">
                <a16:creationId xmlns:a16="http://schemas.microsoft.com/office/drawing/2014/main" id="{34698465-4EC7-4750-AB6E-E0B9E592B346}"/>
              </a:ext>
            </a:extLst>
          </p:cNvPr>
          <p:cNvSpPr>
            <a:spLocks xmlns:a="http://schemas.openxmlformats.org/drawingml/2006/main" noGrp="1"/>
          </p:cNvSpPr>
          <p:nvPr/>
        </p:nvSpPr>
        <p:spPr>
          <a:xfrm xmlns:a="http://schemas.openxmlformats.org/drawingml/2006/main">
            <a:off x="6219825" y="5210175"/>
            <a:ext cx="524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F6973"/>
                </a:solidFill>
                <a:latin typeface="Segoe UI"/>
                <a:ea typeface="Segoe UI"/>
                <a:cs typeface="Segoe UI"/>
              </a:defRPr>
            </a:defPPr>
          </a:lstStyle>
          <a:p xmlns:a="http://schemas.openxmlformats.org/drawingml/2006/main">
            <a:pPr algn="l">
              <a:defRPr sz="1275" b="0">
                <a:solidFill>
                  <a:srgbClr val="5F6973"/>
                </a:solidFill>
                <a:latin typeface="Segoe UI"/>
                <a:ea typeface="Segoe UI"/>
                <a:cs typeface="Segoe UI"/>
              </a:defRPr>
            </a:pPr>
            <a:r>
              <a:rPr sz="1275" b="0">
                <a:solidFill>
                  <a:srgbClr val="5F6973"/>
                </a:solidFill>
                <a:latin typeface="Segoe UI"/>
                <a:ea typeface="Segoe UI"/>
                <a:cs typeface="Segoe UI"/>
              </a:rPr>
              <a:t>Test other libraries, then consider repository or API integration.</a:t>
            </a:r>
          </a:p>
        </p:txBody>
      </p:sp>
    </p:spTree>
    <p:extLst>
      <p:ext uri="{BB962C8B-B14F-4D97-AF65-F5344CB8AC3E}">
        <p14:creationId xmlns:p14="http://schemas.microsoft.com/office/powerpoint/2010/main" val="155884974"/>
      </p:ext>
    </p:extLst>
  </p:cSld>
</p:sld>
</file>

<file path=ppt/slides/slide13.xml><?xml version="1.0" encoding="utf-8"?>
<p:sld xmlns:p="http://schemas.openxmlformats.org/presentationml/2006/main">
  <p:cSld>
    <p:bg>
      <p:bgPr>
        <a:solidFill xmlns:a="http://schemas.openxmlformats.org/drawingml/2006/main">
          <a:srgbClr val="F5F2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665EB80-1781-4995-B714-7B1A7749699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 name="title-13">
            <a:extLst xmlns:a="http://schemas.openxmlformats.org/drawingml/2006/main">
              <a:ext uri="{FF2B5EF4-FFF2-40B4-BE49-F238E27FC236}">
                <a16:creationId xmlns:a16="http://schemas.microsoft.com/office/drawing/2014/main" id="{275AF5AB-D20C-40AD-8D7B-7D198588DB6F}"/>
              </a:ext>
            </a:extLst>
          </p:cNvPr>
          <p:cNvSpPr>
            <a:spLocks xmlns:a="http://schemas.openxmlformats.org/drawingml/2006/main" noGrp="1"/>
          </p:cNvSpPr>
          <p:nvPr/>
        </p:nvSpPr>
        <p:spPr>
          <a:xfrm xmlns:a="http://schemas.openxmlformats.org/drawingml/2006/main">
            <a:off x="514350" y="323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0252B"/>
                </a:solidFill>
                <a:latin typeface="Bahnschrift"/>
                <a:ea typeface="Bahnschrift"/>
                <a:cs typeface="Bahnschrift"/>
              </a:defRPr>
            </a:defPPr>
          </a:lstStyle>
          <a:p xmlns:a="http://schemas.openxmlformats.org/drawingml/2006/main">
            <a:pPr algn="l">
              <a:defRPr sz="2700" b="1">
                <a:solidFill>
                  <a:srgbClr val="20252B"/>
                </a:solidFill>
                <a:latin typeface="Bahnschrift"/>
                <a:ea typeface="Bahnschrift"/>
                <a:cs typeface="Bahnschrift"/>
              </a:defRPr>
            </a:pPr>
            <a:r>
              <a:rPr sz="2700" b="1">
                <a:solidFill>
                  <a:srgbClr val="20252B"/>
                </a:solidFill>
                <a:latin typeface="Bahnschrift"/>
                <a:ea typeface="Bahnschrift"/>
                <a:cs typeface="Bahnschrift"/>
              </a:rPr>
              <a:t>Final deliverable and conclusion</a:t>
            </a:r>
          </a:p>
        </p:txBody>
      </p:sp>
      <p:sp>
        <p:nvSpPr>
          <p:cNvPr id="3" name="">
            <a:extLst xmlns:a="http://schemas.openxmlformats.org/drawingml/2006/main">
              <a:ext uri="{FF2B5EF4-FFF2-40B4-BE49-F238E27FC236}">
                <a16:creationId xmlns:a16="http://schemas.microsoft.com/office/drawing/2014/main" id="{57AE3580-2C36-43CB-B8D9-1E034E08B343}"/>
              </a:ext>
            </a:extLst>
          </p:cNvPr>
          <p:cNvSpPr>
            <a:spLocks xmlns:a="http://schemas.openxmlformats.org/drawingml/2006/main" noGrp="1"/>
          </p:cNvSpPr>
          <p:nvPr/>
        </p:nvSpPr>
        <p:spPr>
          <a:xfrm xmlns:a="http://schemas.openxmlformats.org/drawingml/2006/main">
            <a:off x="514350" y="990600"/>
            <a:ext cx="11163300" cy="2857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680B6C-E037-4A27-BDE7-EFE0695E22F6}"/>
              </a:ext>
            </a:extLst>
          </p:cNvPr>
          <p:cNvSpPr>
            <a:spLocks xmlns:a="http://schemas.openxmlformats.org/drawingml/2006/main" noGrp="1"/>
          </p:cNvSpPr>
          <p:nvPr/>
        </p:nvSpPr>
        <p:spPr>
          <a:xfrm xmlns:a="http://schemas.openxmlformats.org/drawingml/2006/main">
            <a:off x="514350" y="6324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0E2932-AC25-4908-AC70-2239F08B3C54}"/>
              </a:ext>
            </a:extLst>
          </p:cNvPr>
          <p:cNvSpPr>
            <a:spLocks xmlns:a="http://schemas.openxmlformats.org/drawingml/2006/main" noGrp="1"/>
          </p:cNvSpPr>
          <p:nvPr/>
        </p:nvSpPr>
        <p:spPr>
          <a:xfrm xmlns:a="http://schemas.openxmlformats.org/drawingml/2006/main">
            <a:off x="514350" y="6410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F6973"/>
                </a:solidFill>
                <a:latin typeface="Segoe UI"/>
                <a:ea typeface="Segoe UI"/>
                <a:cs typeface="Segoe UI"/>
              </a:defRPr>
            </a:defPPr>
          </a:lstStyle>
          <a:p xmlns:a="http://schemas.openxmlformats.org/drawingml/2006/main">
            <a:pPr algn="l">
              <a:defRPr sz="975" b="1">
                <a:solidFill>
                  <a:srgbClr val="5F6973"/>
                </a:solidFill>
                <a:latin typeface="Segoe UI"/>
                <a:ea typeface="Segoe UI"/>
                <a:cs typeface="Segoe UI"/>
              </a:defRPr>
            </a:pPr>
            <a:r>
              <a:rPr sz="975" b="1">
                <a:solidFill>
                  <a:srgbClr val="5F6973"/>
                </a:solidFill>
                <a:latin typeface="Segoe UI"/>
                <a:ea typeface="Segoe UI"/>
                <a:cs typeface="Segoe UI"/>
              </a:rPr>
              <a:t>PATCHPROBE  |  NATURAL LANGUAGE PROCESSING</a:t>
            </a:r>
          </a:p>
        </p:txBody>
      </p:sp>
      <p:sp>
        <p:nvSpPr>
          <p:cNvPr id="6" name="">
            <a:extLst xmlns:a="http://schemas.openxmlformats.org/drawingml/2006/main">
              <a:ext uri="{FF2B5EF4-FFF2-40B4-BE49-F238E27FC236}">
                <a16:creationId xmlns:a16="http://schemas.microsoft.com/office/drawing/2014/main" id="{2D3DFB1C-00E8-4FA8-883E-FE333CD773AD}"/>
              </a:ext>
            </a:extLst>
          </p:cNvPr>
          <p:cNvSpPr>
            <a:spLocks xmlns:a="http://schemas.openxmlformats.org/drawingml/2006/main" noGrp="1"/>
          </p:cNvSpPr>
          <p:nvPr/>
        </p:nvSpPr>
        <p:spPr>
          <a:xfrm xmlns:a="http://schemas.openxmlformats.org/drawingml/2006/main">
            <a:off x="8858250" y="6410325"/>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F6973"/>
                </a:solidFill>
                <a:latin typeface="Segoe UI"/>
                <a:ea typeface="Segoe UI"/>
                <a:cs typeface="Segoe UI"/>
              </a:defRPr>
            </a:defPPr>
          </a:lstStyle>
          <a:p xmlns:a="http://schemas.openxmlformats.org/drawingml/2006/main">
            <a:pPr algn="r">
              <a:defRPr sz="975" b="0">
                <a:solidFill>
                  <a:srgbClr val="5F6973"/>
                </a:solidFill>
                <a:latin typeface="Segoe UI"/>
                <a:ea typeface="Segoe UI"/>
                <a:cs typeface="Segoe UI"/>
              </a:defRPr>
            </a:pPr>
            <a:r>
              <a:rPr sz="975" b="0">
                <a:solidFill>
                  <a:srgbClr val="5F6973"/>
                </a:solidFill>
                <a:latin typeface="Segoe UI"/>
                <a:ea typeface="Segoe UI"/>
                <a:cs typeface="Segoe UI"/>
              </a:rPr>
              <a:t>Tilaksinh   •   13 / 13</a:t>
            </a:r>
          </a:p>
        </p:txBody>
      </p:sp>
      <p:sp>
        <p:nvSpPr>
          <p:cNvPr id="7" name="">
            <a:extLst xmlns:a="http://schemas.openxmlformats.org/drawingml/2006/main">
              <a:ext uri="{FF2B5EF4-FFF2-40B4-BE49-F238E27FC236}">
                <a16:creationId xmlns:a16="http://schemas.microsoft.com/office/drawing/2014/main" id="{D1D8885C-F57B-478A-AAEF-6BEBBC9127C2}"/>
              </a:ext>
            </a:extLst>
          </p:cNvPr>
          <p:cNvSpPr>
            <a:spLocks xmlns:a="http://schemas.openxmlformats.org/drawingml/2006/main" noGrp="1"/>
          </p:cNvSpPr>
          <p:nvPr/>
        </p:nvSpPr>
        <p:spPr>
          <a:xfrm xmlns:a="http://schemas.openxmlformats.org/drawingml/2006/main">
            <a:off x="514350" y="14287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C171D"/>
                </a:solidFill>
                <a:latin typeface="Bahnschrift"/>
                <a:ea typeface="Bahnschrift"/>
                <a:cs typeface="Bahnschrift"/>
              </a:defRPr>
            </a:defPPr>
          </a:lstStyle>
          <a:p xmlns:a="http://schemas.openxmlformats.org/drawingml/2006/main">
            <a:pPr algn="l">
              <a:defRPr sz="1200" b="1">
                <a:solidFill>
                  <a:srgbClr val="BC171D"/>
                </a:solidFill>
                <a:latin typeface="Bahnschrift"/>
                <a:ea typeface="Bahnschrift"/>
                <a:cs typeface="Bahnschrift"/>
              </a:defRPr>
            </a:pPr>
            <a:r>
              <a:rPr sz="1200" b="1">
                <a:solidFill>
                  <a:srgbClr val="BC171D"/>
                </a:solidFill>
                <a:latin typeface="Bahnschrift"/>
                <a:ea typeface="Bahnschrift"/>
                <a:cs typeface="Bahnschrift"/>
              </a:rPr>
              <a:t>WHAT IS READY TO SHOW</a:t>
            </a:r>
          </a:p>
        </p:txBody>
      </p:sp>
      <p:sp>
        <p:nvSpPr>
          <p:cNvPr id="8" name="">
            <a:extLst xmlns:a="http://schemas.openxmlformats.org/drawingml/2006/main">
              <a:ext uri="{FF2B5EF4-FFF2-40B4-BE49-F238E27FC236}">
                <a16:creationId xmlns:a16="http://schemas.microsoft.com/office/drawing/2014/main" id="{516CA4B9-2D5F-4839-AB0F-9C38F07A9CAA}"/>
              </a:ext>
            </a:extLst>
          </p:cNvPr>
          <p:cNvSpPr>
            <a:spLocks xmlns:a="http://schemas.openxmlformats.org/drawingml/2006/main" noGrp="1"/>
          </p:cNvSpPr>
          <p:nvPr/>
        </p:nvSpPr>
        <p:spPr>
          <a:xfrm xmlns:a="http://schemas.openxmlformats.org/drawingml/2006/main">
            <a:off x="514350" y="18859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235DE2AD-2158-4B99-8324-4305EE78F15C}"/>
              </a:ext>
            </a:extLst>
          </p:cNvPr>
          <p:cNvSpPr>
            <a:spLocks xmlns:a="http://schemas.openxmlformats.org/drawingml/2006/main" noGrp="1"/>
          </p:cNvSpPr>
          <p:nvPr/>
        </p:nvSpPr>
        <p:spPr>
          <a:xfrm xmlns:a="http://schemas.openxmlformats.org/drawingml/2006/main">
            <a:off x="1047750" y="18859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Pinned Django corpus: 14 source files, 571 entries</a:t>
            </a:r>
          </a:p>
        </p:txBody>
      </p:sp>
      <p:sp>
        <p:nvSpPr>
          <p:cNvPr id="10" name="">
            <a:extLst xmlns:a="http://schemas.openxmlformats.org/drawingml/2006/main">
              <a:ext uri="{FF2B5EF4-FFF2-40B4-BE49-F238E27FC236}">
                <a16:creationId xmlns:a16="http://schemas.microsoft.com/office/drawing/2014/main" id="{DF1862B0-578F-4F2F-B3E7-F8E474866A37}"/>
              </a:ext>
            </a:extLst>
          </p:cNvPr>
          <p:cNvSpPr>
            <a:spLocks xmlns:a="http://schemas.openxmlformats.org/drawingml/2006/main" noGrp="1"/>
          </p:cNvSpPr>
          <p:nvPr/>
        </p:nvSpPr>
        <p:spPr>
          <a:xfrm xmlns:a="http://schemas.openxmlformats.org/drawingml/2006/main">
            <a:off x="514350" y="23622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A05E9B-A134-4069-9872-DEBB8B6D4BCD}"/>
              </a:ext>
            </a:extLst>
          </p:cNvPr>
          <p:cNvSpPr>
            <a:spLocks xmlns:a="http://schemas.openxmlformats.org/drawingml/2006/main" noGrp="1"/>
          </p:cNvSpPr>
          <p:nvPr/>
        </p:nvSpPr>
        <p:spPr>
          <a:xfrm xmlns:a="http://schemas.openxmlformats.org/drawingml/2006/main">
            <a:off x="514350" y="24955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02</a:t>
            </a:r>
          </a:p>
        </p:txBody>
      </p:sp>
      <p:sp>
        <p:nvSpPr>
          <p:cNvPr id="12" name="">
            <a:extLst xmlns:a="http://schemas.openxmlformats.org/drawingml/2006/main">
              <a:ext uri="{FF2B5EF4-FFF2-40B4-BE49-F238E27FC236}">
                <a16:creationId xmlns:a16="http://schemas.microsoft.com/office/drawing/2014/main" id="{0325EC95-2EE1-4616-B4CB-72FEDBD50B0C}"/>
              </a:ext>
            </a:extLst>
          </p:cNvPr>
          <p:cNvSpPr>
            <a:spLocks xmlns:a="http://schemas.openxmlformats.org/drawingml/2006/main" noGrp="1"/>
          </p:cNvSpPr>
          <p:nvPr/>
        </p:nvSpPr>
        <p:spPr>
          <a:xfrm xmlns:a="http://schemas.openxmlformats.org/drawingml/2006/main">
            <a:off x="1047750" y="24955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50 human-confirmed pilot decisions, 49 usable for modeling</a:t>
            </a:r>
          </a:p>
        </p:txBody>
      </p:sp>
      <p:sp>
        <p:nvSpPr>
          <p:cNvPr id="13" name="">
            <a:extLst xmlns:a="http://schemas.openxmlformats.org/drawingml/2006/main">
              <a:ext uri="{FF2B5EF4-FFF2-40B4-BE49-F238E27FC236}">
                <a16:creationId xmlns:a16="http://schemas.microsoft.com/office/drawing/2014/main" id="{D47325D0-2D93-4F42-89DC-9F3613C9B35A}"/>
              </a:ext>
            </a:extLst>
          </p:cNvPr>
          <p:cNvSpPr>
            <a:spLocks xmlns:a="http://schemas.openxmlformats.org/drawingml/2006/main" noGrp="1"/>
          </p:cNvSpPr>
          <p:nvPr/>
        </p:nvSpPr>
        <p:spPr>
          <a:xfrm xmlns:a="http://schemas.openxmlformats.org/drawingml/2006/main">
            <a:off x="514350" y="29718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58113C-BD84-4379-903B-07A3EB4CE113}"/>
              </a:ext>
            </a:extLst>
          </p:cNvPr>
          <p:cNvSpPr>
            <a:spLocks xmlns:a="http://schemas.openxmlformats.org/drawingml/2006/main" noGrp="1"/>
          </p:cNvSpPr>
          <p:nvPr/>
        </p:nvSpPr>
        <p:spPr>
          <a:xfrm xmlns:a="http://schemas.openxmlformats.org/drawingml/2006/main">
            <a:off x="514350" y="31051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234E3608-EFCE-4611-99F6-632E4722987D}"/>
              </a:ext>
            </a:extLst>
          </p:cNvPr>
          <p:cNvSpPr>
            <a:spLocks xmlns:a="http://schemas.openxmlformats.org/drawingml/2006/main" noGrp="1"/>
          </p:cNvSpPr>
          <p:nvPr/>
        </p:nvSpPr>
        <p:spPr>
          <a:xfrm xmlns:a="http://schemas.openxmlformats.org/drawingml/2006/main">
            <a:off x="1047750" y="31051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A local Streamlit review and prediction application</a:t>
            </a:r>
          </a:p>
        </p:txBody>
      </p:sp>
      <p:sp>
        <p:nvSpPr>
          <p:cNvPr id="16" name="">
            <a:extLst xmlns:a="http://schemas.openxmlformats.org/drawingml/2006/main">
              <a:ext uri="{FF2B5EF4-FFF2-40B4-BE49-F238E27FC236}">
                <a16:creationId xmlns:a16="http://schemas.microsoft.com/office/drawing/2014/main" id="{9A55E7C7-9508-4E96-ABD7-7C6AC0641395}"/>
              </a:ext>
            </a:extLst>
          </p:cNvPr>
          <p:cNvSpPr>
            <a:spLocks xmlns:a="http://schemas.openxmlformats.org/drawingml/2006/main" noGrp="1"/>
          </p:cNvSpPr>
          <p:nvPr/>
        </p:nvSpPr>
        <p:spPr>
          <a:xfrm xmlns:a="http://schemas.openxmlformats.org/drawingml/2006/main">
            <a:off x="514350" y="35814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4817AE-7031-4357-90D1-5CB885808805}"/>
              </a:ext>
            </a:extLst>
          </p:cNvPr>
          <p:cNvSpPr>
            <a:spLocks xmlns:a="http://schemas.openxmlformats.org/drawingml/2006/main" noGrp="1"/>
          </p:cNvSpPr>
          <p:nvPr/>
        </p:nvSpPr>
        <p:spPr>
          <a:xfrm xmlns:a="http://schemas.openxmlformats.org/drawingml/2006/main">
            <a:off x="514350" y="37147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04</a:t>
            </a:r>
          </a:p>
        </p:txBody>
      </p:sp>
      <p:sp>
        <p:nvSpPr>
          <p:cNvPr id="18" name="">
            <a:extLst xmlns:a="http://schemas.openxmlformats.org/drawingml/2006/main">
              <a:ext uri="{FF2B5EF4-FFF2-40B4-BE49-F238E27FC236}">
                <a16:creationId xmlns:a16="http://schemas.microsoft.com/office/drawing/2014/main" id="{ED832092-5B17-4AD4-AA0A-98B44FD32CAE}"/>
              </a:ext>
            </a:extLst>
          </p:cNvPr>
          <p:cNvSpPr>
            <a:spLocks xmlns:a="http://schemas.openxmlformats.org/drawingml/2006/main" noGrp="1"/>
          </p:cNvSpPr>
          <p:nvPr/>
        </p:nvSpPr>
        <p:spPr>
          <a:xfrm xmlns:a="http://schemas.openxmlformats.org/drawingml/2006/main">
            <a:off x="1047750" y="37147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Release-grouped TF-IDF / logistic-regression pipeline</a:t>
            </a:r>
          </a:p>
        </p:txBody>
      </p:sp>
      <p:sp>
        <p:nvSpPr>
          <p:cNvPr id="19" name="">
            <a:extLst xmlns:a="http://schemas.openxmlformats.org/drawingml/2006/main">
              <a:ext uri="{FF2B5EF4-FFF2-40B4-BE49-F238E27FC236}">
                <a16:creationId xmlns:a16="http://schemas.microsoft.com/office/drawing/2014/main" id="{86DB1FC7-9738-4F0C-BF63-8571FDD13C39}"/>
              </a:ext>
            </a:extLst>
          </p:cNvPr>
          <p:cNvSpPr>
            <a:spLocks xmlns:a="http://schemas.openxmlformats.org/drawingml/2006/main" noGrp="1"/>
          </p:cNvSpPr>
          <p:nvPr/>
        </p:nvSpPr>
        <p:spPr>
          <a:xfrm xmlns:a="http://schemas.openxmlformats.org/drawingml/2006/main">
            <a:off x="514350" y="41910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5814E8-30CE-4518-92F7-CA04E27A0BB6}"/>
              </a:ext>
            </a:extLst>
          </p:cNvPr>
          <p:cNvSpPr>
            <a:spLocks xmlns:a="http://schemas.openxmlformats.org/drawingml/2006/main" noGrp="1"/>
          </p:cNvSpPr>
          <p:nvPr/>
        </p:nvSpPr>
        <p:spPr>
          <a:xfrm xmlns:a="http://schemas.openxmlformats.org/drawingml/2006/main">
            <a:off x="514350" y="43243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05</a:t>
            </a:r>
          </a:p>
        </p:txBody>
      </p:sp>
      <p:sp>
        <p:nvSpPr>
          <p:cNvPr id="21" name="">
            <a:extLst xmlns:a="http://schemas.openxmlformats.org/drawingml/2006/main">
              <a:ext uri="{FF2B5EF4-FFF2-40B4-BE49-F238E27FC236}">
                <a16:creationId xmlns:a16="http://schemas.microsoft.com/office/drawing/2014/main" id="{A0B72029-B326-4093-BA2E-2FD2401305E6}"/>
              </a:ext>
            </a:extLst>
          </p:cNvPr>
          <p:cNvSpPr>
            <a:spLocks xmlns:a="http://schemas.openxmlformats.org/drawingml/2006/main" noGrp="1"/>
          </p:cNvSpPr>
          <p:nvPr/>
        </p:nvSpPr>
        <p:spPr>
          <a:xfrm xmlns:a="http://schemas.openxmlformats.org/drawingml/2006/main">
            <a:off x="1047750" y="43243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Baseline comparison, split manifest and error outputs</a:t>
            </a:r>
          </a:p>
        </p:txBody>
      </p:sp>
      <p:sp>
        <p:nvSpPr>
          <p:cNvPr id="22" name="">
            <a:extLst xmlns:a="http://schemas.openxmlformats.org/drawingml/2006/main">
              <a:ext uri="{FF2B5EF4-FFF2-40B4-BE49-F238E27FC236}">
                <a16:creationId xmlns:a16="http://schemas.microsoft.com/office/drawing/2014/main" id="{D45241EE-B27B-4F1A-96E4-3475E2EDE21A}"/>
              </a:ext>
            </a:extLst>
          </p:cNvPr>
          <p:cNvSpPr>
            <a:spLocks xmlns:a="http://schemas.openxmlformats.org/drawingml/2006/main" noGrp="1"/>
          </p:cNvSpPr>
          <p:nvPr/>
        </p:nvSpPr>
        <p:spPr>
          <a:xfrm xmlns:a="http://schemas.openxmlformats.org/drawingml/2006/main">
            <a:off x="514350" y="4800600"/>
            <a:ext cx="11163300" cy="9525"/>
          </a:xfrm>
          <a:prstGeom xmlns:a="http://schemas.openxmlformats.org/drawingml/2006/main" prst="rect">
            <a:avLst/>
          </a:prstGeom>
          <a:solidFill xmlns:a="http://schemas.openxmlformats.org/drawingml/2006/main">
            <a:srgbClr val="E6E0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582D538-96FC-4F04-8D4A-55EDA3344383}"/>
              </a:ext>
            </a:extLst>
          </p:cNvPr>
          <p:cNvSpPr>
            <a:spLocks xmlns:a="http://schemas.openxmlformats.org/drawingml/2006/main" noGrp="1"/>
          </p:cNvSpPr>
          <p:nvPr/>
        </p:nvSpPr>
        <p:spPr>
          <a:xfrm xmlns:a="http://schemas.openxmlformats.org/drawingml/2006/main">
            <a:off x="514350" y="4933950"/>
            <a:ext cx="44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C171D"/>
                </a:solidFill>
                <a:latin typeface="Bahnschrift"/>
                <a:ea typeface="Bahnschrift"/>
                <a:cs typeface="Bahnschrift"/>
              </a:defRPr>
            </a:defPPr>
          </a:lstStyle>
          <a:p xmlns:a="http://schemas.openxmlformats.org/drawingml/2006/main">
            <a:pPr algn="l">
              <a:defRPr sz="1500" b="1">
                <a:solidFill>
                  <a:srgbClr val="BC171D"/>
                </a:solidFill>
                <a:latin typeface="Bahnschrift"/>
                <a:ea typeface="Bahnschrift"/>
                <a:cs typeface="Bahnschrift"/>
              </a:defRPr>
            </a:pPr>
            <a:r>
              <a:rPr sz="1500" b="1">
                <a:solidFill>
                  <a:srgbClr val="BC171D"/>
                </a:solidFill>
                <a:latin typeface="Bahnschrift"/>
                <a:ea typeface="Bahnschrift"/>
                <a:cs typeface="Bahnschrift"/>
              </a:rPr>
              <a:t>06</a:t>
            </a:r>
          </a:p>
        </p:txBody>
      </p:sp>
      <p:sp>
        <p:nvSpPr>
          <p:cNvPr id="24" name="">
            <a:extLst xmlns:a="http://schemas.openxmlformats.org/drawingml/2006/main">
              <a:ext uri="{FF2B5EF4-FFF2-40B4-BE49-F238E27FC236}">
                <a16:creationId xmlns:a16="http://schemas.microsoft.com/office/drawing/2014/main" id="{4A9E09DA-FBD0-4758-B446-9B437509C7C4}"/>
              </a:ext>
            </a:extLst>
          </p:cNvPr>
          <p:cNvSpPr>
            <a:spLocks xmlns:a="http://schemas.openxmlformats.org/drawingml/2006/main" noGrp="1"/>
          </p:cNvSpPr>
          <p:nvPr/>
        </p:nvSpPr>
        <p:spPr>
          <a:xfrm xmlns:a="http://schemas.openxmlformats.org/drawingml/2006/main">
            <a:off x="1047750" y="4933950"/>
            <a:ext cx="9925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0252B"/>
                </a:solidFill>
                <a:latin typeface="Segoe UI"/>
                <a:ea typeface="Segoe UI"/>
                <a:cs typeface="Segoe UI"/>
              </a:defRPr>
            </a:defPPr>
          </a:lstStyle>
          <a:p xmlns:a="http://schemas.openxmlformats.org/drawingml/2006/main">
            <a:pPr algn="l">
              <a:defRPr sz="1500" b="0">
                <a:solidFill>
                  <a:srgbClr val="20252B"/>
                </a:solidFill>
                <a:latin typeface="Segoe UI"/>
                <a:ea typeface="Segoe UI"/>
                <a:cs typeface="Segoe UI"/>
              </a:defRPr>
            </a:pPr>
            <a:r>
              <a:rPr sz="1500" b="0">
                <a:solidFill>
                  <a:srgbClr val="20252B"/>
                </a:solidFill>
                <a:latin typeface="Segoe UI"/>
                <a:ea typeface="Segoe UI"/>
                <a:cs typeface="Segoe UI"/>
              </a:rPr>
              <a:t>23 passing tests, source provenance and project documentation</a:t>
            </a:r>
          </a:p>
        </p:txBody>
      </p:sp>
      <p:sp>
        <p:nvSpPr>
          <p:cNvPr id="25" name="">
            <a:extLst xmlns:a="http://schemas.openxmlformats.org/drawingml/2006/main">
              <a:ext uri="{FF2B5EF4-FFF2-40B4-BE49-F238E27FC236}">
                <a16:creationId xmlns:a16="http://schemas.microsoft.com/office/drawing/2014/main" id="{14920FA1-5851-4C20-8574-94972B68DFD3}"/>
              </a:ext>
            </a:extLst>
          </p:cNvPr>
          <p:cNvSpPr>
            <a:spLocks xmlns:a="http://schemas.openxmlformats.org/drawingml/2006/main" noGrp="1"/>
          </p:cNvSpPr>
          <p:nvPr/>
        </p:nvSpPr>
        <p:spPr>
          <a:xfrm xmlns:a="http://schemas.openxmlformats.org/drawingml/2006/main">
            <a:off x="514350" y="5705475"/>
            <a:ext cx="11163300" cy="466725"/>
          </a:xfrm>
          <a:prstGeom xmlns:a="http://schemas.openxmlformats.org/drawingml/2006/main" prst="rect">
            <a:avLst/>
          </a:prstGeom>
          <a:solidFill xmlns:a="http://schemas.openxmlformats.org/drawingml/2006/main">
            <a:srgbClr val="BC171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DFCDB8C-26AD-4FB8-9588-3C324C41A13F}"/>
              </a:ext>
            </a:extLst>
          </p:cNvPr>
          <p:cNvSpPr>
            <a:spLocks xmlns:a="http://schemas.openxmlformats.org/drawingml/2006/main" noGrp="1"/>
          </p:cNvSpPr>
          <p:nvPr/>
        </p:nvSpPr>
        <p:spPr>
          <a:xfrm xmlns:a="http://schemas.openxmlformats.org/drawingml/2006/main">
            <a:off x="676275" y="5791200"/>
            <a:ext cx="1083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PatchProbe is a working review pilot. A larger, independently checked dataset is the next milestone.</a:t>
            </a:r>
          </a:p>
        </p:txBody>
      </p:sp>
    </p:spTree>
    <p:extLst>
      <p:ext uri="{BB962C8B-B14F-4D97-AF65-F5344CB8AC3E}">
        <p14:creationId xmlns:p14="http://schemas.microsoft.com/office/powerpoint/2010/main" val="349159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2026-10-18T09:37:26.5910000Z</dcterms:created>
  <dcterms:modified xsi:type="dcterms:W3CDTF">2026-10-18T09:37:26.5910000Z</dcterms:modified>
</coreProperties>
</file>